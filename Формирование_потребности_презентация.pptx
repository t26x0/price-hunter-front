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6114ec796144c8" /><Relationship Type="http://schemas.openxmlformats.org/officeDocument/2006/relationships/extended-properties" Target="/docProps/app.xml" Id="Rc621fee423564dff" /><Relationship Type="http://schemas.openxmlformats.org/officeDocument/2006/relationships/officeDocument" Target="/ppt/presentation.xml" Id="R1ee350238595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454b4ca2c4429"/>
  </p:sldMasterIdLst>
  <p:notesMasterIdLst>
    <p:notesMasterId xmlns:r="http://schemas.openxmlformats.org/officeDocument/2006/relationships" r:id="Rbd4b425a86644706"/>
  </p:notesMasterIdLst>
  <p:sldIdLst>
    <p:sldId xmlns:r="http://schemas.openxmlformats.org/officeDocument/2006/relationships" id="256" r:id="R33f25cf30a9c40a3"/>
    <p:sldId xmlns:r="http://schemas.openxmlformats.org/officeDocument/2006/relationships" id="257" r:id="R6f602399334c4859"/>
    <p:sldId xmlns:r="http://schemas.openxmlformats.org/officeDocument/2006/relationships" id="258" r:id="Rbb754f0220374747"/>
    <p:sldId xmlns:r="http://schemas.openxmlformats.org/officeDocument/2006/relationships" id="259" r:id="R5d449f64f56e40c2"/>
    <p:sldId xmlns:r="http://schemas.openxmlformats.org/officeDocument/2006/relationships" id="260" r:id="R5f2a24f2f79e4291"/>
    <p:sldId xmlns:r="http://schemas.openxmlformats.org/officeDocument/2006/relationships" id="261" r:id="R7559bb14795d41ea"/>
    <p:sldId xmlns:r="http://schemas.openxmlformats.org/officeDocument/2006/relationships" id="262" r:id="R969167a4c2dd46dc"/>
    <p:sldId xmlns:r="http://schemas.openxmlformats.org/officeDocument/2006/relationships" id="263" r:id="R6a79c67edbfd4730"/>
    <p:sldId xmlns:r="http://schemas.openxmlformats.org/officeDocument/2006/relationships" id="264" r:id="Rc79fab4500be48a5"/>
    <p:sldId xmlns:r="http://schemas.openxmlformats.org/officeDocument/2006/relationships" id="265" r:id="R289e791be1784d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95638efca4273" /><Relationship Type="http://schemas.openxmlformats.org/officeDocument/2006/relationships/slideMaster" Target="/ppt/slideMasters/slideMaster1.xml" Id="Re84454b4ca2c4429" /><Relationship Type="http://schemas.openxmlformats.org/officeDocument/2006/relationships/notesMaster" Target="/ppt/notesMasters/notesMaster1.xml" Id="Rbd4b425a86644706" /><Relationship Type="http://schemas.openxmlformats.org/officeDocument/2006/relationships/presProps" Target="/ppt/presProps.xml" Id="R194dab68783248db" /><Relationship Type="http://schemas.openxmlformats.org/officeDocument/2006/relationships/tableStyles" Target="/ppt/tableStyles.xml" Id="Rfe4d7f187910452e" /><Relationship Type="http://schemas.openxmlformats.org/officeDocument/2006/relationships/slide" Target="/ppt/slides/slide1.xml" Id="R33f25cf30a9c40a3" /><Relationship Type="http://schemas.openxmlformats.org/officeDocument/2006/relationships/slide" Target="/ppt/slides/slide2.xml" Id="R6f602399334c4859" /><Relationship Type="http://schemas.openxmlformats.org/officeDocument/2006/relationships/slide" Target="/ppt/slides/slide3.xml" Id="Rbb754f0220374747" /><Relationship Type="http://schemas.openxmlformats.org/officeDocument/2006/relationships/slide" Target="/ppt/slides/slide4.xml" Id="R5d449f64f56e40c2" /><Relationship Type="http://schemas.openxmlformats.org/officeDocument/2006/relationships/slide" Target="/ppt/slides/slide5.xml" Id="R5f2a24f2f79e4291" /><Relationship Type="http://schemas.openxmlformats.org/officeDocument/2006/relationships/slide" Target="/ppt/slides/slide6.xml" Id="R7559bb14795d41ea" /><Relationship Type="http://schemas.openxmlformats.org/officeDocument/2006/relationships/slide" Target="/ppt/slides/slide7.xml" Id="R969167a4c2dd46dc" /><Relationship Type="http://schemas.openxmlformats.org/officeDocument/2006/relationships/slide" Target="/ppt/slides/slide8.xml" Id="R6a79c67edbfd4730" /><Relationship Type="http://schemas.openxmlformats.org/officeDocument/2006/relationships/slide" Target="/ppt/slides/slide9.xml" Id="Rc79fab4500be48a5" /><Relationship Type="http://schemas.openxmlformats.org/officeDocument/2006/relationships/slide" Target="/ppt/slides/slide10.xml" Id="R289e791be1784d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54b9b5525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23b5b985f40dc" /><Relationship Type="http://schemas.openxmlformats.org/officeDocument/2006/relationships/notesMaster" Target="/ppt/notesMasters/notesMaster1.xml" Id="R343255238146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9c67014894577" /><Relationship Type="http://schemas.openxmlformats.org/officeDocument/2006/relationships/notesMaster" Target="/ppt/notesMasters/notesMaster1.xml" Id="R9ec65366d5284b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52e7c7fb0340e0" /><Relationship Type="http://schemas.openxmlformats.org/officeDocument/2006/relationships/notesMaster" Target="/ppt/notesMasters/notesMaster1.xml" Id="R8e5f8438255c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c935031744c8d" /><Relationship Type="http://schemas.openxmlformats.org/officeDocument/2006/relationships/notesMaster" Target="/ppt/notesMasters/notesMaster1.xml" Id="R4045244c3676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87f10b07e4476" /><Relationship Type="http://schemas.openxmlformats.org/officeDocument/2006/relationships/notesMaster" Target="/ppt/notesMasters/notesMaster1.xml" Id="Reca4f2dc45db4a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661d0c93bc4f6c" /><Relationship Type="http://schemas.openxmlformats.org/officeDocument/2006/relationships/notesMaster" Target="/ppt/notesMasters/notesMaster1.xml" Id="R9b4f0f7ea478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fbe841672241d6" /><Relationship Type="http://schemas.openxmlformats.org/officeDocument/2006/relationships/notesMaster" Target="/ppt/notesMasters/notesMaster1.xml" Id="Rd7e3c4aadd6648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e4db742aa40f4" /><Relationship Type="http://schemas.openxmlformats.org/officeDocument/2006/relationships/notesMaster" Target="/ppt/notesMasters/notesMaster1.xml" Id="Re34ea407d3c3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18ed88c539420f" /><Relationship Type="http://schemas.openxmlformats.org/officeDocument/2006/relationships/notesMaster" Target="/ppt/notesMasters/notesMaster1.xml" Id="Rbcaa1b94ef8c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9bc7b0c85e4691" /><Relationship Type="http://schemas.openxmlformats.org/officeDocument/2006/relationships/notesMaster" Target="/ppt/notesMasters/notesMaster1.xml" Id="Ra226af628bdd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c5ea03867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e229aa1584be8" /><Relationship Type="http://schemas.openxmlformats.org/officeDocument/2006/relationships/slideLayout" Target="/ppt/slideLayouts/slideLayout1.xml" Id="R0d8355b7623544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355b7623544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1b3c5c8d14deb" /><Relationship Type="http://schemas.openxmlformats.org/officeDocument/2006/relationships/notesSlide" Target="/ppt/notesSlides/notesSlide1.xml" Id="R683c1d28829046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b4ac4349c48ed" /><Relationship Type="http://schemas.openxmlformats.org/officeDocument/2006/relationships/notesSlide" Target="/ppt/notesSlides/notesSlide2.xml" Id="R303797ab86f043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06fb63a6f4064" /><Relationship Type="http://schemas.openxmlformats.org/officeDocument/2006/relationships/notesSlide" Target="/ppt/notesSlides/notesSlide3.xml" Id="Ra3f88384c83a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1bf04b4b34e2d" /><Relationship Type="http://schemas.openxmlformats.org/officeDocument/2006/relationships/notesSlide" Target="/ppt/notesSlides/notesSlide4.xml" Id="R4956dd8942eb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f91f2013d40f7" /><Relationship Type="http://schemas.openxmlformats.org/officeDocument/2006/relationships/notesSlide" Target="/ppt/notesSlides/notesSlide5.xml" Id="Ra5d2e9c1caf04e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3072c51f44397" /><Relationship Type="http://schemas.openxmlformats.org/officeDocument/2006/relationships/notesSlide" Target="/ppt/notesSlides/notesSlide6.xml" Id="R1f1ba5136143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48875175428b" /><Relationship Type="http://schemas.openxmlformats.org/officeDocument/2006/relationships/notesSlide" Target="/ppt/notesSlides/notesSlide7.xml" Id="Ra111d3a8a1434c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5b06985c54f21" /><Relationship Type="http://schemas.openxmlformats.org/officeDocument/2006/relationships/notesSlide" Target="/ppt/notesSlides/notesSlide8.xml" Id="R759da01ce5ec4b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ddd9b73324200" /><Relationship Type="http://schemas.openxmlformats.org/officeDocument/2006/relationships/notesSlide" Target="/ppt/notesSlides/notesSlide9.xml" Id="R6d884290f5274b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06e4660e046ff" /><Relationship Type="http://schemas.openxmlformats.org/officeDocument/2006/relationships/notesSlide" Target="/ppt/notesSlides/notesSlide10.xml" Id="Raad9b1fe58d244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D4261-6A79-44E4-8DAF-EE4AEC1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B44A"/>
                </a:solidFill>
                <a:latin typeface="Arial"/>
                <a:ea typeface="Arial"/>
                <a:cs typeface="Arial"/>
              </a:defRPr>
            </a:pPr>
            <a:r>
              <a:t>ПРАКТИЧЕСКОЕ ОБУЧЕНИЕ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75E06-13E6-4482-84DA-2EA1277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Формирование
потребности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02F14-9AF8-4286-A8AF-6805EFA3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57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FDCE6"/>
                </a:solidFill>
                <a:latin typeface="Arial"/>
                <a:ea typeface="Arial"/>
                <a:cs typeface="Arial"/>
              </a:defRPr>
            </a:pPr>
            <a:r>
              <a:t>Продажи ведения профиля на Яндекс Картах, 2ГИС и Zoon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2A368-223F-4F51-AD6F-0A08EDDB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096BD-4845-47E1-B73A-0D7B6DB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Цель: клиент видит проблему и хочет её решить</a:t>
            </a:r>
          </a:p>
        </p:txBody>
      </p:sp>
    </p:spTree>
    <p:extLst>
      <p:ext uri="{BB962C8B-B14F-4D97-AF65-F5344CB8AC3E}">
        <p14:creationId xmlns:p14="http://schemas.microsoft.com/office/powerpoint/2010/main" val="429987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06427-FEE4-4CAC-BD04-94B9ED4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5244-793C-4394-ADD9-B918D4FE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7347E-F4F0-42CA-A576-850857B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Потребность начинается с желания изменить ситуацию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CDBC1-E9EE-4E1E-8C8C-C03511CA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32946-9EFE-4401-99F1-6A89BC0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619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Потребность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13DF4-8B62-4D39-BC93-92C8DBC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048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осознанная клиентом необходимость решить проблему или улучшить текущий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86DB3-3AB9-49BE-88C2-36CC262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AE85D-162C-4EB0-BC7F-8E7FC23D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714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Важно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01B5E-230F-4838-A0F7-F9AB9FD5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3714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Менеджер не придумывает потребность. Он помогает клиенту увидеть связь между фактами, последствиями и необходимостью действовать.</a:t>
            </a:r>
          </a:p>
        </p:txBody>
      </p:sp>
    </p:spTree>
    <p:extLst>
      <p:ext uri="{BB962C8B-B14F-4D97-AF65-F5344CB8AC3E}">
        <p14:creationId xmlns:p14="http://schemas.microsoft.com/office/powerpoint/2010/main" val="156058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48CEC-B800-4626-B028-B0323CB3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63C86-4C69-433E-ADEC-B2B3B37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00B0A-1D3F-4C6D-BFA2-F13BEA8C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Три состояния потребности определяют следующий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ACE88-C7FF-445A-8915-4D060F4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A7715-0C42-4509-9AE0-7781650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095625" cy="33337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3AA0C-24BC-4738-BC07-8EEC08A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6384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1. Скрытая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A7934-69E0-4420-AAB7-654A8AC8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6384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Проблема есть, но клиент её не замечает.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1CB84-5ACA-40F6-AADF-D273549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6384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Показать факт и влияние.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7BA53-8FDD-4C3E-9A62-8773236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3095625" cy="33337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63526-22DF-44F2-9010-C2AB554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26384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2. Осознанная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2A75A-E217-48F1-A733-A96164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26384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Клиент видит проблему, но не считает её приоритетной.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21836-7F39-4EE0-A8EA-AB9DE12A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26384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Показать последствия.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4F7F-7632-4EC2-BF0B-6D0BCFA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3095625" cy="33337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2E33-6A93-4D2A-9619-58043396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26384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3. Активная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6E561-A58D-4B73-9594-5910F63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26384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Клиент понимает последствия и ищет решение.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4AD0C-790B-4A44-81B7-DD4ADFA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26384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t>Перейти к презентации.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186901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4C3A7-2FF1-461C-A4EB-67A2727A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5644A-1875-4FC1-AA91-FADFC4C8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23B0E-23FE-4A0F-B20A-0A8D834E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Без потребности услуга кажется лишней или дорогой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9823F-0E74-4992-A3DA-F3E5945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20D59-5B3D-4124-ACCD-228FE15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381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До этапа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44365-3C33-4817-AAFC-E4CBD29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8242-3FB3-4007-9E2D-599DBE6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«У нас всё нормально»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D6695-6965-406F-B84C-74A12A6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«Мы занимаемся сами»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E37DB-48CF-439E-AA30-45BDCD9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«Для нас это дорого»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EF92F-B695-48D9-8B66-7C8C3A6F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381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t>После этапа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4569A-EA5E-4C37-AE5B-A8359EEA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B6D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4839A-17E7-4D28-8AB0-87F37835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«Да, проблема есть»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BA6D-D3FE-4E43-9D84-8EBC6EA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«Этим нужно заниматься»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3B433-710C-40E3-8FE9-C2B422A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«Расскажите, как решить»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EF721-901F-4D67-8E48-56F8CEA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55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Задача менеджера — изменить состояние клиента, а не сразу перечислить услуги.</a:t>
            </a:r>
          </a:p>
        </p:txBody>
      </p:sp>
    </p:spTree>
    <p:extLst>
      <p:ext uri="{BB962C8B-B14F-4D97-AF65-F5344CB8AC3E}">
        <p14:creationId xmlns:p14="http://schemas.microsoft.com/office/powerpoint/2010/main" val="2059025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B6574-8700-4909-8F9A-045A5CA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91869-EC9C-416E-9937-3287ACAD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6E0A5-BCCC-4C6D-B515-2D7915FF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Пять принципов сохраняют доверие клиента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A68F-27DC-44A4-9165-B077EF8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D49CC-1FD4-4991-B6FD-540A5F3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997B-D974-47C8-8D74-38513A4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Опираемся на конкретные факты из карточки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72F91-3F64-4F1C-A53A-3A21BC0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0D8FA-D1F4-4553-B1A9-B010E17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Не запугиваем и не придумываем потери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A6BBA-08DF-4018-A6A8-E2540E0A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92E48-B3B3-404C-9BC1-C1CF671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глазами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7809F-5101-4708-AE8C-834AD1B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82555-873B-4B9F-BBE8-A8364B4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95775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После каждого блока получаем реакцию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BA124-D889-43CD-AF51-8B7EBC7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3AE45-BB81-430C-9610-94F63CB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Не презентуем решение раньше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1727496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6D807-CD92-4070-B0F0-A5270A5B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B2D4E-75DF-45F6-9D91-70B9A44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9CF0E-B08C-485F-AA59-3CB52C2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Алгоритм: от факта к готовности действовать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0DF40-F607-4BF3-8BC1-7CDC962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0558E-99A6-44AB-B1EC-8C80EE6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14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2D57D-EAE8-4183-870A-10255D5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38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Проблема и последствия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B6236-08D5-467A-9CFC-2BB513F2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37BBC-0283-4BFB-BF5F-26EC5B8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14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B7DD2-05F1-4619-B3E4-42A19D8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Пример из жизни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7B174-3A1F-4FE9-A311-ECE43D6C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81375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E5EC9-A179-4A85-9A63-86E288A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14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F9EBD-926A-4BC2-8BB5-3AD0B14A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838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Отношение клиента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CFD76-6F17-4A4A-ACFE-761371D8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8CA80-24C4-4A50-A65A-2D8B371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714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951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5732F-D965-4DAC-A8EF-C6D0F7B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38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Мотивация к действию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24E13-0B2B-474E-941E-BD3187A2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Факт → влияние → пример → вопрос → мотивация</a:t>
            </a:r>
          </a:p>
        </p:txBody>
      </p:sp>
    </p:spTree>
    <p:extLst>
      <p:ext uri="{BB962C8B-B14F-4D97-AF65-F5344CB8AC3E}">
        <p14:creationId xmlns:p14="http://schemas.microsoft.com/office/powerpoint/2010/main" val="574080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62505-9E8C-49D8-AA86-DA5D471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57AAA-A5BE-4746-A301-59D7027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64CC3-49F5-4078-8FAE-A4FEC86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Сначала делаем проблему понятной и наглядной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181DE-68DC-4102-84C2-73C214CE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5AAC7-5D5B-4E6C-8A39-C908A37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1. Проблема и последствия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2A7DA-DD06-4116-9983-266DCB3E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C8E0C-6D9B-4786-9ED7-A2E32F5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381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«В карточке не заполнена часть услуг и цен, давно не обновлялись фотографии, а отзывы остаются без ответов. Из-за этого профиль может выглядеть неактуальным».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9EBD2-EF1E-454F-B9B0-636F7F3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2. Пример из жизни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FE06-1209-46EB-8188-122A16A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E7CE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79A6D-C1C7-4E89-A0D7-4FAA9B8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381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«Клиент сравнивает две карточки. У конкурента есть цены, свежие фото и ответы на отзывы. В вашей карточке информации меньше — выбрать конкурента ему проще».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9EFB5-591B-4930-B487-7E8A824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Говорим о поведении пользователя — не обвиняем бизнес.</a:t>
            </a:r>
          </a:p>
        </p:txBody>
      </p:sp>
    </p:spTree>
    <p:extLst>
      <p:ext uri="{BB962C8B-B14F-4D97-AF65-F5344CB8AC3E}">
        <p14:creationId xmlns:p14="http://schemas.microsoft.com/office/powerpoint/2010/main" val="1065658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CAF25-AB25-438B-877F-26C536C2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4AA90-8299-402B-9649-C3AA676F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AD515-1A3C-48CA-AA66-56B55E55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Затем клиент сам оценивает ситуацию и приоритет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A766F-17CF-476F-9F36-19D16AE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49D3E-A094-4DDE-81A6-15FC859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3. Отношение клиента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11488-B192-41CB-B71C-FD30417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7A559-A417-4C0C-A3B4-51DF7AB3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381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«Кто сейчас ведёт карточки на Яндекс Картах, 2ГИС и Zoon? Как часто обновляете информацию, публикуете материалы и отвечаете на отзывы?»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E21F5-E5FC-407E-9912-070DEB5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4. Мотивация к действию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E1E0-502E-4E18-A979-8EF79A2D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E7CE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AA447-2EAF-48C5-8E6B-8218F5F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381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«Если ничего не менять, профили могут выглядеть менее актуальными на фоне конкурентов. Согласны, что ведение стоит сделать регулярным и системным?»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41E4E-4F75-4CA7-9813-FAA5191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29250"/>
            <a:ext cx="7715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Вопросы превращают монолог менеджера в вывод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910431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69E6A-BEEA-434C-B7ED-2F9038E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F748B-D7DE-490D-AE21-CB52195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A8270-5742-4421-99C9-37E86FE5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Результат этапа виден по реакции клиента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D0FD-5896-40F1-B834-B544C87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6FD44-FB69-4F62-94D8-36C7EE60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3A6B2-2558-449A-869F-8B96E804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9AAC3-D7B6-44C1-92AC-D5C620DC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Признаёт наличие проблемы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DD984-455A-4660-AD57-E8D1A04E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12361-EF15-4FDB-8B0C-A12C39B8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847DA-4BFD-4BC3-B542-AECCAD91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Соглашается с её последствиями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A03A3-3D41-44CE-B39C-53E7569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66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6E21A-4865-4B9F-95ED-0B718D8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80C3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0FA72-4260-411E-8482-9CBFEEE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Говорит, что карточками нужно заниматься системно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1A8E6-B179-4917-AB56-FB09220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66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C6D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93ED7-8985-4223-9346-9C3ABC3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F5119-5E81-407E-B3E8-7A4065F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1485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Просит рассказать, как мы можем помочь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36408-6849-4C82-A865-F217E7C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7524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Только после этого переходим к презентации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498296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D1BCB-E1CB-417B-AA72-432D203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84404-4C64-4BA9-9724-3E78ED5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F7C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CCD8E-67DB-421F-A8BB-955EE62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104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Главный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829B-594F-4379-8F82-392D9C12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51E"/>
          </a:solidFill>
          <a:ln xmlns:a="http://schemas.openxmlformats.org/drawingml/2006/main" w="0">
            <a:solidFill>
              <a:srgbClr val="D795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07461-C294-4C69-B3AD-840F569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001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t>Мы не продаём ведение профиля сразу.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8A525-2448-4F7D-9D66-28D6B00F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001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Сначала помогаем клиенту связать состояние карточки с выбором пользователей, последствиями для бизнеса и необходимостью действовать.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A0515-3F6C-4946-BCA3-FCE6413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00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B6D9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A14F8-A63F-4338-86C2-1838C744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239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t>Цель: «Вижу проблему — хочу узнать, как её решить».</a:t>
            </a:r>
          </a:p>
        </p:txBody>
      </p:sp>
    </p:spTree>
    <p:extLst>
      <p:ext uri="{BB962C8B-B14F-4D97-AF65-F5344CB8AC3E}">
        <p14:creationId xmlns:p14="http://schemas.microsoft.com/office/powerpoint/2010/main" val="1063856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2026-09-01T12:46:23.3800000Z</dcterms:created>
  <dcterms:modified xsi:type="dcterms:W3CDTF">2026-09-01T12:46:23.3800000Z</dcterms:modified>
</coreProperties>
</file>