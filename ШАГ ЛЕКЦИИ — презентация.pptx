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541dd98d0046be" /><Relationship Type="http://schemas.openxmlformats.org/officeDocument/2006/relationships/extended-properties" Target="/docProps/app.xml" Id="R5f30984556a148aa" /><Relationship Type="http://schemas.openxmlformats.org/officeDocument/2006/relationships/officeDocument" Target="/ppt/presentation.xml" Id="R518707e0130346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16cc76215842d2"/>
  </p:sldMasterIdLst>
  <p:notesMasterIdLst>
    <p:notesMasterId xmlns:r="http://schemas.openxmlformats.org/officeDocument/2006/relationships" r:id="Rfd6be85b0252402c"/>
  </p:notesMasterIdLst>
  <p:sldIdLst>
    <p:sldId xmlns:r="http://schemas.openxmlformats.org/officeDocument/2006/relationships" id="256" r:id="Rb5f77a72f0e24df8"/>
    <p:sldId xmlns:r="http://schemas.openxmlformats.org/officeDocument/2006/relationships" id="257" r:id="R3bbd46a449ed4fd0"/>
    <p:sldId xmlns:r="http://schemas.openxmlformats.org/officeDocument/2006/relationships" id="258" r:id="Rb125995fc2a84470"/>
    <p:sldId xmlns:r="http://schemas.openxmlformats.org/officeDocument/2006/relationships" id="259" r:id="R6a004065efd94a10"/>
    <p:sldId xmlns:r="http://schemas.openxmlformats.org/officeDocument/2006/relationships" id="260" r:id="R0b3a6b893f1a4ffd"/>
    <p:sldId xmlns:r="http://schemas.openxmlformats.org/officeDocument/2006/relationships" id="261" r:id="R975e5c2302a449de"/>
    <p:sldId xmlns:r="http://schemas.openxmlformats.org/officeDocument/2006/relationships" id="262" r:id="Rebd1ace673cc4461"/>
    <p:sldId xmlns:r="http://schemas.openxmlformats.org/officeDocument/2006/relationships" id="263" r:id="Rb4189c11f0a44d5d"/>
    <p:sldId xmlns:r="http://schemas.openxmlformats.org/officeDocument/2006/relationships" id="264" r:id="R1d6a54c9abf34e3c"/>
    <p:sldId xmlns:r="http://schemas.openxmlformats.org/officeDocument/2006/relationships" id="265" r:id="R5122895c04424c61"/>
    <p:sldId xmlns:r="http://schemas.openxmlformats.org/officeDocument/2006/relationships" id="266" r:id="R9cdfc7bba5954c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8c3aced4dd4847" /><Relationship Type="http://schemas.openxmlformats.org/officeDocument/2006/relationships/slideMaster" Target="/ppt/slideMasters/slideMaster1.xml" Id="Rac16cc76215842d2" /><Relationship Type="http://schemas.openxmlformats.org/officeDocument/2006/relationships/notesMaster" Target="/ppt/notesMasters/notesMaster1.xml" Id="Rfd6be85b0252402c" /><Relationship Type="http://schemas.openxmlformats.org/officeDocument/2006/relationships/presProps" Target="/ppt/presProps.xml" Id="Rd575ac163d8a4343" /><Relationship Type="http://schemas.openxmlformats.org/officeDocument/2006/relationships/tableStyles" Target="/ppt/tableStyles.xml" Id="Ra93cfc5e3f7743c5" /><Relationship Type="http://schemas.openxmlformats.org/officeDocument/2006/relationships/slide" Target="/ppt/slides/slide1.xml" Id="Rb5f77a72f0e24df8" /><Relationship Type="http://schemas.openxmlformats.org/officeDocument/2006/relationships/slide" Target="/ppt/slides/slide2.xml" Id="R3bbd46a449ed4fd0" /><Relationship Type="http://schemas.openxmlformats.org/officeDocument/2006/relationships/slide" Target="/ppt/slides/slide3.xml" Id="Rb125995fc2a84470" /><Relationship Type="http://schemas.openxmlformats.org/officeDocument/2006/relationships/slide" Target="/ppt/slides/slide4.xml" Id="R6a004065efd94a10" /><Relationship Type="http://schemas.openxmlformats.org/officeDocument/2006/relationships/slide" Target="/ppt/slides/slide5.xml" Id="R0b3a6b893f1a4ffd" /><Relationship Type="http://schemas.openxmlformats.org/officeDocument/2006/relationships/slide" Target="/ppt/slides/slide6.xml" Id="R975e5c2302a449de" /><Relationship Type="http://schemas.openxmlformats.org/officeDocument/2006/relationships/slide" Target="/ppt/slides/slide7.xml" Id="Rebd1ace673cc4461" /><Relationship Type="http://schemas.openxmlformats.org/officeDocument/2006/relationships/slide" Target="/ppt/slides/slide8.xml" Id="Rb4189c11f0a44d5d" /><Relationship Type="http://schemas.openxmlformats.org/officeDocument/2006/relationships/slide" Target="/ppt/slides/slide9.xml" Id="R1d6a54c9abf34e3c" /><Relationship Type="http://schemas.openxmlformats.org/officeDocument/2006/relationships/slide" Target="/ppt/slides/slide10.xml" Id="R5122895c04424c61" /><Relationship Type="http://schemas.openxmlformats.org/officeDocument/2006/relationships/slide" Target="/ppt/slides/slide11.xml" Id="R9cdfc7bba5954c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1a3240972b4a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7b54a3486b4784" /><Relationship Type="http://schemas.openxmlformats.org/officeDocument/2006/relationships/notesMaster" Target="/ppt/notesMasters/notesMaster1.xml" Id="Rf1cafd838a1a41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a58ac156034e14" /><Relationship Type="http://schemas.openxmlformats.org/officeDocument/2006/relationships/notesMaster" Target="/ppt/notesMasters/notesMaster1.xml" Id="Ra6a3dc8336614a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6bff5d129e46cb" /><Relationship Type="http://schemas.openxmlformats.org/officeDocument/2006/relationships/notesMaster" Target="/ppt/notesMasters/notesMaster1.xml" Id="R9c0afd14a30842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d7ac6c27a04bd2" /><Relationship Type="http://schemas.openxmlformats.org/officeDocument/2006/relationships/notesMaster" Target="/ppt/notesMasters/notesMaster1.xml" Id="Rdc2140da44d94b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f9b879e42942fa" /><Relationship Type="http://schemas.openxmlformats.org/officeDocument/2006/relationships/notesMaster" Target="/ppt/notesMasters/notesMaster1.xml" Id="Ra758aa48b5b549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eaf89185524f21" /><Relationship Type="http://schemas.openxmlformats.org/officeDocument/2006/relationships/notesMaster" Target="/ppt/notesMasters/notesMaster1.xml" Id="Rcdfc85e0a0c642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6ea77ea3e94fb6" /><Relationship Type="http://schemas.openxmlformats.org/officeDocument/2006/relationships/notesMaster" Target="/ppt/notesMasters/notesMaster1.xml" Id="Radb8715afe6b47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c1f9779aae466e" /><Relationship Type="http://schemas.openxmlformats.org/officeDocument/2006/relationships/notesMaster" Target="/ppt/notesMasters/notesMaster1.xml" Id="Reedda2aa430349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7cd50fe81d4fe6" /><Relationship Type="http://schemas.openxmlformats.org/officeDocument/2006/relationships/notesMaster" Target="/ppt/notesMasters/notesMaster1.xml" Id="R3ba2f2856c7640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2c8c98bdbf4211" /><Relationship Type="http://schemas.openxmlformats.org/officeDocument/2006/relationships/notesMaster" Target="/ppt/notesMasters/notesMaster1.xml" Id="Ra2e4c49a0cb844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4f71448c4b42aa" /><Relationship Type="http://schemas.openxmlformats.org/officeDocument/2006/relationships/notesMaster" Target="/ppt/notesMasters/notesMaster1.xml" Id="Rd717c407f62f4c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c43ea3cc447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391642ff08413a" /><Relationship Type="http://schemas.openxmlformats.org/officeDocument/2006/relationships/slideLayout" Target="/ppt/slideLayouts/slideLayout1.xml" Id="Rece8355c15e04d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e8355c15e04d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3cdea926548f9" /><Relationship Type="http://schemas.openxmlformats.org/officeDocument/2006/relationships/notesSlide" Target="/ppt/notesSlides/notesSlide1.xml" Id="Rd9dcfb5fa7334d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e60fd455d413a" /><Relationship Type="http://schemas.openxmlformats.org/officeDocument/2006/relationships/notesSlide" Target="/ppt/notesSlides/notesSlide2.xml" Id="R0259b6a82f2b49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93116a38d4d23" /><Relationship Type="http://schemas.openxmlformats.org/officeDocument/2006/relationships/notesSlide" Target="/ppt/notesSlides/notesSlide3.xml" Id="Rd845726dca1747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a31e5c38f4358" /><Relationship Type="http://schemas.openxmlformats.org/officeDocument/2006/relationships/notesSlide" Target="/ppt/notesSlides/notesSlide4.xml" Id="R73e768680fdc4e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a0d4a2bf7483f" /><Relationship Type="http://schemas.openxmlformats.org/officeDocument/2006/relationships/notesSlide" Target="/ppt/notesSlides/notesSlide5.xml" Id="R2f607e63949b46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930ea991347fa" /><Relationship Type="http://schemas.openxmlformats.org/officeDocument/2006/relationships/notesSlide" Target="/ppt/notesSlides/notesSlide6.xml" Id="R1809e7fcfe2440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c9cab09c04361" /><Relationship Type="http://schemas.openxmlformats.org/officeDocument/2006/relationships/notesSlide" Target="/ppt/notesSlides/notesSlide7.xml" Id="R747b9b60df2a4b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b0971ee144717" /><Relationship Type="http://schemas.openxmlformats.org/officeDocument/2006/relationships/notesSlide" Target="/ppt/notesSlides/notesSlide8.xml" Id="R7a88d7d9f2594a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b1c8dd3414ee9" /><Relationship Type="http://schemas.openxmlformats.org/officeDocument/2006/relationships/notesSlide" Target="/ppt/notesSlides/notesSlide9.xml" Id="R89707b4a160447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cd7d204b64f7a" /><Relationship Type="http://schemas.openxmlformats.org/officeDocument/2006/relationships/notesSlide" Target="/ppt/notesSlides/notesSlide10.xml" Id="R804e01da01bc4f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4a32b2f754ef3" /><Relationship Type="http://schemas.openxmlformats.org/officeDocument/2006/relationships/notesSlide" Target="/ppt/notesSlides/notesSlide11.xml" Id="R9cb3dfdd47d040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6E3A3-2299-4130-AD7A-10ECC131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6874"/>
                </a:solidFill>
              </a:defRPr>
            </a:pPr>
            <a:r>
              <a:rPr sz="900" b="1">
                <a:solidFill>
                  <a:srgbClr val="606874"/>
                </a:solidFill>
              </a:rPr>
              <a:t>ЭТАП ПРОДАЖ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3E59DCA-80B8-4EBF-8BF2-39109807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0674A2E-1E4D-42B1-B5B9-D16CD26A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7825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A0D12"/>
                </a:solidFill>
              </a:defRPr>
            </a:pPr>
            <a:r>
              <a:rPr sz="5550" b="1">
                <a:solidFill>
                  <a:srgbClr val="0A0D12"/>
                </a:solidFill>
              </a:rPr>
              <a:t>Презентация</a:t>
            </a:r>
          </a:p>
          <a:p xmlns:a="http://schemas.openxmlformats.org/drawingml/2006/main">
            <a:pPr algn="l">
              <a:defRPr sz="5550" b="1">
                <a:solidFill>
                  <a:srgbClr val="0A0D12"/>
                </a:solidFill>
              </a:defRPr>
            </a:pPr>
            <a:r>
              <a:rPr sz="5550" b="1">
                <a:solidFill>
                  <a:srgbClr val="0A0D12"/>
                </a:solidFill>
              </a:rPr>
              <a:t>продукта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DA54D-3EB1-46A3-A8F6-DEDF1CE4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5"/>
                </a:solidFill>
              </a:defRPr>
            </a:pPr>
            <a:r>
              <a:rPr sz="1800" b="0">
                <a:solidFill>
                  <a:srgbClr val="182235"/>
                </a:solidFill>
              </a:rPr>
              <a:t>Как объяснить ценность решения,</a:t>
            </a:r>
          </a:p>
          <a:p xmlns:a="http://schemas.openxmlformats.org/drawingml/2006/main">
            <a:pPr algn="l">
              <a:defRPr sz="1800" b="0">
                <a:solidFill>
                  <a:srgbClr val="182235"/>
                </a:solidFill>
              </a:defRPr>
            </a:pPr>
            <a:r>
              <a:rPr sz="1800" b="0">
                <a:solidFill>
                  <a:srgbClr val="182235"/>
                </a:solidFill>
              </a:rPr>
              <a:t>связать его с проблемой и перейти к следующему шагу</a:t>
            </a:r>
          </a:p>
        </p:txBody>
      </p:sp>
      <p:sp>
        <p:nvSpPr>
          <p:cNvPr id="5" name="cover-field">
            <a:extLst xmlns:a="http://schemas.openxmlformats.org/drawingml/2006/main">
              <a:ext uri="{FF2B5EF4-FFF2-40B4-BE49-F238E27FC236}">
                <a16:creationId xmlns:a16="http://schemas.microsoft.com/office/drawing/2014/main" id="{2F390B8A-02D5-48FB-819A-F068A6BD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6385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CFD9D-BEAF-412C-A01A-C271B8CF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050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CBF4"/>
                </a:solidFill>
              </a:defRPr>
            </a:pPr>
            <a:r>
              <a:rPr sz="1500" b="1">
                <a:solidFill>
                  <a:srgbClr val="6DCBF4"/>
                </a:solidFill>
              </a:rPr>
              <a:t>ПРОБЛЕМА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C8D1B-4F08-4BA7-808E-962B56A1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19375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E5C09-EF70-4404-B463-C77F1013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765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РЕШЕНИЕ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690D8-9151-44D9-B02E-0002BFBA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385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0B4B1-8C18-4115-B843-93851247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95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CBF4"/>
                </a:solidFill>
              </a:defRPr>
            </a:pPr>
            <a:r>
              <a:rPr sz="1500" b="1">
                <a:solidFill>
                  <a:srgbClr val="6DCBF4"/>
                </a:solidFill>
              </a:rPr>
              <a:t>ВЫГОДА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98C71-44EA-4C10-9E84-BB589870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Лекция для менеджера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C8D1C-3EDF-45F8-9B59-AE3E310C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874"/>
                </a:solidFill>
              </a:defRPr>
            </a:pPr>
            <a:r>
              <a:rPr sz="975" b="0">
                <a:solidFill>
                  <a:srgbClr val="606874"/>
                </a:solidFill>
              </a:rPr>
              <a:t>ORM / управление репутацией</a:t>
            </a:r>
          </a:p>
        </p:txBody>
      </p:sp>
    </p:spTree>
    <p:extLst>
      <p:ext uri="{BB962C8B-B14F-4D97-AF65-F5344CB8AC3E}">
        <p14:creationId xmlns:p14="http://schemas.microsoft.com/office/powerpoint/2010/main" val="1303462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C7A6D-444A-46A7-AA90-00C5592F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ЦЕЛЬ ЭТАПА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1A953-B647-41AB-8BE1-19732FEF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02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D4E21EE-8126-4399-A0C8-6F1A10B4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BA3FE9-BCF2-4D34-AD30-EE8951FF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715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Сначала сделайте ценность понятной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AE7558A-ED8E-47AE-A51A-079A584F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Клиент уже признал проблему — теперь он должен увидеть, как именно решение поможет её устранить.</a:t>
            </a:r>
          </a:p>
        </p:txBody>
      </p:sp>
      <p:sp>
        <p:nvSpPr>
          <p:cNvPr id="6" name="before">
            <a:extLst xmlns:a="http://schemas.openxmlformats.org/drawingml/2006/main">
              <a:ext uri="{FF2B5EF4-FFF2-40B4-BE49-F238E27FC236}">
                <a16:creationId xmlns:a16="http://schemas.microsoft.com/office/drawing/2014/main" id="{FECA7FEC-96D3-46A8-ADE5-BDF8B072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4381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64130-0E0E-46D3-ABD9-6A234638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6874"/>
                </a:solidFill>
              </a:defRPr>
            </a:pPr>
            <a:r>
              <a:rPr sz="900" b="1">
                <a:solidFill>
                  <a:srgbClr val="606874"/>
                </a:solidFill>
              </a:rPr>
              <a:t>ДО ПРЕЗЕНТАЦИИ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E15D0-E67F-4CD9-964A-C3333789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D12"/>
                </a:solidFill>
              </a:defRPr>
            </a:pPr>
            <a:r>
              <a:rPr sz="2100" b="1">
                <a:solidFill>
                  <a:srgbClr val="0A0D12"/>
                </a:solidFill>
              </a:rPr>
              <a:t>«Я вижу проблему,</a:t>
            </a:r>
          </a:p>
          <a:p xmlns:a="http://schemas.openxmlformats.org/drawingml/2006/main">
            <a:pPr algn="l">
              <a:defRPr sz="2100" b="1">
                <a:solidFill>
                  <a:srgbClr val="0A0D12"/>
                </a:solidFill>
              </a:defRPr>
            </a:pPr>
            <a:r>
              <a:rPr sz="2100" b="1">
                <a:solidFill>
                  <a:srgbClr val="0A0D12"/>
                </a:solidFill>
              </a:rPr>
              <a:t>но не вижу решения»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33A8EE8B-E361-4054-80CC-91A22171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95675"/>
            <a:ext cx="1676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0" name="after">
            <a:extLst xmlns:a="http://schemas.openxmlformats.org/drawingml/2006/main">
              <a:ext uri="{FF2B5EF4-FFF2-40B4-BE49-F238E27FC236}">
                <a16:creationId xmlns:a16="http://schemas.microsoft.com/office/drawing/2014/main" id="{F3B563FF-E7A4-4FED-B057-9EBA85AD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1300"/>
            <a:ext cx="4381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A07DD-E668-49B4-9684-13AB8A36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5752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</a:defRPr>
            </a:pPr>
            <a:r>
              <a:rPr sz="900" b="1">
                <a:solidFill>
                  <a:srgbClr val="6DCBF4"/>
                </a:solidFill>
              </a:rPr>
              <a:t>ПОСЛЕ ПРЕЗЕНТАЦИИ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9ED66-4D2C-4C55-A5C0-D67B5359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95675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«Я понимаю решение,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выгоду и следующий шаг»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90347A46-015B-4B97-A084-D65D5F1A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1201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DA074-07F3-4807-9191-9BBB856A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235"/>
                </a:solidFill>
              </a:defRPr>
            </a:pPr>
            <a:r>
              <a:rPr sz="1425" b="1">
                <a:solidFill>
                  <a:srgbClr val="182235"/>
                </a:solidFill>
              </a:rPr>
              <a:t>Задача менеджера — сделать связь «проблема → решение → выгода» очевидной для клиента.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27264B15-9699-4DA0-8B87-63200A26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98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B6E25-B5E9-423E-A1A0-3C125FCB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Презентация — это не рассказ о продукте, а объяснение ценности для конкретного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5114165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A7927-38CB-4B7F-A029-4BF8132C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ЛОГИКА ЛЕКЦИИ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A36DC-D27F-4CD6-B81D-30E3988D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03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55BB12-1733-478E-9C93-76BAA3DD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56E7C4-5ABA-4476-9433-755854A6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715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Логика — раньше деталей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F10B77D-E53A-4E2B-A806-0B6D77FE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Первые три шага помогают клиенту понять, зачем слушать про продукт и почему решение имеет отношение к его ситуации.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F242047D-9B22-4C58-B539-EE899C0B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node">
            <a:extLst xmlns:a="http://schemas.openxmlformats.org/drawingml/2006/main">
              <a:ext uri="{FF2B5EF4-FFF2-40B4-BE49-F238E27FC236}">
                <a16:creationId xmlns:a16="http://schemas.microsoft.com/office/drawing/2014/main" id="{5911CC8D-744A-4081-8923-09B45AEA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34513-2DDD-4B45-B84A-48C7CF02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EC7BD-0FF0-4C1A-81F6-179669E1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Зачем нужен этап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FA38F-BBE0-4FA3-BA07-30D0D813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874"/>
                </a:solidFill>
              </a:defRPr>
            </a:pPr>
            <a:r>
              <a:rPr sz="1200" b="0">
                <a:solidFill>
                  <a:srgbClr val="606874"/>
                </a:solidFill>
              </a:rPr>
              <a:t>Показываем, какую задачу клиента решает презентация.</a:t>
            </a:r>
          </a:p>
        </p:txBody>
      </p:sp>
      <p:sp>
        <p:nvSpPr>
          <p:cNvPr id="11" name="timeline-node">
            <a:extLst xmlns:a="http://schemas.openxmlformats.org/drawingml/2006/main">
              <a:ext uri="{FF2B5EF4-FFF2-40B4-BE49-F238E27FC236}">
                <a16:creationId xmlns:a16="http://schemas.microsoft.com/office/drawing/2014/main" id="{7FC58838-BFDC-4CC6-981B-BF60B911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F0520-D8D1-4A89-B677-F8F2EE6A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718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DD15E-0858-4492-933D-8C2CBF3A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Что происходит с клиентом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F614B-CCF5-48FF-8566-CC7F989F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874"/>
                </a:solidFill>
              </a:defRPr>
            </a:pPr>
            <a:r>
              <a:rPr sz="1200" b="0">
                <a:solidFill>
                  <a:srgbClr val="606874"/>
                </a:solidFill>
              </a:rPr>
              <a:t>Потребность уже есть, но решения и ценности он ещё не видит.</a:t>
            </a:r>
          </a:p>
        </p:txBody>
      </p:sp>
      <p:sp>
        <p:nvSpPr>
          <p:cNvPr id="15" name="timeline-node">
            <a:extLst xmlns:a="http://schemas.openxmlformats.org/drawingml/2006/main">
              <a:ext uri="{FF2B5EF4-FFF2-40B4-BE49-F238E27FC236}">
                <a16:creationId xmlns:a16="http://schemas.microsoft.com/office/drawing/2014/main" id="{67463338-8484-4910-9B2A-9570D75C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EDF2B-2CD8-4E4D-9D07-F8C6A075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718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1D839-FFC6-4B82-9A1F-BB1908BB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003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В какое состояние переводим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E45AA-5C57-4194-B7A1-A8AB9113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874"/>
                </a:solidFill>
              </a:defRPr>
            </a:pPr>
            <a:r>
              <a:rPr sz="1200" b="0">
                <a:solidFill>
                  <a:srgbClr val="606874"/>
                </a:solidFill>
              </a:rPr>
              <a:t>Из «просто слушаю» — в «готов обсуждать решение».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A3893F89-A58C-4C2E-A0B1-642FE909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98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5DB9E-82E4-4591-9DCF-BA3B03FF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Не начинайте с характеристик: сначала создайте для клиента понятный контекст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25523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727D85-730A-460D-B145-F39C6192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ПРАВИЛА ЭТАПА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AA72D-FD91-45A8-A542-A5DA10F0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04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FE5DC82-FB92-45A7-AE96-67341640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E1F488-928B-46A4-99BE-A4AFEFCF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715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Меньше монолога — больше связи с задачей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B982A85-2DB5-4B88-858D-B83FC48C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Ценность создаётся через структуру, конкретику и вовлекающий вопрос после озвучивания стоимости.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5D0FE-53B7-44D8-A84D-893C7AA7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ДЕЛАЕМ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4F620009-A9F7-470D-A936-9A49B2B8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037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A2727371-343E-496C-809B-E0559CCA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A3B3D-F56E-487A-823A-C36B4B8F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</a:defRPr>
            </a:pPr>
            <a:r>
              <a:rPr sz="1275" b="0">
                <a:solidFill>
                  <a:srgbClr val="0A0D12"/>
                </a:solidFill>
              </a:rPr>
              <a:t>Называем одну конкретную выгоду на одно свойство.</a:t>
            </a:r>
          </a:p>
        </p:txBody>
      </p:sp>
      <p:sp>
        <p:nvSpPr>
          <p:cNvPr id="10" name="bullet">
            <a:extLst xmlns:a="http://schemas.openxmlformats.org/drawingml/2006/main">
              <a:ext uri="{FF2B5EF4-FFF2-40B4-BE49-F238E27FC236}">
                <a16:creationId xmlns:a16="http://schemas.microsoft.com/office/drawing/2014/main" id="{19256239-C6B8-4ED3-86B1-6D992FCC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48FE4-1388-41A3-BD10-30C97F6F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</a:defRPr>
            </a:pPr>
            <a:r>
              <a:rPr sz="1275" b="0">
                <a:solidFill>
                  <a:srgbClr val="0A0D12"/>
                </a:solidFill>
              </a:rPr>
              <a:t>Показываем, как решение влияет на ситуацию клиента.</a:t>
            </a:r>
          </a:p>
        </p:txBody>
      </p:sp>
      <p:sp>
        <p:nvSpPr>
          <p:cNvPr id="12" name="bullet">
            <a:extLst xmlns:a="http://schemas.openxmlformats.org/drawingml/2006/main">
              <a:ext uri="{FF2B5EF4-FFF2-40B4-BE49-F238E27FC236}">
                <a16:creationId xmlns:a16="http://schemas.microsoft.com/office/drawing/2014/main" id="{F20915C5-AB83-4137-9A21-AE975A08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20340-A7C6-4560-A768-C29AD091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</a:defRPr>
            </a:pPr>
            <a:r>
              <a:rPr sz="1275" b="0">
                <a:solidFill>
                  <a:srgbClr val="0A0D12"/>
                </a:solidFill>
              </a:rPr>
              <a:t>Задаём вопрос, который вовлекает в следующий шаг.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8F108-0458-40AB-AB74-1F7F4B00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6874"/>
                </a:solidFill>
              </a:defRPr>
            </a:pPr>
            <a:r>
              <a:rPr sz="1050" b="1">
                <a:solidFill>
                  <a:srgbClr val="606874"/>
                </a:solidFill>
              </a:rPr>
              <a:t>ИЗБЕГАЕМ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946834E0-52A2-4484-BBCE-962EE8B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">
            <a:extLst xmlns:a="http://schemas.openxmlformats.org/drawingml/2006/main">
              <a:ext uri="{FF2B5EF4-FFF2-40B4-BE49-F238E27FC236}">
                <a16:creationId xmlns:a16="http://schemas.microsoft.com/office/drawing/2014/main" id="{D27584FF-608F-4019-A7C4-B5BB41C4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874"/>
          </a:solidFill>
          <a:ln xmlns:a="http://schemas.openxmlformats.org/drawingml/2006/main" w="0">
            <a:solidFill>
              <a:srgbClr val="6068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C6E6A-6E30-42BE-AA17-B42376CF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5280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</a:defRPr>
            </a:pPr>
            <a:r>
              <a:rPr sz="1275" b="0">
                <a:solidFill>
                  <a:srgbClr val="0A0D12"/>
                </a:solidFill>
              </a:rPr>
              <a:t>Долгого рассказа о продукте без связи с проблемой.</a:t>
            </a:r>
          </a:p>
        </p:txBody>
      </p:sp>
      <p:sp>
        <p:nvSpPr>
          <p:cNvPr id="18" name="bullet">
            <a:extLst xmlns:a="http://schemas.openxmlformats.org/drawingml/2006/main">
              <a:ext uri="{FF2B5EF4-FFF2-40B4-BE49-F238E27FC236}">
                <a16:creationId xmlns:a16="http://schemas.microsoft.com/office/drawing/2014/main" id="{B9F2D812-85A4-463B-9107-6EFCDBC0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874"/>
          </a:solidFill>
          <a:ln xmlns:a="http://schemas.openxmlformats.org/drawingml/2006/main" w="0">
            <a:solidFill>
              <a:srgbClr val="60687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90084-949B-4810-A680-DA077F37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8620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</a:defRPr>
            </a:pPr>
            <a:r>
              <a:rPr sz="1275" b="0">
                <a:solidFill>
                  <a:srgbClr val="0A0D12"/>
                </a:solidFill>
              </a:rPr>
              <a:t>Пропуска названия компании и логики алгоритма.</a:t>
            </a:r>
          </a:p>
        </p:txBody>
      </p:sp>
      <p:sp>
        <p:nvSpPr>
          <p:cNvPr id="20" name="bullet">
            <a:extLst xmlns:a="http://schemas.openxmlformats.org/drawingml/2006/main">
              <a:ext uri="{FF2B5EF4-FFF2-40B4-BE49-F238E27FC236}">
                <a16:creationId xmlns:a16="http://schemas.microsoft.com/office/drawing/2014/main" id="{18C6F39A-A370-40FF-A458-A7BE0D97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874"/>
          </a:solidFill>
          <a:ln xmlns:a="http://schemas.openxmlformats.org/drawingml/2006/main" w="0">
            <a:solidFill>
              <a:srgbClr val="6068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91BB4B-260B-47FC-958D-74301694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1960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</a:defRPr>
            </a:pPr>
            <a:r>
              <a:rPr sz="1275" b="0">
                <a:solidFill>
                  <a:srgbClr val="0A0D12"/>
                </a:solidFill>
              </a:rPr>
              <a:t>Озвучивания цены до того, как создана ценность.</a:t>
            </a:r>
          </a:p>
        </p:txBody>
      </p:sp>
      <p:sp>
        <p:nvSpPr>
          <p:cNvPr id="22" name="quote">
            <a:extLst xmlns:a="http://schemas.openxmlformats.org/drawingml/2006/main">
              <a:ext uri="{FF2B5EF4-FFF2-40B4-BE49-F238E27FC236}">
                <a16:creationId xmlns:a16="http://schemas.microsoft.com/office/drawing/2014/main" id="{57FF4601-4836-4952-BCE8-53FFAAC6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1201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B668E-2893-46CE-BA51-BE62AF07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Клиент должен услышать не сумму к оплате, а цену решения своей задачи.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B6A1482A-6AE9-4453-ACBF-6B8986A0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98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E9534-F0B5-4A9C-A0C3-D33667EA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Упрощайте объяснение: оставляйте только то, что помогает клиенту принять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3251689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8F2515-42DE-4F4D-9FEA-AFC27A9D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ИНСТРУМЕНТ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DE9EB-D79E-4B07-8B28-CAC46E5F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05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E89A078-330B-448C-8708-1526BF78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B48F53-08C6-44BC-8B67-C1AC29DE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715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ССВ: формула ценностного сообщения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3EDE7A3-3576-4630-A538-B80BE2BF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Свойство само по себе не продаёт. Клиенту нужен понятный переход от характеристики к его выгоде.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BDFDF54D-B2D4-4B45-81EB-4E67D560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81400"/>
            <a:ext cx="571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7" name="ssv-item">
            <a:extLst xmlns:a="http://schemas.openxmlformats.org/drawingml/2006/main">
              <a:ext uri="{FF2B5EF4-FFF2-40B4-BE49-F238E27FC236}">
                <a16:creationId xmlns:a16="http://schemas.microsoft.com/office/drawing/2014/main" id="{BF6E3714-0012-4706-AB8F-D441A1E9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29527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02A33-D35F-4BF4-A26E-F60C0E25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B246B-9C53-46B9-BE41-E3A87EF7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099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</a:defRPr>
            </a:pPr>
            <a:r>
              <a:rPr sz="1875" b="1">
                <a:solidFill>
                  <a:srgbClr val="0A0D12"/>
                </a:solidFill>
              </a:rPr>
              <a:t>Свойство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F8EF1-204C-4DD9-9C34-63C102CE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874"/>
                </a:solidFill>
              </a:defRPr>
            </a:pPr>
            <a:r>
              <a:rPr sz="1200" b="0">
                <a:solidFill>
                  <a:srgbClr val="606874"/>
                </a:solidFill>
              </a:rPr>
              <a:t>Что есть в продукте: характеристика или действие.</a:t>
            </a:r>
          </a:p>
        </p:txBody>
      </p:sp>
      <p:sp>
        <p:nvSpPr>
          <p:cNvPr id="11" name="arrow">
            <a:extLst xmlns:a="http://schemas.openxmlformats.org/drawingml/2006/main">
              <a:ext uri="{FF2B5EF4-FFF2-40B4-BE49-F238E27FC236}">
                <a16:creationId xmlns:a16="http://schemas.microsoft.com/office/drawing/2014/main" id="{07DA2FBC-34ED-4802-B0A4-C66DB889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81400"/>
            <a:ext cx="571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2" name="ssv-item">
            <a:extLst xmlns:a="http://schemas.openxmlformats.org/drawingml/2006/main">
              <a:ext uri="{FF2B5EF4-FFF2-40B4-BE49-F238E27FC236}">
                <a16:creationId xmlns:a16="http://schemas.microsoft.com/office/drawing/2014/main" id="{1B1E5749-BBAC-42CB-A0CB-C8DE903E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29527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ED6E1-89A7-44E9-A114-4872D410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14675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CEF64-EA8F-4161-A146-03D9E2D2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99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</a:defRPr>
            </a:pPr>
            <a:r>
              <a:rPr sz="1875" b="1">
                <a:solidFill>
                  <a:srgbClr val="0A0D12"/>
                </a:solidFill>
              </a:rPr>
              <a:t>Связка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73980-D812-404E-AF79-484891E9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862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874"/>
                </a:solidFill>
              </a:defRPr>
            </a:pPr>
            <a:r>
              <a:rPr sz="1200" b="0">
                <a:solidFill>
                  <a:srgbClr val="606874"/>
                </a:solidFill>
              </a:rPr>
              <a:t>Мост к выгоде: «благодаря этому», «с помощью этого».</a:t>
            </a:r>
          </a:p>
        </p:txBody>
      </p:sp>
      <p:sp>
        <p:nvSpPr>
          <p:cNvPr id="16" name="ssv-item">
            <a:extLst xmlns:a="http://schemas.openxmlformats.org/drawingml/2006/main">
              <a:ext uri="{FF2B5EF4-FFF2-40B4-BE49-F238E27FC236}">
                <a16:creationId xmlns:a16="http://schemas.microsoft.com/office/drawing/2014/main" id="{4BD9A0DF-4BA0-4374-A1E4-440281BE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29527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D4ECD-66E5-423D-BC73-9C854A8F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14675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DCBF4"/>
                </a:solidFill>
              </a:defRPr>
            </a:pPr>
            <a:r>
              <a:rPr sz="2850" b="1">
                <a:solidFill>
                  <a:srgbClr val="6DCBF4"/>
                </a:solidFill>
              </a:rPr>
              <a:t>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7D7BC-3E45-4569-9DA9-C0D6C75C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99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Выгода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555B2-90AD-43D1-9B47-7F047BD4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862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EE9"/>
                </a:solidFill>
              </a:defRPr>
            </a:pPr>
            <a:r>
              <a:rPr sz="1200" b="0">
                <a:solidFill>
                  <a:srgbClr val="D7DEE9"/>
                </a:solidFill>
              </a:rPr>
              <a:t>Что меняется для клиента и почему это для него важно.</a:t>
            </a:r>
          </a:p>
        </p:txBody>
      </p:sp>
      <p:sp>
        <p:nvSpPr>
          <p:cNvPr id="20" name="ssv-rule">
            <a:extLst xmlns:a="http://schemas.openxmlformats.org/drawingml/2006/main">
              <a:ext uri="{FF2B5EF4-FFF2-40B4-BE49-F238E27FC236}">
                <a16:creationId xmlns:a16="http://schemas.microsoft.com/office/drawing/2014/main" id="{B722B9BF-887C-42AD-8636-A6AFFCF9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120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105FB-0F95-45C2-8D99-7ADFABB0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235"/>
                </a:solidFill>
              </a:defRPr>
            </a:pPr>
            <a:r>
              <a:rPr sz="1125" b="1">
                <a:solidFill>
                  <a:srgbClr val="182235"/>
                </a:solidFill>
              </a:rPr>
              <a:t>Одна характеристика → одна связка → одна конкретная выгода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214EDFC6-7B28-4217-820A-8755892C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98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01B33-0A87-437B-B801-E6BED555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Формула ССВ помогает говорить с клиентом на языке результата, а не функций.</a:t>
            </a:r>
          </a:p>
        </p:txBody>
      </p:sp>
    </p:spTree>
    <p:extLst>
      <p:ext uri="{BB962C8B-B14F-4D97-AF65-F5344CB8AC3E}">
        <p14:creationId xmlns:p14="http://schemas.microsoft.com/office/powerpoint/2010/main" val="20447733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DB17F5-D6AC-4762-80A1-364E06F2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ИНСТРУМЕНТ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A042D-AFBA-440B-A6B8-2D691E71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06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CBAA403-8397-4463-8C3E-20657C59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272474-8BEE-4B7B-9A1B-F0F715A4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715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Как собрать фразу по ССВ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D9421F6-013F-47C0-A8A8-265F66D9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Ниже — пример на базе модуля, который обновляет информацию в профиле компании.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FCCF6-F244-42B6-8F2B-59439256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874"/>
                </a:solidFill>
              </a:defRPr>
            </a:pPr>
            <a:r>
              <a:rPr sz="975" b="1">
                <a:solidFill>
                  <a:srgbClr val="606874"/>
                </a:solidFill>
              </a:rPr>
              <a:t>СВОЙСТВО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8C036294-8458-498A-92FB-3BF8BC7D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5752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092F1-7B63-4313-AE60-494DFC27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3842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«В рамках модуля мы обновляем информацию в профиле: добавляем новости»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6917AC9B-6E91-4A5F-BE41-05CFF5A3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724150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F37AD-97AF-4973-B45E-DAEA64CF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874"/>
                </a:solidFill>
              </a:defRPr>
            </a:pPr>
            <a:r>
              <a:rPr sz="975" b="1">
                <a:solidFill>
                  <a:srgbClr val="606874"/>
                </a:solidFill>
              </a:rPr>
              <a:t>СВЯЗКА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8BAB2D17-FD6A-40AD-B97D-43C50F29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24B60-17B6-4357-AA4B-C4B38C6E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242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0D12"/>
                </a:solidFill>
              </a:defRPr>
            </a:pPr>
            <a:r>
              <a:rPr sz="1425" b="0">
                <a:solidFill>
                  <a:srgbClr val="0A0D12"/>
                </a:solidFill>
              </a:rPr>
              <a:t>«Благодаря этому…»</a:t>
            </a:r>
          </a:p>
        </p:txBody>
      </p:sp>
      <p:sp>
        <p:nvSpPr>
          <p:cNvPr id="13" name="arrow">
            <a:extLst xmlns:a="http://schemas.openxmlformats.org/drawingml/2006/main">
              <a:ext uri="{FF2B5EF4-FFF2-40B4-BE49-F238E27FC236}">
                <a16:creationId xmlns:a16="http://schemas.microsoft.com/office/drawing/2014/main" id="{5805E297-7FBE-4D9B-A6B9-5D4C329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9975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24944-05C7-4FEF-9864-9BDF3E4C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862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ВЫГОДА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5769B48F-E502-4316-AE94-33A00938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1C9C2-28C7-4EF3-928E-ECB69273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007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5"/>
                </a:solidFill>
              </a:defRPr>
            </a:pPr>
            <a:r>
              <a:rPr sz="1650" b="1">
                <a:solidFill>
                  <a:srgbClr val="182235"/>
                </a:solidFill>
              </a:rPr>
              <a:t>«…клиенты чаще находят компанию по ключевым запросам, а не только по названию»</a:t>
            </a:r>
          </a:p>
        </p:txBody>
      </p:sp>
      <p:sp>
        <p:nvSpPr>
          <p:cNvPr id="17" name="assembled-message">
            <a:extLst xmlns:a="http://schemas.openxmlformats.org/drawingml/2006/main">
              <a:ext uri="{FF2B5EF4-FFF2-40B4-BE49-F238E27FC236}">
                <a16:creationId xmlns:a16="http://schemas.microsoft.com/office/drawing/2014/main" id="{6BE9E008-0678-49CB-B62D-16DE7811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57825"/>
            <a:ext cx="11201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9DFAD-131A-491C-B87B-CD054027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3402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Готовая фраза должна звучать как естественное объяснение, а не как перечисление терминов.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D53F05B2-F706-4998-990D-4D8FA0D3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98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59E43-A929-4B9D-9D5D-65D4F331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После выгоды задайте вопрос: уточните реакцию клиента и пригласите к следующему шагу.</a:t>
            </a:r>
          </a:p>
        </p:txBody>
      </p:sp>
    </p:spTree>
    <p:extLst>
      <p:ext uri="{BB962C8B-B14F-4D97-AF65-F5344CB8AC3E}">
        <p14:creationId xmlns:p14="http://schemas.microsoft.com/office/powerpoint/2010/main" val="55949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BAD25-E14A-4625-A0FE-2F15B2B8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АЛГОРИТМ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F298F-03B9-41A3-8996-1BA50150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07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AE388A6-70C7-4A8F-8256-222885DA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C2939C-AF26-4A14-83A3-54147F67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715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Шаг 1–2: сначала объясняем, кто мы и что предлагаем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29E1999-B8D0-417D-A193-3119D17B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Клиенту нужна короткая рамка: почему компании можно доверять и как устроено решение.</a:t>
            </a:r>
          </a:p>
        </p:txBody>
      </p:sp>
      <p:sp>
        <p:nvSpPr>
          <p:cNvPr id="6" name="company-step">
            <a:extLst xmlns:a="http://schemas.openxmlformats.org/drawingml/2006/main">
              <a:ext uri="{FF2B5EF4-FFF2-40B4-BE49-F238E27FC236}">
                <a16:creationId xmlns:a16="http://schemas.microsoft.com/office/drawing/2014/main" id="{4F5C8468-D9A3-45B3-9C5A-D9A4D3BE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50101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50527-31C7-4684-9745-2B8CD67F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ШАГ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11EDB-7314-40E7-A653-818C09D5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D12"/>
                </a:solidFill>
              </a:defRPr>
            </a:pPr>
            <a:r>
              <a:rPr sz="2025" b="1">
                <a:solidFill>
                  <a:srgbClr val="0A0D12"/>
                </a:solidFill>
              </a:rPr>
              <a:t>Презентация компании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BFD87-9531-4E8D-ACE5-3A901C29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3667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874"/>
                </a:solidFill>
              </a:defRPr>
            </a:pPr>
            <a:r>
              <a:rPr sz="1275" b="0">
                <a:solidFill>
                  <a:srgbClr val="606874"/>
                </a:solidFill>
              </a:rPr>
              <a:t>Коротко: кто мы, чем занимаемся</a:t>
            </a:r>
          </a:p>
          <a:p xmlns:a="http://schemas.openxmlformats.org/drawingml/2006/main">
            <a:pPr algn="l">
              <a:defRPr sz="1275" b="0">
                <a:solidFill>
                  <a:srgbClr val="606874"/>
                </a:solidFill>
              </a:defRPr>
            </a:pPr>
            <a:r>
              <a:rPr sz="1275" b="0">
                <a:solidFill>
                  <a:srgbClr val="606874"/>
                </a:solidFill>
              </a:rPr>
              <a:t>и почему можем помочь решить задачу клиента.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FA771-430A-47EE-8CEC-85C338A7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235"/>
                </a:solidFill>
              </a:defRPr>
            </a:pPr>
            <a:r>
              <a:rPr sz="1125" b="1">
                <a:solidFill>
                  <a:srgbClr val="182235"/>
                </a:solidFill>
              </a:rPr>
              <a:t>Пример: «Мы помогаем компаниям</a:t>
            </a:r>
          </a:p>
          <a:p xmlns:a="http://schemas.openxmlformats.org/drawingml/2006/main">
            <a:pPr algn="l">
              <a:defRPr sz="1125" b="1">
                <a:solidFill>
                  <a:srgbClr val="182235"/>
                </a:solidFill>
              </a:defRPr>
            </a:pPr>
            <a:r>
              <a:rPr sz="1125" b="1">
                <a:solidFill>
                  <a:srgbClr val="182235"/>
                </a:solidFill>
              </a:rPr>
              <a:t>управлять репутацией в интернете».</a:t>
            </a:r>
          </a:p>
        </p:txBody>
      </p:sp>
      <p:sp>
        <p:nvSpPr>
          <p:cNvPr id="11" name="orm-step">
            <a:extLst xmlns:a="http://schemas.openxmlformats.org/drawingml/2006/main">
              <a:ext uri="{FF2B5EF4-FFF2-40B4-BE49-F238E27FC236}">
                <a16:creationId xmlns:a16="http://schemas.microsoft.com/office/drawing/2014/main" id="{2B9E286F-03DE-488D-B705-C31CD4FD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09850"/>
            <a:ext cx="50101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52642-052B-4D03-BAE6-8F6B821E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</a:defRPr>
            </a:pPr>
            <a:r>
              <a:rPr sz="900" b="1">
                <a:solidFill>
                  <a:srgbClr val="6DCBF4"/>
                </a:solidFill>
              </a:rPr>
              <a:t>ШАГ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4970E-EEF9-452F-B9A1-2E365A70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Презентация 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FB1BD-CFFA-4C08-8EE4-5DF9CF5A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9525"/>
            <a:ext cx="3762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</a:defRPr>
            </a:pPr>
            <a:r>
              <a:rPr sz="1275" b="0">
                <a:solidFill>
                  <a:srgbClr val="D7DEE9"/>
                </a:solidFill>
              </a:rPr>
              <a:t>Объясняем, что ORM — это сервис</a:t>
            </a:r>
          </a:p>
          <a:p xmlns:a="http://schemas.openxmlformats.org/drawingml/2006/main">
            <a:pPr algn="l">
              <a:defRPr sz="1275" b="0">
                <a:solidFill>
                  <a:srgbClr val="D7DEE9"/>
                </a:solidFill>
              </a:defRPr>
            </a:pPr>
            <a:r>
              <a:rPr sz="1275" b="0">
                <a:solidFill>
                  <a:srgbClr val="D7DEE9"/>
                </a:solidFill>
              </a:rPr>
              <a:t>управления репутацией с набором модулей.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E1E18-5340-470A-83FB-A9983792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053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Задача: дать понятную рамку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до перехода к конкретной проблеме.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1CAE67D8-CB28-44FD-9F6D-57DFB3F9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98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D8C6C-8CB2-4573-9DE2-70A78505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Не перегружайте деталями: на этом шаге клиенту достаточно понять предмет разговора.</a:t>
            </a:r>
          </a:p>
        </p:txBody>
      </p:sp>
    </p:spTree>
    <p:extLst>
      <p:ext uri="{BB962C8B-B14F-4D97-AF65-F5344CB8AC3E}">
        <p14:creationId xmlns:p14="http://schemas.microsoft.com/office/powerpoint/2010/main" val="4892566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622DCD-3964-4E96-92F2-1450229D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АЛГОРИТМ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640A7-C119-4AD2-AA9B-9C0F3D5F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08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CC77302-888D-4E73-A07A-D1848670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BCE31D-D9F6-46B4-B9F7-4E875C12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715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Шаг 3: верните клиента к его собственной проблеме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3E3777F-F8FB-4929-AC3A-864CCF94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Связка с ранее выявленной ситуацией делает предложение конкретным и помогает сохранить фокус клиента.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8868B-26B2-46E2-BFB3-A5AAC989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874"/>
                </a:solidFill>
              </a:defRPr>
            </a:pPr>
            <a:r>
              <a:rPr sz="975" b="1">
                <a:solidFill>
                  <a:srgbClr val="606874"/>
                </a:solidFill>
              </a:rPr>
              <a:t>СЛАБАЯ ПОДАЧА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F3F1F-B016-48CA-BB06-18CD8433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75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D12"/>
                </a:solidFill>
              </a:defRPr>
            </a:pPr>
            <a:r>
              <a:rPr sz="2025" b="1">
                <a:solidFill>
                  <a:srgbClr val="0A0D12"/>
                </a:solidFill>
              </a:rPr>
              <a:t>«У нас есть модуль</a:t>
            </a:r>
          </a:p>
          <a:p xmlns:a="http://schemas.openxmlformats.org/drawingml/2006/main">
            <a:pPr algn="l">
              <a:defRPr sz="2025" b="1">
                <a:solidFill>
                  <a:srgbClr val="0A0D12"/>
                </a:solidFill>
              </a:defRPr>
            </a:pPr>
            <a:r>
              <a:rPr sz="2025" b="1">
                <a:solidFill>
                  <a:srgbClr val="0A0D12"/>
                </a:solidFill>
              </a:rPr>
              <a:t>для обновления карточек»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375FA-39ED-4B57-8A04-F020D3CF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874"/>
                </a:solidFill>
              </a:defRPr>
            </a:pPr>
            <a:r>
              <a:rPr sz="1275" b="0">
                <a:solidFill>
                  <a:srgbClr val="606874"/>
                </a:solidFill>
              </a:rPr>
              <a:t>Звучит как общий рассказ о продукте.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EF734CAB-76F0-464E-9458-D1CC1675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19500"/>
            <a:ext cx="1962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0" name="strong-example">
            <a:extLst xmlns:a="http://schemas.openxmlformats.org/drawingml/2006/main">
              <a:ext uri="{FF2B5EF4-FFF2-40B4-BE49-F238E27FC236}">
                <a16:creationId xmlns:a16="http://schemas.microsoft.com/office/drawing/2014/main" id="{B433D3E5-0974-412E-9C44-E7684C97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47950"/>
            <a:ext cx="4572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3433D-ED88-4891-8CAA-B086AADB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33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СИЛЬНАЯ ПОДАЧА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EAA90-750F-4AA7-AFF0-AB2E6536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33750"/>
            <a:ext cx="3714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5"/>
                </a:solidFill>
              </a:defRPr>
            </a:pPr>
            <a:r>
              <a:rPr sz="1800" b="1">
                <a:solidFill>
                  <a:srgbClr val="182235"/>
                </a:solidFill>
              </a:rPr>
              <a:t>«Вы ранее отметили, что карточки</a:t>
            </a:r>
          </a:p>
          <a:p xmlns:a="http://schemas.openxmlformats.org/drawingml/2006/main">
            <a:pPr algn="l">
              <a:defRPr sz="1800" b="1">
                <a:solidFill>
                  <a:srgbClr val="182235"/>
                </a:solidFill>
              </a:defRPr>
            </a:pPr>
            <a:r>
              <a:rPr sz="1800" b="1">
                <a:solidFill>
                  <a:srgbClr val="182235"/>
                </a:solidFill>
              </a:rPr>
              <a:t>почти не обновляются. Именно</a:t>
            </a:r>
          </a:p>
          <a:p xmlns:a="http://schemas.openxmlformats.org/drawingml/2006/main">
            <a:pPr algn="l">
              <a:defRPr sz="1800" b="1">
                <a:solidFill>
                  <a:srgbClr val="182235"/>
                </a:solidFill>
              </a:defRPr>
            </a:pPr>
            <a:r>
              <a:rPr sz="1800" b="1">
                <a:solidFill>
                  <a:srgbClr val="182235"/>
                </a:solidFill>
              </a:rPr>
              <a:t>с этим можем вам помочь»</a:t>
            </a:r>
          </a:p>
        </p:txBody>
      </p:sp>
      <p:sp>
        <p:nvSpPr>
          <p:cNvPr id="13" name="problem-link">
            <a:extLst xmlns:a="http://schemas.openxmlformats.org/drawingml/2006/main">
              <a:ext uri="{FF2B5EF4-FFF2-40B4-BE49-F238E27FC236}">
                <a16:creationId xmlns:a16="http://schemas.microsoft.com/office/drawing/2014/main" id="{CC2DB588-FF9A-4417-BBD4-772816C6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1201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78DA2-9D4A-4287-9134-FFB4685F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387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Каждый продуктовый тезис должен возвращать клиента к его реальной задаче.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A4616794-5AAF-4498-96DC-4379555B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98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4DBCC-2824-4D93-A503-5A126DDD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Проблема, которую клиент признал сам, — самая сильная точка входа в презентацию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9481395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DACF5-B5A0-4554-B6CF-914F4345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АЛГОРИТМ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FA539-00A7-40A2-B671-868FABAF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09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522BD39-FB05-41E8-B61E-14AC7F9E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6E13FC-5D81-4ADE-9DE0-18A5F8E6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715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Шаг 4: презентуем модуль через его результат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51869D0-9E76-4521-996E-DDCDCC9D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Выберите конкретный модуль под выявленную проблему и объясните его по формуле ССВ.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A1CE4C55-1F87-4654-AD79-FBED337B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14750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7" name="value-chain">
            <a:extLst xmlns:a="http://schemas.openxmlformats.org/drawingml/2006/main">
              <a:ext uri="{FF2B5EF4-FFF2-40B4-BE49-F238E27FC236}">
                <a16:creationId xmlns:a16="http://schemas.microsoft.com/office/drawing/2014/main" id="{39DE1C5F-CA7A-4E92-A261-2E49FE25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29527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9A9DC-36D4-4259-9600-9CC02340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ПРОБЛЕМА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18E27-CB52-4E71-8D37-3A133AB0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</a:defRPr>
            </a:pPr>
            <a:r>
              <a:rPr sz="1725" b="1">
                <a:solidFill>
                  <a:srgbClr val="0A0D12"/>
                </a:solidFill>
              </a:rPr>
              <a:t>Карточки компании</a:t>
            </a:r>
          </a:p>
          <a:p xmlns:a="http://schemas.openxmlformats.org/drawingml/2006/main">
            <a:pPr algn="l">
              <a:defRPr sz="1725" b="1">
                <a:solidFill>
                  <a:srgbClr val="0A0D12"/>
                </a:solidFill>
              </a:defRPr>
            </a:pPr>
            <a:r>
              <a:rPr sz="1725" b="1">
                <a:solidFill>
                  <a:srgbClr val="0A0D12"/>
                </a:solidFill>
              </a:rPr>
              <a:t>не обновляются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1659EF07-CAEE-4E8F-A1D6-3DEADF7C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14750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1" name="value-chain">
            <a:extLst xmlns:a="http://schemas.openxmlformats.org/drawingml/2006/main">
              <a:ext uri="{FF2B5EF4-FFF2-40B4-BE49-F238E27FC236}">
                <a16:creationId xmlns:a16="http://schemas.microsoft.com/office/drawing/2014/main" id="{26B61A82-C4A3-4A58-AFF7-202A20AC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29527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F66C9-272F-41BA-9FB0-32598D26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99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МОДУЛЬ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E60F5-F9D1-41F4-AF46-C8B7B65E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147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</a:defRPr>
            </a:pPr>
            <a:r>
              <a:rPr sz="1725" b="1">
                <a:solidFill>
                  <a:srgbClr val="0A0D12"/>
                </a:solidFill>
              </a:rPr>
              <a:t>Обновляем</a:t>
            </a:r>
          </a:p>
          <a:p xmlns:a="http://schemas.openxmlformats.org/drawingml/2006/main">
            <a:pPr algn="l">
              <a:defRPr sz="1725" b="1">
                <a:solidFill>
                  <a:srgbClr val="0A0D12"/>
                </a:solidFill>
              </a:defRPr>
            </a:pPr>
            <a:r>
              <a:rPr sz="1725" b="1">
                <a:solidFill>
                  <a:srgbClr val="0A0D12"/>
                </a:solidFill>
              </a:rPr>
              <a:t>информацию в профиле</a:t>
            </a:r>
          </a:p>
        </p:txBody>
      </p:sp>
      <p:sp>
        <p:nvSpPr>
          <p:cNvPr id="14" name="value-chain">
            <a:extLst xmlns:a="http://schemas.openxmlformats.org/drawingml/2006/main">
              <a:ext uri="{FF2B5EF4-FFF2-40B4-BE49-F238E27FC236}">
                <a16:creationId xmlns:a16="http://schemas.microsoft.com/office/drawing/2014/main" id="{54778DB6-0287-402C-BF86-C0059547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29527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76CC8-EBB7-42FF-B5FE-03A4522A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099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</a:defRPr>
            </a:pPr>
            <a:r>
              <a:rPr sz="975" b="1">
                <a:solidFill>
                  <a:srgbClr val="6DCBF4"/>
                </a:solidFill>
              </a:rPr>
              <a:t>ВЫГОДА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D2FAC-37A3-48AD-95A1-D886495A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Клиента чаще находят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по ключевым запросам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FB825-4D4F-4505-BFC2-C1D05015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7210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Проверка: может ли клиент повторить, какую именно проблему решает модуль?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0D91B1DF-A88A-4442-B314-B3947FA4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98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12AFB-507A-4E2C-B274-E0327D7D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Менеджер не «показывает модуль» — он связывает функцию с ранее выявленной болью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720801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BCE7A8-722E-4350-B828-60A58B1C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АЛГОРИТМ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37BDC-9D64-4475-AC1C-EBE74579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10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4325BCB-0802-4CEE-947E-8430B833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D27904-9EE3-4217-9B72-6EA43C06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715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Стоимость — после создания ценности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18C46F0-A82F-43C7-AB15-2AEBCC3A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Стоимость звучит как цена решения задачи, когда клиент уже понял проблему, решение и выгоду.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C2F66961-02BC-4EE7-A80E-4371976E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7662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215E6-890C-4A7F-A233-83D38237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874"/>
                </a:solidFill>
              </a:defRPr>
            </a:pPr>
            <a:r>
              <a:rPr sz="975" b="1">
                <a:solidFill>
                  <a:srgbClr val="606874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D3B8D-883C-4FE5-9BFA-88AC5ED3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Проблема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20A43-E4E6-4BEF-9AE4-6CC07D80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клиент признаёт, что происходит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8F487158-8F39-44BB-A375-A66DF461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0B84D-B5F4-474F-984D-BAD7258E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718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874"/>
                </a:solidFill>
              </a:defRPr>
            </a:pPr>
            <a:r>
              <a:rPr sz="975" b="1">
                <a:solidFill>
                  <a:srgbClr val="606874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37F21-C74F-40D2-B748-C0F7E792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5280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Решение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19396-1C71-4843-A2D6-AAE27C53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6237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видит, как мы помогаем</a:t>
            </a:r>
          </a:p>
        </p:txBody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7649F963-1922-40D8-87BD-282F31F3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FB900-9F71-41B2-8465-02E44092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718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874"/>
                </a:solidFill>
              </a:defRPr>
            </a:pPr>
            <a:r>
              <a:rPr sz="975" b="1">
                <a:solidFill>
                  <a:srgbClr val="606874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E5CF4-7AFC-4060-8BF7-55F335E3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Выгода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266E6-3689-435A-A61D-0B3855A4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6237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понимает, что изменится</a:t>
            </a:r>
          </a:p>
        </p:txBody>
      </p:sp>
      <p:sp>
        <p:nvSpPr>
          <p:cNvPr id="18" name="arrow">
            <a:extLst xmlns:a="http://schemas.openxmlformats.org/drawingml/2006/main">
              <a:ext uri="{FF2B5EF4-FFF2-40B4-BE49-F238E27FC236}">
                <a16:creationId xmlns:a16="http://schemas.microsoft.com/office/drawing/2014/main" id="{1C4C2E08-2335-438F-9564-E45A5E7F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7662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CE74B-00BC-4667-8F5F-2760FF37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874"/>
                </a:solidFill>
              </a:defRPr>
            </a:pPr>
            <a:r>
              <a:rPr sz="975" b="1">
                <a:solidFill>
                  <a:srgbClr val="606874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4016F-1B00-484E-BE17-F0714826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Стоимость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D3FA9F-8FF6-4700-9341-437A7868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оценивает цену решения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5B734-D726-4C4A-9485-FBF547D7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718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F51E87-6BE9-4F75-8474-0D55D285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5280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Вопрос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2177DB-1E77-4FA2-B941-F4BEDCBC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6237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обсуждает следующий шаг</a:t>
            </a:r>
          </a:p>
        </p:txBody>
      </p:sp>
      <p:sp>
        <p:nvSpPr>
          <p:cNvPr id="25" name="cost-example">
            <a:extLst xmlns:a="http://schemas.openxmlformats.org/drawingml/2006/main">
              <a:ext uri="{FF2B5EF4-FFF2-40B4-BE49-F238E27FC236}">
                <a16:creationId xmlns:a16="http://schemas.microsoft.com/office/drawing/2014/main" id="{8503E7B0-2973-475F-9BEF-953C9E16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11201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BE364-1352-4D14-AF72-9EDDB7BF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235"/>
                </a:solidFill>
              </a:defRPr>
            </a:pPr>
            <a:r>
              <a:rPr sz="1425" b="1">
                <a:solidFill>
                  <a:srgbClr val="182235"/>
                </a:solidFill>
              </a:rPr>
              <a:t>Вовлекающий вопрос: «Подскажите, что скажете — готовы запуститься в работу?»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27745092-65CA-4CDA-8474-5A64A28E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98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3FA761-EBA5-4A81-A4E2-A386EFAB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Не прячьте стоимость и не оставляйте клиента без следующего шага — после цены нужен вопрос.</a:t>
            </a:r>
          </a:p>
        </p:txBody>
      </p:sp>
    </p:spTree>
    <p:extLst>
      <p:ext uri="{BB962C8B-B14F-4D97-AF65-F5344CB8AC3E}">
        <p14:creationId xmlns:p14="http://schemas.microsoft.com/office/powerpoint/2010/main" val="974321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89BAD-60A7-4EB4-9FEC-FB029429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ЗАВЕРШЕНИЕ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62B11-67E0-4DD5-9D50-D8358AF5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3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11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3F21168-D787-42C6-AA17-B3F46B92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EE36494F-2FCC-4DE2-9103-F8BD6973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6096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0A0D12"/>
                </a:solidFill>
              </a:defRPr>
            </a:pPr>
            <a:r>
              <a:rPr sz="3975" b="1">
                <a:solidFill>
                  <a:srgbClr val="0A0D12"/>
                </a:solidFill>
              </a:rPr>
              <a:t>Закрываем этап</a:t>
            </a:r>
          </a:p>
          <a:p xmlns:a="http://schemas.openxmlformats.org/drawingml/2006/main">
            <a:pPr algn="l">
              <a:defRPr sz="3975" b="1">
                <a:solidFill>
                  <a:srgbClr val="0A0D12"/>
                </a:solidFill>
              </a:defRPr>
            </a:pPr>
            <a:r>
              <a:rPr sz="3975" b="1">
                <a:solidFill>
                  <a:srgbClr val="0A0D12"/>
                </a:solidFill>
              </a:rPr>
              <a:t>проверкой результата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9E6ED-92F7-4DAC-B739-F011C1BD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874"/>
                </a:solidFill>
              </a:defRPr>
            </a:pPr>
            <a:r>
              <a:rPr sz="1500" b="0">
                <a:solidFill>
                  <a:srgbClr val="606874"/>
                </a:solidFill>
              </a:rPr>
              <a:t>После презентации важно понять: клиент согласен на следующий шаг или ему нужно помочь снять сопротивление.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53964-5DEA-4409-BE9E-AB0B6DE0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22048-A7DD-4F9B-BFAC-E6AF1F7A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«Надо подумать»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5DDC5-24A1-436C-BE62-1CD1031B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43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переходим к отработке возражения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2CE7E-9279-434A-A6D0-A242354C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39F0C-9F5D-4C9A-872B-51765582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«Выставляйте счёт»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B8E5A-DEDF-409A-8209-88E45F2E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577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фиксируем договорённость и действие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116F7-1443-4B0E-B5E2-F2AD40A7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3CD21-C40A-468C-83D9-AFB1A357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«Пришлите КП»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DFAD2-27C3-44DF-8920-65CC4EB5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72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обсуждаем точный срок и следующий контакт</a:t>
            </a:r>
          </a:p>
        </p:txBody>
      </p:sp>
      <p:sp>
        <p:nvSpPr>
          <p:cNvPr id="15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9C5B9E8E-2B9F-426E-839F-7C996729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66850"/>
            <a:ext cx="41338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9EBE7-0245-4FCD-8F9F-15874A09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288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ПРОВЕРЬТЕ</a:t>
            </a:r>
          </a:p>
          <a:p xmlns:a="http://schemas.openxmlformats.org/drawingml/2006/main"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ПОНИМАНИЕ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D764B-6D31-4DF6-9509-6411C743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14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1. Что такое презентация?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9EFFC-E3DF-43F0-8461-6BA019D6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71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2. Что будет, если пропустить шаг?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42652-A992-4398-99E2-B6D4C9FA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29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3. Что делать, если клиент не понял?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4CFD0-176F-4AB3-BA88-53462544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862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4. Как отличить согласие от ухода?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B806DE6B-BDAB-47EF-B63E-960AFFA7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982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5EF34C-845B-4A66-B280-CEE3C6B8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Резюме: возвращаемся к алгоритму, закрепляем формулу ССВ и договариваемся о следующем действии.</a:t>
            </a:r>
          </a:p>
        </p:txBody>
      </p:sp>
    </p:spTree>
    <p:extLst>
      <p:ext uri="{BB962C8B-B14F-4D97-AF65-F5344CB8AC3E}">
        <p14:creationId xmlns:p14="http://schemas.microsoft.com/office/powerpoint/2010/main" val="1258433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2026-09-03T09:58:34.2810000Z</dcterms:created>
  <dcterms:modified xsi:type="dcterms:W3CDTF">2026-09-03T09:58:34.2810000Z</dcterms:modified>
</coreProperties>
</file>