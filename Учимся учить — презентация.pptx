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b53138bc86447b" /><Relationship Type="http://schemas.openxmlformats.org/officeDocument/2006/relationships/extended-properties" Target="/docProps/app.xml" Id="R7ef0bbec5c8e4587" /><Relationship Type="http://schemas.openxmlformats.org/officeDocument/2006/relationships/officeDocument" Target="/ppt/presentation.xml" Id="Rf8949a7d7b7249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75c0849bd344ca"/>
  </p:sldMasterIdLst>
  <p:notesMasterIdLst>
    <p:notesMasterId xmlns:r="http://schemas.openxmlformats.org/officeDocument/2006/relationships" r:id="Ra3f0c6349a594d45"/>
  </p:notesMasterIdLst>
  <p:sldIdLst>
    <p:sldId xmlns:r="http://schemas.openxmlformats.org/officeDocument/2006/relationships" id="256" r:id="Redb3a3abb56b4332"/>
    <p:sldId xmlns:r="http://schemas.openxmlformats.org/officeDocument/2006/relationships" id="257" r:id="R8c487a777a4f4c8e"/>
    <p:sldId xmlns:r="http://schemas.openxmlformats.org/officeDocument/2006/relationships" id="258" r:id="R7916898d46bf4f94"/>
    <p:sldId xmlns:r="http://schemas.openxmlformats.org/officeDocument/2006/relationships" id="259" r:id="Rbedf673dd12a4c33"/>
    <p:sldId xmlns:r="http://schemas.openxmlformats.org/officeDocument/2006/relationships" id="260" r:id="R84a354f7548b4eae"/>
    <p:sldId xmlns:r="http://schemas.openxmlformats.org/officeDocument/2006/relationships" id="261" r:id="R4fe5474727e64f80"/>
    <p:sldId xmlns:r="http://schemas.openxmlformats.org/officeDocument/2006/relationships" id="262" r:id="Rff0641c64aba4389"/>
    <p:sldId xmlns:r="http://schemas.openxmlformats.org/officeDocument/2006/relationships" id="263" r:id="R6e67cac40b584bc6"/>
    <p:sldId xmlns:r="http://schemas.openxmlformats.org/officeDocument/2006/relationships" id="264" r:id="R6ee6320c06da4dc2"/>
    <p:sldId xmlns:r="http://schemas.openxmlformats.org/officeDocument/2006/relationships" id="265" r:id="R5b69f7872a6741ea"/>
    <p:sldId xmlns:r="http://schemas.openxmlformats.org/officeDocument/2006/relationships" id="266" r:id="Refe0cd717db6466d"/>
    <p:sldId xmlns:r="http://schemas.openxmlformats.org/officeDocument/2006/relationships" id="267" r:id="Rdfd0ab86de284e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78ccb9045a49c9" /><Relationship Type="http://schemas.openxmlformats.org/officeDocument/2006/relationships/slideMaster" Target="/ppt/slideMasters/slideMaster1.xml" Id="Rb775c0849bd344ca" /><Relationship Type="http://schemas.openxmlformats.org/officeDocument/2006/relationships/notesMaster" Target="/ppt/notesMasters/notesMaster1.xml" Id="Ra3f0c6349a594d45" /><Relationship Type="http://schemas.openxmlformats.org/officeDocument/2006/relationships/presProps" Target="/ppt/presProps.xml" Id="R36e2b10272f245f9" /><Relationship Type="http://schemas.openxmlformats.org/officeDocument/2006/relationships/tableStyles" Target="/ppt/tableStyles.xml" Id="R078d5a609b1246cc" /><Relationship Type="http://schemas.openxmlformats.org/officeDocument/2006/relationships/slide" Target="/ppt/slides/slide1.xml" Id="Redb3a3abb56b4332" /><Relationship Type="http://schemas.openxmlformats.org/officeDocument/2006/relationships/slide" Target="/ppt/slides/slide2.xml" Id="R8c487a777a4f4c8e" /><Relationship Type="http://schemas.openxmlformats.org/officeDocument/2006/relationships/slide" Target="/ppt/slides/slide3.xml" Id="R7916898d46bf4f94" /><Relationship Type="http://schemas.openxmlformats.org/officeDocument/2006/relationships/slide" Target="/ppt/slides/slide4.xml" Id="Rbedf673dd12a4c33" /><Relationship Type="http://schemas.openxmlformats.org/officeDocument/2006/relationships/slide" Target="/ppt/slides/slide5.xml" Id="R84a354f7548b4eae" /><Relationship Type="http://schemas.openxmlformats.org/officeDocument/2006/relationships/slide" Target="/ppt/slides/slide6.xml" Id="R4fe5474727e64f80" /><Relationship Type="http://schemas.openxmlformats.org/officeDocument/2006/relationships/slide" Target="/ppt/slides/slide7.xml" Id="Rff0641c64aba4389" /><Relationship Type="http://schemas.openxmlformats.org/officeDocument/2006/relationships/slide" Target="/ppt/slides/slide8.xml" Id="R6e67cac40b584bc6" /><Relationship Type="http://schemas.openxmlformats.org/officeDocument/2006/relationships/slide" Target="/ppt/slides/slide9.xml" Id="R6ee6320c06da4dc2" /><Relationship Type="http://schemas.openxmlformats.org/officeDocument/2006/relationships/slide" Target="/ppt/slides/slide10.xml" Id="R5b69f7872a6741ea" /><Relationship Type="http://schemas.openxmlformats.org/officeDocument/2006/relationships/slide" Target="/ppt/slides/slide11.xml" Id="Refe0cd717db6466d" /><Relationship Type="http://schemas.openxmlformats.org/officeDocument/2006/relationships/slide" Target="/ppt/slides/slide12.xml" Id="Rdfd0ab86de284e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4da04ef45848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6f152b037d429c" /><Relationship Type="http://schemas.openxmlformats.org/officeDocument/2006/relationships/notesMaster" Target="/ppt/notesMasters/notesMaster1.xml" Id="Rd670199cb76949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6f8c1e5fc749ce" /><Relationship Type="http://schemas.openxmlformats.org/officeDocument/2006/relationships/notesMaster" Target="/ppt/notesMasters/notesMaster1.xml" Id="R92e9a3b222a041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91912681954da6" /><Relationship Type="http://schemas.openxmlformats.org/officeDocument/2006/relationships/notesMaster" Target="/ppt/notesMasters/notesMaster1.xml" Id="Rbe98d1e6311949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4ca80d622a45b5" /><Relationship Type="http://schemas.openxmlformats.org/officeDocument/2006/relationships/notesMaster" Target="/ppt/notesMasters/notesMaster1.xml" Id="Re98058edbf6b46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335d0d84f64b7a" /><Relationship Type="http://schemas.openxmlformats.org/officeDocument/2006/relationships/notesMaster" Target="/ppt/notesMasters/notesMaster1.xml" Id="R8ea1eced6fda4e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adea54b1724adb" /><Relationship Type="http://schemas.openxmlformats.org/officeDocument/2006/relationships/notesMaster" Target="/ppt/notesMasters/notesMaster1.xml" Id="R6a1aef7e048b4c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96be9639774581" /><Relationship Type="http://schemas.openxmlformats.org/officeDocument/2006/relationships/notesMaster" Target="/ppt/notesMasters/notesMaster1.xml" Id="Rcafbb3c57f944e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a20c238bc34886" /><Relationship Type="http://schemas.openxmlformats.org/officeDocument/2006/relationships/notesMaster" Target="/ppt/notesMasters/notesMaster1.xml" Id="Rf376ef646be643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c807ec8d6b436a" /><Relationship Type="http://schemas.openxmlformats.org/officeDocument/2006/relationships/notesMaster" Target="/ppt/notesMasters/notesMaster1.xml" Id="R4419eebcd85f47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8a2a0e20cd49e8" /><Relationship Type="http://schemas.openxmlformats.org/officeDocument/2006/relationships/notesMaster" Target="/ppt/notesMasters/notesMaster1.xml" Id="R1750617d70a940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b7dd75c5b24afc" /><Relationship Type="http://schemas.openxmlformats.org/officeDocument/2006/relationships/notesMaster" Target="/ppt/notesMasters/notesMaster1.xml" Id="R9ba1d20457634f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955ebcac77446b" /><Relationship Type="http://schemas.openxmlformats.org/officeDocument/2006/relationships/notesMaster" Target="/ppt/notesMasters/notesMaster1.xml" Id="R65ccc63bbc9540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e80da450545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5174d9a09f4cea" /><Relationship Type="http://schemas.openxmlformats.org/officeDocument/2006/relationships/slideLayout" Target="/ppt/slideLayouts/slideLayout1.xml" Id="R6b49db4adca247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49db4adca247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a57adaeb442fa" /><Relationship Type="http://schemas.openxmlformats.org/officeDocument/2006/relationships/notesSlide" Target="/ppt/notesSlides/notesSlide1.xml" Id="R2ef6dd4eefda48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fd13c416c433f" /><Relationship Type="http://schemas.openxmlformats.org/officeDocument/2006/relationships/notesSlide" Target="/ppt/notesSlides/notesSlide2.xml" Id="R7e93f3b479eb4c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e821a201a48ac" /><Relationship Type="http://schemas.openxmlformats.org/officeDocument/2006/relationships/notesSlide" Target="/ppt/notesSlides/notesSlide3.xml" Id="Rc8c8be9e08fa41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f47d0f7f6441e" /><Relationship Type="http://schemas.openxmlformats.org/officeDocument/2006/relationships/notesSlide" Target="/ppt/notesSlides/notesSlide4.xml" Id="R3f3bd86458604f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ee267acae41ca" /><Relationship Type="http://schemas.openxmlformats.org/officeDocument/2006/relationships/notesSlide" Target="/ppt/notesSlides/notesSlide5.xml" Id="R6e1a8e56e70343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17b1a69594811" /><Relationship Type="http://schemas.openxmlformats.org/officeDocument/2006/relationships/notesSlide" Target="/ppt/notesSlides/notesSlide6.xml" Id="R4245bd61fbe048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feefa67194057" /><Relationship Type="http://schemas.openxmlformats.org/officeDocument/2006/relationships/notesSlide" Target="/ppt/notesSlides/notesSlide7.xml" Id="Rae8e3c08c4da45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2fc35b34e42c7" /><Relationship Type="http://schemas.openxmlformats.org/officeDocument/2006/relationships/notesSlide" Target="/ppt/notesSlides/notesSlide8.xml" Id="R0af6c80677bd45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cbade533e450c" /><Relationship Type="http://schemas.openxmlformats.org/officeDocument/2006/relationships/notesSlide" Target="/ppt/notesSlides/notesSlide9.xml" Id="Re183c88f885549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cb733f4e84f8b" /><Relationship Type="http://schemas.openxmlformats.org/officeDocument/2006/relationships/notesSlide" Target="/ppt/notesSlides/notesSlide10.xml" Id="R6159cc84c61642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0ed18482f490c" /><Relationship Type="http://schemas.openxmlformats.org/officeDocument/2006/relationships/notesSlide" Target="/ppt/notesSlides/notesSlide11.xml" Id="R4c18343850f547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be547539f480c" /><Relationship Type="http://schemas.openxmlformats.org/officeDocument/2006/relationships/notesSlide" Target="/ppt/notesSlides/notesSlide12.xml" Id="R98be0acc794346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0A341-A11F-4389-B608-48E90440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6874"/>
                </a:solidFill>
              </a:defRPr>
            </a:pPr>
            <a:r>
              <a:rPr sz="900" b="1">
                <a:solidFill>
                  <a:srgbClr val="606874"/>
                </a:solidFill>
              </a:rPr>
              <a:t>ОБУЧЕНИЕ И РАЗВИТИЕ ПЕРСОНАЛА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5227A744-FA34-4BC2-8BFA-96726827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0E332FE-F040-4E90-BF9D-2EC0A2BD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5619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A0D12"/>
                </a:solidFill>
              </a:defRPr>
            </a:pPr>
            <a:r>
              <a:rPr sz="5700" b="1">
                <a:solidFill>
                  <a:srgbClr val="0A0D12"/>
                </a:solidFill>
              </a:rPr>
              <a:t>Учимся</a:t>
            </a:r>
          </a:p>
          <a:p xmlns:a="http://schemas.openxmlformats.org/drawingml/2006/main">
            <a:pPr algn="l">
              <a:defRPr sz="5700" b="1">
                <a:solidFill>
                  <a:srgbClr val="0A0D12"/>
                </a:solidFill>
              </a:defRPr>
            </a:pPr>
            <a:r>
              <a:rPr sz="5700" b="1">
                <a:solidFill>
                  <a:srgbClr val="0A0D12"/>
                </a:solidFill>
              </a:rPr>
              <a:t>учить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40B2B0E-62B3-4001-A61B-DDD50539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235"/>
                </a:solidFill>
              </a:defRPr>
            </a:pPr>
            <a:r>
              <a:rPr sz="1875" b="0">
                <a:solidFill>
                  <a:srgbClr val="182235"/>
                </a:solidFill>
              </a:rPr>
              <a:t>Как проводить обучающие встречи,</a:t>
            </a:r>
          </a:p>
          <a:p xmlns:a="http://schemas.openxmlformats.org/drawingml/2006/main">
            <a:pPr algn="l">
              <a:defRPr sz="1875" b="0">
                <a:solidFill>
                  <a:srgbClr val="182235"/>
                </a:solidFill>
              </a:defRPr>
            </a:pPr>
            <a:r>
              <a:rPr sz="1875" b="0">
                <a:solidFill>
                  <a:srgbClr val="182235"/>
                </a:solidFill>
              </a:rPr>
              <a:t>которые меняют поведение сотрудника</a:t>
            </a:r>
          </a:p>
        </p:txBody>
      </p:sp>
      <p:sp>
        <p:nvSpPr>
          <p:cNvPr id="5" name="cover-panel">
            <a:extLst xmlns:a="http://schemas.openxmlformats.org/drawingml/2006/main">
              <a:ext uri="{FF2B5EF4-FFF2-40B4-BE49-F238E27FC236}">
                <a16:creationId xmlns:a16="http://schemas.microsoft.com/office/drawing/2014/main" id="{FE1376FA-DE35-494E-AA86-A80D5525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52575"/>
            <a:ext cx="36385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D971A-4D59-445C-A0B1-43DF133A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962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DCBF4"/>
                </a:solidFill>
              </a:defRPr>
            </a:pPr>
            <a:r>
              <a:rPr sz="1425" b="1">
                <a:solidFill>
                  <a:srgbClr val="6DCBF4"/>
                </a:solidFill>
              </a:rPr>
              <a:t>ЗНАНИЕ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D54F6-D7D8-48BF-BE1F-9D416DA2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288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747B3-B71A-4C7B-9432-0FBBDB71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УМЕНИЕ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0DD15-E84D-48C1-9846-52F084F4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622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60375-46F3-4C23-8E0A-32910909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DCBF4"/>
                </a:solidFill>
              </a:defRPr>
            </a:pPr>
            <a:r>
              <a:rPr sz="1425" b="1">
                <a:solidFill>
                  <a:srgbClr val="6DCBF4"/>
                </a:solidFill>
              </a:rPr>
              <a:t>НАВЫК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2334E-3BD2-4FCC-ABE9-BB7BA379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2 часть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B8D6F-99D9-4322-B720-262B2499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874"/>
                </a:solidFill>
              </a:defRPr>
            </a:pPr>
            <a:r>
              <a:rPr sz="975" b="0">
                <a:solidFill>
                  <a:srgbClr val="606874"/>
                </a:solidFill>
              </a:rPr>
              <a:t>Материал для руководителя / наставника</a:t>
            </a:r>
          </a:p>
        </p:txBody>
      </p:sp>
    </p:spTree>
    <p:extLst>
      <p:ext uri="{BB962C8B-B14F-4D97-AF65-F5344CB8AC3E}">
        <p14:creationId xmlns:p14="http://schemas.microsoft.com/office/powerpoint/2010/main" val="10110376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">
            <a:extLst xmlns:a="http://schemas.openxmlformats.org/drawingml/2006/main">
              <a:ext uri="{FF2B5EF4-FFF2-40B4-BE49-F238E27FC236}">
                <a16:creationId xmlns:a16="http://schemas.microsoft.com/office/drawing/2014/main" id="{FCE243B7-A6E5-43C7-B74C-7E713021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ПОДГОТОВКА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A38EDBE-B888-4815-BC2D-45815F43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02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9FA1B2E-20F0-4DEE-A1E7-DB4625DB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E0B90D-71EB-4DC9-9A2F-E6AC0EF8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Обучение начинается с наблюдаемого дефицита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420EBF3-F728-494A-99ED-710D8959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49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Сначала определяем, что именно в работе сотрудника требует развития.</a:t>
            </a:r>
          </a:p>
        </p:txBody>
      </p:sp>
      <p:sp>
        <p:nvSpPr>
          <p:cNvPr id="6" name="arrow">
            <a:extLst xmlns:a="http://schemas.openxmlformats.org/drawingml/2006/main">
              <a:ext uri="{FF2B5EF4-FFF2-40B4-BE49-F238E27FC236}">
                <a16:creationId xmlns:a16="http://schemas.microsoft.com/office/drawing/2014/main" id="{B8156346-4656-467E-BCC1-4D38E6DF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67125"/>
            <a:ext cx="571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7" name="process-node">
            <a:extLst xmlns:a="http://schemas.openxmlformats.org/drawingml/2006/main">
              <a:ext uri="{FF2B5EF4-FFF2-40B4-BE49-F238E27FC236}">
                <a16:creationId xmlns:a16="http://schemas.microsoft.com/office/drawing/2014/main" id="{FD0466EE-2C8C-4635-BD3F-3F0EA287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42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505D6-6B59-4D63-908C-B282FE5C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5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89DEA-B6BA-4DE7-9B97-B490111C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Проверить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ABB14-1420-4D84-938E-31C0EB5B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226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874"/>
                </a:solidFill>
              </a:defRPr>
            </a:pPr>
            <a:r>
              <a:rPr sz="1200" b="0">
                <a:solidFill>
                  <a:srgbClr val="606874"/>
                </a:solidFill>
              </a:rPr>
              <a:t>наблюдение по чек-листу</a:t>
            </a:r>
          </a:p>
        </p:txBody>
      </p:sp>
      <p:sp>
        <p:nvSpPr>
          <p:cNvPr id="11" name="arrow">
            <a:extLst xmlns:a="http://schemas.openxmlformats.org/drawingml/2006/main">
              <a:ext uri="{FF2B5EF4-FFF2-40B4-BE49-F238E27FC236}">
                <a16:creationId xmlns:a16="http://schemas.microsoft.com/office/drawing/2014/main" id="{45AF21AC-298A-4CD4-8E7E-72AA272B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67125"/>
            <a:ext cx="571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2" name="process-node">
            <a:extLst xmlns:a="http://schemas.openxmlformats.org/drawingml/2006/main">
              <a:ext uri="{FF2B5EF4-FFF2-40B4-BE49-F238E27FC236}">
                <a16:creationId xmlns:a16="http://schemas.microsoft.com/office/drawing/2014/main" id="{2F8F4ACC-66A0-43D5-A276-84CDC500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242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06609-40B1-4819-A818-271B00B9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05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4338E-EC98-450C-B9B4-B335F57D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57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Выбрать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884DF1-551C-4F77-A962-6E58028C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19600"/>
            <a:ext cx="226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874"/>
                </a:solidFill>
              </a:defRPr>
            </a:pPr>
            <a:r>
              <a:rPr sz="1200" b="0">
                <a:solidFill>
                  <a:srgbClr val="606874"/>
                </a:solidFill>
              </a:rPr>
              <a:t>один дефицитный тематический блок</a:t>
            </a:r>
          </a:p>
        </p:txBody>
      </p:sp>
      <p:sp>
        <p:nvSpPr>
          <p:cNvPr id="16" name="arrow">
            <a:extLst xmlns:a="http://schemas.openxmlformats.org/drawingml/2006/main">
              <a:ext uri="{FF2B5EF4-FFF2-40B4-BE49-F238E27FC236}">
                <a16:creationId xmlns:a16="http://schemas.microsoft.com/office/drawing/2014/main" id="{3CB3F608-7E5C-4ABE-86C7-BBFE9411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67125"/>
            <a:ext cx="571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7" name="process-node">
            <a:extLst xmlns:a="http://schemas.openxmlformats.org/drawingml/2006/main">
              <a:ext uri="{FF2B5EF4-FFF2-40B4-BE49-F238E27FC236}">
                <a16:creationId xmlns:a16="http://schemas.microsoft.com/office/drawing/2014/main" id="{A76CC3E6-1AF6-4635-AC35-8C32E519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242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0BA598-C064-464C-A044-3FDCB9AB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05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0CF01-E680-47FD-8D28-5E60DC44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Сформулировать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A35EB-4E55-4168-A610-23A7CF60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9600"/>
            <a:ext cx="226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874"/>
                </a:solidFill>
              </a:defRPr>
            </a:pPr>
            <a:r>
              <a:rPr sz="1200" b="0">
                <a:solidFill>
                  <a:srgbClr val="606874"/>
                </a:solidFill>
              </a:rPr>
              <a:t>учебную цель и критерии</a:t>
            </a:r>
          </a:p>
        </p:txBody>
      </p:sp>
      <p:sp>
        <p:nvSpPr>
          <p:cNvPr id="21" name="process-node">
            <a:extLst xmlns:a="http://schemas.openxmlformats.org/drawingml/2006/main">
              <a:ext uri="{FF2B5EF4-FFF2-40B4-BE49-F238E27FC236}">
                <a16:creationId xmlns:a16="http://schemas.microsoft.com/office/drawing/2014/main" id="{C2D3AD9E-AF7A-4125-9293-9ADF728E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242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BE9FB-C890-4CD7-97F1-B1A472BF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05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1B5CD3-8B2F-499A-B62A-022D26D8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57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Проверить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9E362-D003-4F61-B874-DA72E98A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19600"/>
            <a:ext cx="226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874"/>
                </a:solidFill>
              </a:defRPr>
            </a:pPr>
            <a:r>
              <a:rPr sz="1200" b="0">
                <a:solidFill>
                  <a:srgbClr val="606874"/>
                </a:solidFill>
              </a:rPr>
              <a:t>изменение в реальной работе</a:t>
            </a:r>
          </a:p>
        </p:txBody>
      </p:sp>
      <p:sp>
        <p:nvSpPr>
          <p:cNvPr id="25" name="key-message">
            <a:extLst xmlns:a="http://schemas.openxmlformats.org/drawingml/2006/main">
              <a:ext uri="{FF2B5EF4-FFF2-40B4-BE49-F238E27FC236}">
                <a16:creationId xmlns:a16="http://schemas.microsoft.com/office/drawing/2014/main" id="{3227F14C-D1B5-4ED8-A514-EA842638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11277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0F6DF6-BE20-4BAA-BDD9-BB26FD2C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35"/>
                </a:solidFill>
              </a:defRPr>
            </a:pPr>
            <a:r>
              <a:rPr sz="1500" b="1">
                <a:solidFill>
                  <a:srgbClr val="182235"/>
                </a:solidFill>
              </a:rPr>
              <a:t>Фокус встречи — не «рассказать всё», а убрать один конкретный дефицит в поведении.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5A238940-BAC0-4F6E-865F-9C338A65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C875E9-EBB2-46BB-BEC7-F3C01A5F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Выбор темы → учебная цель → работа по алгоритму → проверка результата</a:t>
            </a:r>
          </a:p>
        </p:txBody>
      </p:sp>
    </p:spTree>
    <p:extLst>
      <p:ext uri="{BB962C8B-B14F-4D97-AF65-F5344CB8AC3E}">
        <p14:creationId xmlns:p14="http://schemas.microsoft.com/office/powerpoint/2010/main" val="383114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">
            <a:extLst xmlns:a="http://schemas.openxmlformats.org/drawingml/2006/main">
              <a:ext uri="{FF2B5EF4-FFF2-40B4-BE49-F238E27FC236}">
                <a16:creationId xmlns:a16="http://schemas.microsoft.com/office/drawing/2014/main" id="{FB2B6405-4FBE-4E42-8722-9F493F7C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ПОДГОТОВКА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94620E-C136-4534-A504-ECF671CE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03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E097415-FFB2-4DD6-B2D6-9E338D91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670F3F-C30C-4B96-8662-64B74F1C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От чек-листа к теме встречи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E950243-1BFF-47F9-BFAD-CB82688C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49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Работайте последовательно: один тематический блок за одну обучающую встречу.</a:t>
            </a:r>
          </a:p>
        </p:txBody>
      </p:sp>
      <p:sp>
        <p:nvSpPr>
          <p:cNvPr id="6" name="knowledge-panel">
            <a:extLst xmlns:a="http://schemas.openxmlformats.org/drawingml/2006/main">
              <a:ext uri="{FF2B5EF4-FFF2-40B4-BE49-F238E27FC236}">
                <a16:creationId xmlns:a16="http://schemas.microsoft.com/office/drawing/2014/main" id="{D67D4F2F-20A9-4B91-B3F2-4B8AFD1F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51054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badge">
            <a:extLst xmlns:a="http://schemas.openxmlformats.org/drawingml/2006/main">
              <a:ext uri="{FF2B5EF4-FFF2-40B4-BE49-F238E27FC236}">
                <a16:creationId xmlns:a16="http://schemas.microsoft.com/office/drawing/2014/main" id="{2B99554B-22D7-4FB8-A142-CFB15660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BACB8-8746-4ADF-8F7B-0E013BED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ДИАГНОСТИКА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B1379-36D4-47F9-8157-6A9D8688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D12"/>
                </a:solidFill>
              </a:defRPr>
            </a:pPr>
            <a:r>
              <a:rPr sz="2100" b="1">
                <a:solidFill>
                  <a:srgbClr val="0A0D12"/>
                </a:solidFill>
              </a:rPr>
              <a:t>Знания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D51BE-77C6-4E78-91FD-1B1887E1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Проверяем тестом или опросником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A527F8F3-C643-47EA-8B27-435DE775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F0ADB-D52D-41C2-80E8-EC7EF8D5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5"/>
                </a:solidFill>
              </a:defRPr>
            </a:pPr>
            <a:r>
              <a:rPr sz="1350" b="0">
                <a:solidFill>
                  <a:srgbClr val="182235"/>
                </a:solidFill>
              </a:rPr>
              <a:t>Вопрос: сотрудник понимает</a:t>
            </a:r>
          </a:p>
          <a:p xmlns:a="http://schemas.openxmlformats.org/drawingml/2006/main">
            <a:pPr algn="l">
              <a:defRPr sz="1350" b="0">
                <a:solidFill>
                  <a:srgbClr val="182235"/>
                </a:solidFill>
              </a:defRPr>
            </a:pPr>
            <a:r>
              <a:rPr sz="1350" b="0">
                <a:solidFill>
                  <a:srgbClr val="182235"/>
                </a:solidFill>
              </a:rPr>
              <a:t>алгоритм и логику действий?</a:t>
            </a:r>
          </a:p>
        </p:txBody>
      </p:sp>
      <p:sp>
        <p:nvSpPr>
          <p:cNvPr id="13" name="skill-panel">
            <a:extLst xmlns:a="http://schemas.openxmlformats.org/drawingml/2006/main">
              <a:ext uri="{FF2B5EF4-FFF2-40B4-BE49-F238E27FC236}">
                <a16:creationId xmlns:a16="http://schemas.microsoft.com/office/drawing/2014/main" id="{AC346253-FD04-4B23-9607-13F0BD7A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38400"/>
            <a:ext cx="56388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14" name="badge">
            <a:extLst xmlns:a="http://schemas.openxmlformats.org/drawingml/2006/main">
              <a:ext uri="{FF2B5EF4-FFF2-40B4-BE49-F238E27FC236}">
                <a16:creationId xmlns:a16="http://schemas.microsoft.com/office/drawing/2014/main" id="{E9643B86-70DE-4B8C-80A2-3C231FFE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95288-A0A2-430C-A8A2-C0B2638E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336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ДИАГНОСТИКА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B57EEF-D3A4-4EE1-8A43-AE97CA64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908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Умения и навыки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C4539-89F6-4526-8155-C957B4F6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9"/>
                </a:solidFill>
              </a:defRPr>
            </a:pPr>
            <a:r>
              <a:rPr sz="1350" b="0">
                <a:solidFill>
                  <a:srgbClr val="D7DEE9"/>
                </a:solidFill>
              </a:rPr>
              <a:t>Проверяем по чек-листу поведения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C13A7F58-D465-43EE-81AC-66E63CB4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338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0FB82-5BD1-4C2D-8D31-BBE53EF6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Берём в работу пункты с оценкой 0 —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и только один блок за встречу.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473E85E4-6905-46D1-921D-0F5FA191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629DD-B421-4D28-85E9-A4D98B83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Чем точнее диагностика, тем конкретнее тема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20747823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">
            <a:extLst xmlns:a="http://schemas.openxmlformats.org/drawingml/2006/main">
              <a:ext uri="{FF2B5EF4-FFF2-40B4-BE49-F238E27FC236}">
                <a16:creationId xmlns:a16="http://schemas.microsoft.com/office/drawing/2014/main" id="{ED07F12E-DCE3-427F-92E6-A6C67956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ПОДГОТОВКА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E76F9C0-B267-41A3-9AB9-1A5600A8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04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775969A-D958-43D9-8319-3DB14E1F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0AB5BD-A80C-44B4-A2D7-8526B762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Учебная цель — это измеримый результат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3B619CF-8A19-4574-9905-7A0CA0C3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49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Она описывает, что сотрудник будет знать и делать после встречи — и как вы это проверите.</a:t>
            </a:r>
          </a:p>
        </p:txBody>
      </p:sp>
      <p:sp>
        <p:nvSpPr>
          <p:cNvPr id="6" name="goal-card">
            <a:extLst xmlns:a="http://schemas.openxmlformats.org/drawingml/2006/main">
              <a:ext uri="{FF2B5EF4-FFF2-40B4-BE49-F238E27FC236}">
                <a16:creationId xmlns:a16="http://schemas.microsoft.com/office/drawing/2014/main" id="{F853D31B-EECF-4FB3-AAEF-2AFA415A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68361-CFE7-4185-94AC-BEC40F57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</a:defRPr>
            </a:pPr>
            <a:r>
              <a:rPr sz="1875" b="1">
                <a:solidFill>
                  <a:srgbClr val="0A0D12"/>
                </a:solidFill>
              </a:rPr>
              <a:t>Знает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64555-2545-4B11-9841-F1536C57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874"/>
                </a:solidFill>
              </a:defRPr>
            </a:pPr>
            <a:r>
              <a:rPr sz="1275" b="0">
                <a:solidFill>
                  <a:srgbClr val="606874"/>
                </a:solidFill>
              </a:rPr>
              <a:t>какой алгоритм использовать и почему</a:t>
            </a:r>
          </a:p>
        </p:txBody>
      </p:sp>
      <p:sp>
        <p:nvSpPr>
          <p:cNvPr id="9" name="goal-card">
            <a:extLst xmlns:a="http://schemas.openxmlformats.org/drawingml/2006/main">
              <a:ext uri="{FF2B5EF4-FFF2-40B4-BE49-F238E27FC236}">
                <a16:creationId xmlns:a16="http://schemas.microsoft.com/office/drawing/2014/main" id="{7C86CFE9-EE11-4003-B0B4-F7646ED7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670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FB5C6-CC9C-47D3-842E-D3E06F57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</a:defRPr>
            </a:pPr>
            <a:r>
              <a:rPr sz="1875" b="1">
                <a:solidFill>
                  <a:srgbClr val="0A0D12"/>
                </a:solidFill>
              </a:rPr>
              <a:t>Умеет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549CB-72B1-4446-A817-74CC1D13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874"/>
                </a:solidFill>
              </a:defRPr>
            </a:pPr>
            <a:r>
              <a:rPr sz="1275" b="0">
                <a:solidFill>
                  <a:srgbClr val="606874"/>
                </a:solidFill>
              </a:rPr>
              <a:t>выполнить конкретное действие по алгоритму</a:t>
            </a:r>
          </a:p>
        </p:txBody>
      </p:sp>
      <p:sp>
        <p:nvSpPr>
          <p:cNvPr id="12" name="goal-card">
            <a:extLst xmlns:a="http://schemas.openxmlformats.org/drawingml/2006/main">
              <a:ext uri="{FF2B5EF4-FFF2-40B4-BE49-F238E27FC236}">
                <a16:creationId xmlns:a16="http://schemas.microsoft.com/office/drawing/2014/main" id="{71D6A69F-87BD-403D-ABE7-90CD4082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6700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A5F24-CE5A-4D66-9694-E6F298C8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Подтверждает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BD495-B053-429C-9BEB-E1619A62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480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9"/>
                </a:solidFill>
              </a:defRPr>
            </a:pPr>
            <a:r>
              <a:rPr sz="1275" b="0">
                <a:solidFill>
                  <a:srgbClr val="D7DEE9"/>
                </a:solidFill>
              </a:rPr>
              <a:t>результат по заранее заданным критериям</a:t>
            </a:r>
          </a:p>
        </p:txBody>
      </p:sp>
      <p:sp>
        <p:nvSpPr>
          <p:cNvPr id="15" name="example">
            <a:extLst xmlns:a="http://schemas.openxmlformats.org/drawingml/2006/main">
              <a:ext uri="{FF2B5EF4-FFF2-40B4-BE49-F238E27FC236}">
                <a16:creationId xmlns:a16="http://schemas.microsoft.com/office/drawing/2014/main" id="{F983D2BA-2EB6-4FD6-8E8D-770A67FB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12776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8D61E-3F48-4753-A2EC-EA057549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15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Пример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76939-506A-4E57-8985-60956EFA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244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D12"/>
                </a:solidFill>
              </a:defRPr>
            </a:pPr>
            <a:r>
              <a:rPr sz="1575" b="1">
                <a:solidFill>
                  <a:srgbClr val="0A0D12"/>
                </a:solidFill>
              </a:rPr>
              <a:t>Сотрудник знает алгоритм установления контакта с ЛПР и применяет его при холодном звонке.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9507E-DC4F-4198-AD17-C5196E44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435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874"/>
                </a:solidFill>
              </a:defRPr>
            </a:pPr>
            <a:r>
              <a:rPr sz="1125" b="0">
                <a:solidFill>
                  <a:srgbClr val="606874"/>
                </a:solidFill>
              </a:rPr>
              <a:t>Критерий: воспроизводит действия по чек-листу в рабочей ситуации.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916D6736-D56C-4991-802E-01D4DFBF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F8380F-C6C6-4EB1-9DAF-8333E4F9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Формула: действие сотрудника + условия применения + критерий результата.</a:t>
            </a:r>
          </a:p>
        </p:txBody>
      </p:sp>
    </p:spTree>
    <p:extLst>
      <p:ext uri="{BB962C8B-B14F-4D97-AF65-F5344CB8AC3E}">
        <p14:creationId xmlns:p14="http://schemas.microsoft.com/office/powerpoint/2010/main" val="3115947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ection">
            <a:extLst xmlns:a="http://schemas.openxmlformats.org/drawingml/2006/main">
              <a:ext uri="{FF2B5EF4-FFF2-40B4-BE49-F238E27FC236}">
                <a16:creationId xmlns:a16="http://schemas.microsoft.com/office/drawing/2014/main" id="{9C7C910F-F6B6-4695-9202-5568FF9C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ОБУЧАЮЩАЯ ВСТРЕЧА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44317DB-CFC2-4632-BBE3-8C9B90FF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05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9BB26BB-5197-4C0D-ADEB-169FC4BA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E18112-E2DA-4FA6-8526-5970F2F5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Вводная часть: включить сотрудника в обучение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0DA0B1D-2876-4B6F-A70D-872D27EC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49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Её задача — снять неопределённость, показать значимость и договориться о совместной работе.</a:t>
            </a:r>
          </a:p>
        </p:txBody>
      </p:sp>
      <p:sp>
        <p:nvSpPr>
          <p:cNvPr id="6" name="intro-number">
            <a:extLst xmlns:a="http://schemas.openxmlformats.org/drawingml/2006/main">
              <a:ext uri="{FF2B5EF4-FFF2-40B4-BE49-F238E27FC236}">
                <a16:creationId xmlns:a16="http://schemas.microsoft.com/office/drawing/2014/main" id="{513EDBFE-CCAA-4A0C-9CA0-10B03D8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860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32F49-E744-41A9-A972-3ECD2BB2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1BADE-D1BE-47A6-9EFA-D8D4FF43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D12"/>
                </a:solidFill>
              </a:defRPr>
            </a:pPr>
            <a:r>
              <a:rPr sz="1500" b="1">
                <a:solidFill>
                  <a:srgbClr val="0A0D12"/>
                </a:solidFill>
              </a:rPr>
              <a:t>Зачем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FEE56-3A15-4948-BCAA-289555BD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669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почему это важно в работе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4605A2BD-2C8F-4333-BF13-4CD53A3C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893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tro-number">
            <a:extLst xmlns:a="http://schemas.openxmlformats.org/drawingml/2006/main">
              <a:ext uri="{FF2B5EF4-FFF2-40B4-BE49-F238E27FC236}">
                <a16:creationId xmlns:a16="http://schemas.microsoft.com/office/drawing/2014/main" id="{1C498861-6D0F-4602-8BE4-9ED31C76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4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8980E-B18E-44BF-BAA9-B0AD73E1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0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E189B-619F-469C-A5B4-E706B579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D12"/>
                </a:solidFill>
              </a:defRPr>
            </a:pPr>
            <a:r>
              <a:rPr sz="1500" b="1">
                <a:solidFill>
                  <a:srgbClr val="0A0D12"/>
                </a:solidFill>
              </a:rPr>
              <a:t>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4AA00-36F6-4D35-88BD-A36A5C26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956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какой результат ожидаем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28B87FA3-8BFB-435B-836F-050205AA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893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ntro-number">
            <a:extLst xmlns:a="http://schemas.openxmlformats.org/drawingml/2006/main">
              <a:ext uri="{FF2B5EF4-FFF2-40B4-BE49-F238E27FC236}">
                <a16:creationId xmlns:a16="http://schemas.microsoft.com/office/drawing/2014/main" id="{0F1218D4-05BE-41E8-A6E6-D0749E56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3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E551A-EA74-4C19-BCBF-C60A24C6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C4C5D6-2786-4748-A610-4939BE09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D12"/>
                </a:solidFill>
              </a:defRPr>
            </a:pPr>
            <a:r>
              <a:rPr sz="1500" b="1">
                <a:solidFill>
                  <a:srgbClr val="0A0D12"/>
                </a:solidFill>
              </a:rPr>
              <a:t>Польза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4088A-E919-4962-B675-7FF53A75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242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что получит сам сотрудник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8B653D4C-BB48-479D-BB19-9E84400A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893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intro-number">
            <a:extLst xmlns:a="http://schemas.openxmlformats.org/drawingml/2006/main">
              <a:ext uri="{FF2B5EF4-FFF2-40B4-BE49-F238E27FC236}">
                <a16:creationId xmlns:a16="http://schemas.microsoft.com/office/drawing/2014/main" id="{C8EFAAA2-852B-4127-A513-690FA8A8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71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2C618C-CCDF-46DE-A03E-A0747451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15B71E-DBCE-45FB-B4A2-F8CE469F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D12"/>
                </a:solidFill>
              </a:defRPr>
            </a:pPr>
            <a:r>
              <a:rPr sz="1500" b="1">
                <a:solidFill>
                  <a:srgbClr val="0A0D12"/>
                </a:solidFill>
              </a:rPr>
              <a:t>Маршрут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DBFE90-0AAE-4A8B-A25C-527C2B6A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529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как пройдёт встреча</a:t>
            </a: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4318872E-E8F0-467E-8A13-B20BBDB4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38700"/>
            <a:ext cx="893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ntro-number">
            <a:extLst xmlns:a="http://schemas.openxmlformats.org/drawingml/2006/main">
              <a:ext uri="{FF2B5EF4-FFF2-40B4-BE49-F238E27FC236}">
                <a16:creationId xmlns:a16="http://schemas.microsoft.com/office/drawing/2014/main" id="{5E3DB942-96DC-483F-9AD9-E86A622B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185791-BD52-48A6-9090-2453BA6B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6C40E-0654-429F-AE20-4086CCA5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D12"/>
                </a:solidFill>
              </a:defRPr>
            </a:pPr>
            <a:r>
              <a:rPr sz="1500" b="1">
                <a:solidFill>
                  <a:srgbClr val="0A0D12"/>
                </a:solidFill>
              </a:rPr>
              <a:t>Участие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3E33AE-0B58-45A0-ACE4-EA7865BC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815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каких действий ждём от сотрудника</a:t>
            </a:r>
          </a:p>
        </p:txBody>
      </p:sp>
      <p:sp>
        <p:nvSpPr>
          <p:cNvPr id="30" name="opening-script">
            <a:extLst xmlns:a="http://schemas.openxmlformats.org/drawingml/2006/main">
              <a:ext uri="{FF2B5EF4-FFF2-40B4-BE49-F238E27FC236}">
                <a16:creationId xmlns:a16="http://schemas.microsoft.com/office/drawing/2014/main" id="{80365C1F-F78E-439D-84C6-183AC41B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28875"/>
            <a:ext cx="29527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56030D-EBCA-4E38-B988-4A47DF96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241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СТАРТОВАЯ</a:t>
            </a:r>
          </a:p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ФРАЗА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7180ED-8F51-4A0E-81B4-94BAD16A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09950"/>
            <a:ext cx="238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235"/>
                </a:solidFill>
              </a:defRPr>
            </a:pPr>
            <a:r>
              <a:rPr sz="1575" b="1">
                <a:solidFill>
                  <a:srgbClr val="182235"/>
                </a:solidFill>
              </a:rPr>
              <a:t>«Сегодня разберём…,</a:t>
            </a:r>
          </a:p>
          <a:p xmlns:a="http://schemas.openxmlformats.org/drawingml/2006/main">
            <a:pPr algn="l">
              <a:defRPr sz="1575" b="1">
                <a:solidFill>
                  <a:srgbClr val="182235"/>
                </a:solidFill>
              </a:defRPr>
            </a:pPr>
            <a:r>
              <a:rPr sz="1575" b="1">
                <a:solidFill>
                  <a:srgbClr val="182235"/>
                </a:solidFill>
              </a:rPr>
              <a:t>потренируемся и</a:t>
            </a:r>
          </a:p>
          <a:p xmlns:a="http://schemas.openxmlformats.org/drawingml/2006/main">
            <a:pPr algn="l">
              <a:defRPr sz="1575" b="1">
                <a:solidFill>
                  <a:srgbClr val="182235"/>
                </a:solidFill>
              </a:defRPr>
            </a:pPr>
            <a:r>
              <a:rPr sz="1575" b="1">
                <a:solidFill>
                  <a:srgbClr val="182235"/>
                </a:solidFill>
              </a:rPr>
              <a:t>зафиксируем, как</a:t>
            </a:r>
          </a:p>
          <a:p xmlns:a="http://schemas.openxmlformats.org/drawingml/2006/main">
            <a:pPr algn="l">
              <a:defRPr sz="1575" b="1">
                <a:solidFill>
                  <a:srgbClr val="182235"/>
                </a:solidFill>
              </a:defRPr>
            </a:pPr>
            <a:r>
              <a:rPr sz="1575" b="1">
                <a:solidFill>
                  <a:srgbClr val="182235"/>
                </a:solidFill>
              </a:rPr>
              <a:t>применить это в работе»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CA905E61-C885-4556-8A70-D0C7F5DD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8E69A5-432F-424D-AA98-694686C0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Сильное начало создаёт ответственность за результат, а не ощущение «очередной лекции».</a:t>
            </a:r>
          </a:p>
        </p:txBody>
      </p:sp>
    </p:spTree>
    <p:extLst>
      <p:ext uri="{BB962C8B-B14F-4D97-AF65-F5344CB8AC3E}">
        <p14:creationId xmlns:p14="http://schemas.microsoft.com/office/powerpoint/2010/main" val="9818461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">
            <a:extLst xmlns:a="http://schemas.openxmlformats.org/drawingml/2006/main">
              <a:ext uri="{FF2B5EF4-FFF2-40B4-BE49-F238E27FC236}">
                <a16:creationId xmlns:a16="http://schemas.microsoft.com/office/drawing/2014/main" id="{7B3D2196-20CA-492D-B001-D4656FFB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ОБУЧАЮЩАЯ ВСТРЕЧА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6D194D8-A5A3-46B9-A06C-A879F67A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06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68F4710-EC07-4766-9D0E-127F7F84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F313D3-34D2-4AAB-B73C-EDCB6EAE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Алгоритм обучения: от знания к навыку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8E9D833-BD16-485A-B680-520CD57C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49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Не перескакивайте через этапы: сотруднику нужно сначала понять, увидеть, попробовать с опорой — и только потом делать самостоятельно.</a:t>
            </a:r>
          </a:p>
        </p:txBody>
      </p:sp>
      <p:sp>
        <p:nvSpPr>
          <p:cNvPr id="6" name="arrow">
            <a:extLst xmlns:a="http://schemas.openxmlformats.org/drawingml/2006/main">
              <a:ext uri="{FF2B5EF4-FFF2-40B4-BE49-F238E27FC236}">
                <a16:creationId xmlns:a16="http://schemas.microsoft.com/office/drawing/2014/main" id="{D526CAC4-256E-447D-9E3F-E57426CA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194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7" name="learning-stage">
            <a:extLst xmlns:a="http://schemas.openxmlformats.org/drawingml/2006/main">
              <a:ext uri="{FF2B5EF4-FFF2-40B4-BE49-F238E27FC236}">
                <a16:creationId xmlns:a16="http://schemas.microsoft.com/office/drawing/2014/main" id="{34E24F69-A680-4B7F-A212-DDCE5D4A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2381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205E7-54E2-4D21-8A5D-66F36E9C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813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6C6D9-6DDB-4707-AFDD-D674BB37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528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</a:defRPr>
            </a:pPr>
            <a:r>
              <a:rPr sz="1875" b="1">
                <a:solidFill>
                  <a:srgbClr val="0A0D12"/>
                </a:solidFill>
              </a:rPr>
              <a:t>Расскажу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C1559-808B-4C15-9E89-A6422A25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195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ЗНАНИЕ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12D05-59EA-4CBA-84BC-3859AEFF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33875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06874"/>
                </a:solidFill>
              </a:defRPr>
            </a:pPr>
            <a:r>
              <a:rPr sz="1013" b="0">
                <a:solidFill>
                  <a:srgbClr val="606874"/>
                </a:solidFill>
              </a:rPr>
              <a:t>Сотрудник может воспроизвести информацию и ответить на вопросы.</a:t>
            </a:r>
          </a:p>
        </p:txBody>
      </p:sp>
      <p:sp>
        <p:nvSpPr>
          <p:cNvPr id="12" name="arrow">
            <a:extLst xmlns:a="http://schemas.openxmlformats.org/drawingml/2006/main">
              <a:ext uri="{FF2B5EF4-FFF2-40B4-BE49-F238E27FC236}">
                <a16:creationId xmlns:a16="http://schemas.microsoft.com/office/drawing/2014/main" id="{826E6DA4-4CE4-4290-8C16-776D97AF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194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3" name="learning-stage">
            <a:extLst xmlns:a="http://schemas.openxmlformats.org/drawingml/2006/main">
              <a:ext uri="{FF2B5EF4-FFF2-40B4-BE49-F238E27FC236}">
                <a16:creationId xmlns:a16="http://schemas.microsoft.com/office/drawing/2014/main" id="{6B8EE496-5337-44B9-B00B-FFD85EC0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24150"/>
            <a:ext cx="2381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A9E60-F1D0-4DEF-84E3-B76AB698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813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A2244-76DE-4127-BB65-E65FECEC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3528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</a:defRPr>
            </a:pPr>
            <a:r>
              <a:rPr sz="1875" b="1">
                <a:solidFill>
                  <a:srgbClr val="0A0D12"/>
                </a:solidFill>
              </a:rPr>
              <a:t>Покажу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07617-50BE-4029-AE19-00BA9460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0195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ПРИМЕР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216E94-A23F-4999-8FE1-2DCB5C40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333875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06874"/>
                </a:solidFill>
              </a:defRPr>
            </a:pPr>
            <a:r>
              <a:rPr sz="1013" b="0">
                <a:solidFill>
                  <a:srgbClr val="606874"/>
                </a:solidFill>
              </a:rPr>
              <a:t>Сотрудник увидел применение действий и понял, что наблюдать.</a:t>
            </a:r>
          </a:p>
        </p:txBody>
      </p:sp>
      <p:sp>
        <p:nvSpPr>
          <p:cNvPr id="18" name="arrow">
            <a:extLst xmlns:a="http://schemas.openxmlformats.org/drawingml/2006/main">
              <a:ext uri="{FF2B5EF4-FFF2-40B4-BE49-F238E27FC236}">
                <a16:creationId xmlns:a16="http://schemas.microsoft.com/office/drawing/2014/main" id="{A4B174D6-8085-494C-9C36-6AEA8CDF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9" name="learning-stage">
            <a:extLst xmlns:a="http://schemas.openxmlformats.org/drawingml/2006/main">
              <a:ext uri="{FF2B5EF4-FFF2-40B4-BE49-F238E27FC236}">
                <a16:creationId xmlns:a16="http://schemas.microsoft.com/office/drawing/2014/main" id="{3B403049-F8C0-45FB-B74D-5BFF8783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2381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F356AF-E859-4FF2-802E-503CB455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813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4CFA08-D6FD-4640-B97A-3A8CEF3F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528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</a:defRPr>
            </a:pPr>
            <a:r>
              <a:rPr sz="1875" b="1">
                <a:solidFill>
                  <a:srgbClr val="0A0D12"/>
                </a:solidFill>
              </a:rPr>
              <a:t>Сделаем</a:t>
            </a:r>
          </a:p>
          <a:p xmlns:a="http://schemas.openxmlformats.org/drawingml/2006/main">
            <a:pPr algn="l">
              <a:defRPr sz="1875" b="1">
                <a:solidFill>
                  <a:srgbClr val="0A0D12"/>
                </a:solidFill>
              </a:defRPr>
            </a:pPr>
            <a:r>
              <a:rPr sz="1875" b="1">
                <a:solidFill>
                  <a:srgbClr val="0A0D12"/>
                </a:solidFill>
              </a:rPr>
              <a:t>вместе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8A3FF-B245-4B59-BEB4-F9BE32C1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195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УМЕНИЕ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6C19B8-14E5-4AD5-A980-1E02CDCB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33875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06874"/>
                </a:solidFill>
              </a:defRPr>
            </a:pPr>
            <a:r>
              <a:rPr sz="1013" b="0">
                <a:solidFill>
                  <a:srgbClr val="606874"/>
                </a:solidFill>
              </a:rPr>
              <a:t>Сотрудник воспроизводит действие с опорой и подсказками.</a:t>
            </a:r>
          </a:p>
        </p:txBody>
      </p:sp>
      <p:sp>
        <p:nvSpPr>
          <p:cNvPr id="24" name="learning-stage">
            <a:extLst xmlns:a="http://schemas.openxmlformats.org/drawingml/2006/main">
              <a:ext uri="{FF2B5EF4-FFF2-40B4-BE49-F238E27FC236}">
                <a16:creationId xmlns:a16="http://schemas.microsoft.com/office/drawing/2014/main" id="{DB1CC14B-7F57-4EAB-9D36-36E2120C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2381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5279AE-1807-4484-B393-BE09D8C2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9813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2E9FA3-6A96-43EC-9317-18B05019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528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Сделай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сам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6E3CF9-FC45-42A6-B3E5-41F3E16C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0195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CBF4"/>
                </a:solidFill>
              </a:defRPr>
            </a:pPr>
            <a:r>
              <a:rPr sz="825" b="1">
                <a:solidFill>
                  <a:srgbClr val="6DCBF4"/>
                </a:solidFill>
              </a:rPr>
              <a:t>НАВЫК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88360D-18D1-4BBC-B13D-49960ECA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33875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7DEE9"/>
                </a:solidFill>
              </a:defRPr>
            </a:pPr>
            <a:r>
              <a:rPr sz="1013" b="0">
                <a:solidFill>
                  <a:srgbClr val="D7DEE9"/>
                </a:solidFill>
              </a:rPr>
              <a:t>Сотрудник выполняет действие без опоры и подсказок.</a:t>
            </a:r>
          </a:p>
        </p:txBody>
      </p:sp>
      <p:sp>
        <p:nvSpPr>
          <p:cNvPr id="29" name="benchmark">
            <a:extLst xmlns:a="http://schemas.openxmlformats.org/drawingml/2006/main">
              <a:ext uri="{FF2B5EF4-FFF2-40B4-BE49-F238E27FC236}">
                <a16:creationId xmlns:a16="http://schemas.microsoft.com/office/drawing/2014/main" id="{EFD83A93-78AC-4413-A801-60F1958F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12776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6C1FD2-3BC5-4CFB-A415-9CDE1416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71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235"/>
                </a:solidFill>
              </a:defRPr>
            </a:pPr>
            <a:r>
              <a:rPr sz="1425" b="1">
                <a:solidFill>
                  <a:srgbClr val="182235"/>
                </a:solidFill>
              </a:rPr>
              <a:t>Ориентир практики: 85% и выше — сначала с опорой, затем без неё.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81BF8023-19F1-4155-A55C-6E29B9AA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E061E3-B362-4E4E-91F9-7EF5F946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Последовательность обучения: объяснение → наблюдение → тренировка → самостоятельное применение.</a:t>
            </a:r>
          </a:p>
        </p:txBody>
      </p:sp>
    </p:spTree>
    <p:extLst>
      <p:ext uri="{BB962C8B-B14F-4D97-AF65-F5344CB8AC3E}">
        <p14:creationId xmlns:p14="http://schemas.microsoft.com/office/powerpoint/2010/main" val="21430212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">
            <a:extLst xmlns:a="http://schemas.openxmlformats.org/drawingml/2006/main">
              <a:ext uri="{FF2B5EF4-FFF2-40B4-BE49-F238E27FC236}">
                <a16:creationId xmlns:a16="http://schemas.microsoft.com/office/drawing/2014/main" id="{6E13EE97-4783-4251-B6A3-825760A7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ЭТАП «РАССКАЖУ»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1B8AE1B-FC7A-4419-B5E8-ACF90590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07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004AC5E-63F6-4AF5-A843-D4B23ACB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5AA7F9-5ABC-482F-9794-E2B729FF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Этап «Расскажу»: передаём знание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58653F2-8F78-46C4-839F-6CC8AC2B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49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Результат этапа — сотрудник может пересказать материал, воспроизвести алгоритм и ответить на вопросы.</a:t>
            </a:r>
          </a:p>
        </p:txBody>
      </p:sp>
      <p:sp>
        <p:nvSpPr>
          <p:cNvPr id="6" name="tell-step">
            <a:extLst xmlns:a="http://schemas.openxmlformats.org/drawingml/2006/main">
              <a:ext uri="{FF2B5EF4-FFF2-40B4-BE49-F238E27FC236}">
                <a16:creationId xmlns:a16="http://schemas.microsoft.com/office/drawing/2014/main" id="{76F5EB55-C046-423D-A4B9-FF504838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1924050" cy="20383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1E28D-ABC7-4D74-853E-4300CC6D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431F4-23A6-4F63-9B18-118AD4AC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D12"/>
                </a:solidFill>
              </a:defRPr>
            </a:pPr>
            <a:r>
              <a:rPr sz="1650" b="1">
                <a:solidFill>
                  <a:srgbClr val="0A0D12"/>
                </a:solidFill>
              </a:rPr>
              <a:t>Цель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03686-BA08-4DC6-856B-9D538436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874"/>
                </a:solidFill>
              </a:defRPr>
            </a:pPr>
            <a:r>
              <a:rPr sz="1125" b="0">
                <a:solidFill>
                  <a:srgbClr val="606874"/>
                </a:solidFill>
              </a:rPr>
              <a:t>объясните, для чего нужен этот этап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D6948404-43F2-4291-A2F0-B093E4FB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004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1" name="tell-step">
            <a:extLst xmlns:a="http://schemas.openxmlformats.org/drawingml/2006/main">
              <a:ext uri="{FF2B5EF4-FFF2-40B4-BE49-F238E27FC236}">
                <a16:creationId xmlns:a16="http://schemas.microsoft.com/office/drawing/2014/main" id="{26325887-0AFF-419D-A00E-773B11DE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1924050" cy="20383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58066-668A-4A57-838B-063D5325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003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5C87A-1CB2-4496-B846-F0F1BDAC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90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D12"/>
                </a:solidFill>
              </a:defRPr>
            </a:pPr>
            <a:r>
              <a:rPr sz="1650" b="1">
                <a:solidFill>
                  <a:srgbClr val="0A0D12"/>
                </a:solidFill>
              </a:rPr>
              <a:t>Маршрут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17960-E38E-418D-950C-36C33BAB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71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874"/>
                </a:solidFill>
              </a:defRPr>
            </a:pPr>
            <a:r>
              <a:rPr sz="1125" b="0">
                <a:solidFill>
                  <a:srgbClr val="606874"/>
                </a:solidFill>
              </a:rPr>
              <a:t>скажите, что и как будете делать</a:t>
            </a:r>
          </a:p>
        </p:txBody>
      </p:sp>
      <p:sp>
        <p:nvSpPr>
          <p:cNvPr id="15" name="arrow">
            <a:extLst xmlns:a="http://schemas.openxmlformats.org/drawingml/2006/main">
              <a:ext uri="{FF2B5EF4-FFF2-40B4-BE49-F238E27FC236}">
                <a16:creationId xmlns:a16="http://schemas.microsoft.com/office/drawing/2014/main" id="{1546A301-40F0-423B-9576-8A6A6D24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6" name="tell-step">
            <a:extLst xmlns:a="http://schemas.openxmlformats.org/drawingml/2006/main">
              <a:ext uri="{FF2B5EF4-FFF2-40B4-BE49-F238E27FC236}">
                <a16:creationId xmlns:a16="http://schemas.microsoft.com/office/drawing/2014/main" id="{7F6244A6-DFF4-4F85-9D6A-5CBB9E19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81300"/>
            <a:ext cx="1924050" cy="20383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24CD6-3ED8-40FD-A061-3398CFB8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003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E03E6-75DA-4AC2-8358-8ACDABED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90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D12"/>
                </a:solidFill>
              </a:defRPr>
            </a:pPr>
            <a:r>
              <a:rPr sz="1650" b="1">
                <a:solidFill>
                  <a:srgbClr val="0A0D12"/>
                </a:solidFill>
              </a:rPr>
              <a:t>Лекция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ABB83-2853-49E9-9000-7042D6A0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671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874"/>
                </a:solidFill>
              </a:defRPr>
            </a:pPr>
            <a:r>
              <a:rPr sz="1125" b="0">
                <a:solidFill>
                  <a:srgbClr val="606874"/>
                </a:solidFill>
              </a:rPr>
              <a:t>дайте структурированную информацию</a:t>
            </a:r>
          </a:p>
        </p:txBody>
      </p:sp>
      <p:sp>
        <p:nvSpPr>
          <p:cNvPr id="20" name="arrow">
            <a:extLst xmlns:a="http://schemas.openxmlformats.org/drawingml/2006/main">
              <a:ext uri="{FF2B5EF4-FFF2-40B4-BE49-F238E27FC236}">
                <a16:creationId xmlns:a16="http://schemas.microsoft.com/office/drawing/2014/main" id="{662133DE-8EE0-437A-A81C-81B93158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04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21" name="tell-step">
            <a:extLst xmlns:a="http://schemas.openxmlformats.org/drawingml/2006/main">
              <a:ext uri="{FF2B5EF4-FFF2-40B4-BE49-F238E27FC236}">
                <a16:creationId xmlns:a16="http://schemas.microsoft.com/office/drawing/2014/main" id="{DDF928E5-9394-46A4-BD13-4E7E9AFC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81300"/>
            <a:ext cx="1924050" cy="20383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E376FA-A722-4975-8940-19186783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003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EE79C6-576F-4E1D-8F5F-358622E8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90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D12"/>
                </a:solidFill>
              </a:defRPr>
            </a:pPr>
            <a:r>
              <a:rPr sz="1650" b="1">
                <a:solidFill>
                  <a:srgbClr val="0A0D12"/>
                </a:solidFill>
              </a:rPr>
              <a:t>Проверка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D0C81D-EF73-44C1-BBF2-9A825E3B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671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874"/>
                </a:solidFill>
              </a:defRPr>
            </a:pPr>
            <a:r>
              <a:rPr sz="1125" b="0">
                <a:solidFill>
                  <a:srgbClr val="606874"/>
                </a:solidFill>
              </a:rPr>
              <a:t>задайте вопросы на понимание</a:t>
            </a:r>
          </a:p>
        </p:txBody>
      </p:sp>
      <p:sp>
        <p:nvSpPr>
          <p:cNvPr id="25" name="tell-outcome">
            <a:extLst xmlns:a="http://schemas.openxmlformats.org/drawingml/2006/main">
              <a:ext uri="{FF2B5EF4-FFF2-40B4-BE49-F238E27FC236}">
                <a16:creationId xmlns:a16="http://schemas.microsoft.com/office/drawing/2014/main" id="{0ED62FFA-5BBE-4CF2-9276-ED5C31E5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211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88DAEA-A499-4699-98EC-43CA67AF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670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</a:defRPr>
            </a:pPr>
            <a:r>
              <a:rPr sz="900" b="1">
                <a:solidFill>
                  <a:srgbClr val="6DCBF4"/>
                </a:solidFill>
              </a:rPr>
              <a:t>ПРИЗНАК</a:t>
            </a:r>
          </a:p>
          <a:p xmlns:a="http://schemas.openxmlformats.org/drawingml/2006/main">
            <a:pPr algn="l">
              <a:defRPr sz="900" b="1">
                <a:solidFill>
                  <a:srgbClr val="6DCBF4"/>
                </a:solidFill>
              </a:defRPr>
            </a:pPr>
            <a:r>
              <a:rPr sz="900" b="1">
                <a:solidFill>
                  <a:srgbClr val="6DCBF4"/>
                </a:solidFill>
              </a:rPr>
              <a:t>ЗАВЕРШЕНИЯ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B5B1A6-B3F7-4D43-8D73-2DCDA88E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7190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«Сотрудник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объясняет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своими словами»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0FC80992-8B1D-4CBC-BE6F-812ED29F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75D711-0E25-467D-A220-6EBE809E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Лекция — это не монолог. Проверка понимания встроена в сам этап.</a:t>
            </a:r>
          </a:p>
        </p:txBody>
      </p:sp>
    </p:spTree>
    <p:extLst>
      <p:ext uri="{BB962C8B-B14F-4D97-AF65-F5344CB8AC3E}">
        <p14:creationId xmlns:p14="http://schemas.microsoft.com/office/powerpoint/2010/main" val="15142090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">
            <a:extLst xmlns:a="http://schemas.openxmlformats.org/drawingml/2006/main">
              <a:ext uri="{FF2B5EF4-FFF2-40B4-BE49-F238E27FC236}">
                <a16:creationId xmlns:a16="http://schemas.microsoft.com/office/drawing/2014/main" id="{6EBF0588-A861-401E-B980-E4272C53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ЭТАП «РАССКАЖУ»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E0637F-1C0D-4439-BAD4-3EF76242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08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0D77C03-886C-4536-968C-010D6920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6E790B-9D85-441D-906A-220B08DF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4 принципа сильного объяснения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CA8DC32-E48E-4316-989E-D92CF709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49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Смысл, структура и темп важнее объёма информации.</a:t>
            </a:r>
          </a:p>
        </p:txBody>
      </p:sp>
      <p:sp>
        <p:nvSpPr>
          <p:cNvPr id="6" name="principle-card">
            <a:extLst xmlns:a="http://schemas.openxmlformats.org/drawingml/2006/main">
              <a:ext uri="{FF2B5EF4-FFF2-40B4-BE49-F238E27FC236}">
                <a16:creationId xmlns:a16="http://schemas.microsoft.com/office/drawing/2014/main" id="{75C6FD92-04B6-4FCA-9403-70D4458B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50673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C7924-9125-4C3C-8E0E-0C9E8845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10B35-524D-4074-ADC1-4F88D801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05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D12"/>
                </a:solidFill>
              </a:defRPr>
            </a:pPr>
            <a:r>
              <a:rPr sz="1725" b="1">
                <a:solidFill>
                  <a:srgbClr val="0A0D12"/>
                </a:solidFill>
              </a:rPr>
              <a:t>Значимость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B4515-E4AD-4E54-BF62-C0C20231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051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874"/>
                </a:solidFill>
              </a:defRPr>
            </a:pPr>
            <a:r>
              <a:rPr sz="1125" b="0">
                <a:solidFill>
                  <a:srgbClr val="606874"/>
                </a:solidFill>
              </a:rPr>
              <a:t>Сначала объясните, зачем информация нужна и где пригодится на практике.</a:t>
            </a:r>
          </a:p>
        </p:txBody>
      </p:sp>
      <p:sp>
        <p:nvSpPr>
          <p:cNvPr id="10" name="principle-card">
            <a:extLst xmlns:a="http://schemas.openxmlformats.org/drawingml/2006/main">
              <a:ext uri="{FF2B5EF4-FFF2-40B4-BE49-F238E27FC236}">
                <a16:creationId xmlns:a16="http://schemas.microsoft.com/office/drawing/2014/main" id="{48998041-E75B-4CB1-924F-91665A74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33650"/>
            <a:ext cx="50673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2CE64-823B-461B-BAEB-1903503E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01842-ACAC-41BA-B099-F68EA30D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05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D12"/>
                </a:solidFill>
              </a:defRPr>
            </a:pPr>
            <a:r>
              <a:rPr sz="1725" b="1">
                <a:solidFill>
                  <a:srgbClr val="0A0D12"/>
                </a:solidFill>
              </a:rPr>
              <a:t>Структура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F92A0-4772-4C17-8326-2325ED1C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051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874"/>
                </a:solidFill>
              </a:defRPr>
            </a:pPr>
            <a:r>
              <a:rPr sz="1125" b="0">
                <a:solidFill>
                  <a:srgbClr val="606874"/>
                </a:solidFill>
              </a:rPr>
              <a:t>Организуйте материал через определения, классификации, алгоритмы и принципы.</a:t>
            </a:r>
          </a:p>
        </p:txBody>
      </p:sp>
      <p:sp>
        <p:nvSpPr>
          <p:cNvPr id="14" name="principle-card">
            <a:extLst xmlns:a="http://schemas.openxmlformats.org/drawingml/2006/main">
              <a:ext uri="{FF2B5EF4-FFF2-40B4-BE49-F238E27FC236}">
                <a16:creationId xmlns:a16="http://schemas.microsoft.com/office/drawing/2014/main" id="{7AC7E8C5-1478-465C-97A7-654085C6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2425"/>
            <a:ext cx="50673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95FAC-5F02-4B01-85A6-C46332A7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52B05-DF65-409C-8F36-AD0A1A55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33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D12"/>
                </a:solidFill>
              </a:defRPr>
            </a:pPr>
            <a:r>
              <a:rPr sz="1725" b="1">
                <a:solidFill>
                  <a:srgbClr val="0A0D12"/>
                </a:solidFill>
              </a:rPr>
              <a:t>От общего к частному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348F1-30C6-4BA5-AAA1-A4FE8787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339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874"/>
                </a:solidFill>
              </a:defRPr>
            </a:pPr>
            <a:r>
              <a:rPr sz="1125" b="0">
                <a:solidFill>
                  <a:srgbClr val="606874"/>
                </a:solidFill>
              </a:rPr>
              <a:t>Сначала базовые понятия и логика, затем шаги, детали и примеры.</a:t>
            </a:r>
          </a:p>
        </p:txBody>
      </p:sp>
      <p:sp>
        <p:nvSpPr>
          <p:cNvPr id="18" name="principle-card">
            <a:extLst xmlns:a="http://schemas.openxmlformats.org/drawingml/2006/main">
              <a:ext uri="{FF2B5EF4-FFF2-40B4-BE49-F238E27FC236}">
                <a16:creationId xmlns:a16="http://schemas.microsoft.com/office/drawing/2014/main" id="{D265DF21-242D-407B-87D4-8CB4DE8A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62425"/>
            <a:ext cx="50673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B3031B-AC4F-41BF-BC88-DC46E6D8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529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</a:defRPr>
            </a:pPr>
            <a:r>
              <a:rPr sz="1050" b="1">
                <a:solidFill>
                  <a:srgbClr val="6DCBF4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2E47D4-2ADC-4EAD-B784-4B310157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33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Порции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7984AC-98E0-4030-98C6-8086DF35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339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DEE9"/>
                </a:solidFill>
              </a:defRPr>
            </a:pPr>
            <a:r>
              <a:rPr sz="1125" b="0">
                <a:solidFill>
                  <a:srgbClr val="D7DEE9"/>
                </a:solidFill>
              </a:rPr>
              <a:t>Учитывайте ограниченный объём внимания и индивидуальный темп усвоения.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BCC307CD-0108-42F5-BAC2-6474DE09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C51557-E25B-4974-A453-8DE4A2DA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Если информации слишком много — сократите, сгруппируйте или разделите на несколько встреч.</a:t>
            </a:r>
          </a:p>
        </p:txBody>
      </p:sp>
    </p:spTree>
    <p:extLst>
      <p:ext uri="{BB962C8B-B14F-4D97-AF65-F5344CB8AC3E}">
        <p14:creationId xmlns:p14="http://schemas.microsoft.com/office/powerpoint/2010/main" val="5357249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">
            <a:extLst xmlns:a="http://schemas.openxmlformats.org/drawingml/2006/main">
              <a:ext uri="{FF2B5EF4-FFF2-40B4-BE49-F238E27FC236}">
                <a16:creationId xmlns:a16="http://schemas.microsoft.com/office/drawing/2014/main" id="{91A05463-C397-4BFE-8692-505ED5B0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ЭТАП «РАССКАЖУ»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498C029-B8CE-4BA8-A5EA-708F66AD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09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34DB0D6-AC9E-423E-AA92-F33DAEC9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8C49E4-848C-42BC-9D94-D62F74F1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Конструктор лекции по этапу продаж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F3DCE99-25B9-44A6-B11B-CE36BE7A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49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Восемь вопросов, которые помогают выстроить не набор фактов, а логику воздействия на клиента.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3FE58-ED56-4446-84A4-39430D14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15788-8F95-4AD9-8AC8-DA0D1C36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Для чего нужен этот этап?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126080DA-8611-4A16-9FD4-9EDC6685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860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8BBB5-1607-45D3-9E07-A5DCDB8D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2D4D4-FCC5-4347-BBFA-568013A7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337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Что происходит с клиентом?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F71F04F9-13D1-4C1B-8CF4-A99EAD30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AA288-AEEC-43A1-8DA5-AE46FAC4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55A65-DCD5-43F6-8F1A-BBA10147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Какое состояние клиента меняем?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78BF149A-E5BE-42A2-8995-C62021CB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9102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389FE-1755-47C4-862A-9BA6CA47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148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66329-C659-4638-BD2E-41D68926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386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Какие правила и принципы применяем?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10F04EBC-F2B5-4DA0-B5E3-CB8536EC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41D146-DE38-4AAB-9AEF-C5012917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F5578C-1119-4C99-AD80-68F9BE7D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Какой алгоритм / инструмент используем?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B4971F95-649E-4C07-AA34-8D2A1312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860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FA985E-005A-4DDA-A2A9-E3464664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440CE-93D0-46E8-B2D8-105B2D1E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337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Как выглядит каждый шаг: что, почему, как?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935E64DC-4B2A-4199-81EE-8F0D8B3A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385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CD8B0-7EEC-4842-B396-7981196D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352FC4-9FB3-42D9-AF80-F4504325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Как поймём, что результат достигнут?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FE2C06E6-008C-4197-95A3-B45C7910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9102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1D645C-1FAA-4F08-82F5-46F79F7F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DDD10A-6BBB-446E-9AA8-3E48184C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386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Какое резюме и какие вопросы зададим?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0D9884F7-2A2A-4948-82ED-344C5663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435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lesson-tip">
            <a:extLst xmlns:a="http://schemas.openxmlformats.org/drawingml/2006/main">
              <a:ext uri="{FF2B5EF4-FFF2-40B4-BE49-F238E27FC236}">
                <a16:creationId xmlns:a16="http://schemas.microsoft.com/office/drawing/2014/main" id="{E97E1567-57C1-4AFA-B8B2-89266FFE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E1CC48-F65B-4678-83A2-F2C38897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235"/>
                </a:solidFill>
              </a:defRPr>
            </a:pPr>
            <a:r>
              <a:rPr sz="1125" b="1">
                <a:solidFill>
                  <a:srgbClr val="182235"/>
                </a:solidFill>
              </a:rPr>
              <a:t>На каждом шаге давайте: действие → причина → влияние на клиента → пример формулировки.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642C51F5-7706-432A-82E1-03DDADF6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AC23AC-D0B0-4654-9756-E4B1FB63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Логика лекции помогает сотруднику понимать не только «что сказать», но и «зачем».</a:t>
            </a:r>
          </a:p>
        </p:txBody>
      </p:sp>
    </p:spTree>
    <p:extLst>
      <p:ext uri="{BB962C8B-B14F-4D97-AF65-F5344CB8AC3E}">
        <p14:creationId xmlns:p14="http://schemas.microsoft.com/office/powerpoint/2010/main" val="6034851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">
            <a:extLst xmlns:a="http://schemas.openxmlformats.org/drawingml/2006/main">
              <a:ext uri="{FF2B5EF4-FFF2-40B4-BE49-F238E27FC236}">
                <a16:creationId xmlns:a16="http://schemas.microsoft.com/office/drawing/2014/main" id="{C91D5794-D108-4F09-932D-30013090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УПРАВЛЕНИЕ ВНИМАНИЕМ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0E46FCE-0735-4E9B-89FC-01ECD5B0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10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5D87BCE-FD95-4627-AD5F-FDF85287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B7D9D3-C6AF-44F2-872B-72AC0D91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Удерживаем внимание: визуализация + интонация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1FF2BEB-84B1-47F8-8257-30894DB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49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Показывайте связи на слайде, а детали и эмоциональные акценты передавайте голосом.</a:t>
            </a:r>
          </a:p>
        </p:txBody>
      </p:sp>
      <p:sp>
        <p:nvSpPr>
          <p:cNvPr id="6" name="visualization-panel">
            <a:extLst xmlns:a="http://schemas.openxmlformats.org/drawingml/2006/main">
              <a:ext uri="{FF2B5EF4-FFF2-40B4-BE49-F238E27FC236}">
                <a16:creationId xmlns:a16="http://schemas.microsoft.com/office/drawing/2014/main" id="{05299557-A159-4E17-8019-9AD94024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43175"/>
            <a:ext cx="5334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41DCC-1C53-4A37-9CC4-762E5EB3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ВИЗУАЛИЗАЦИЯ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3660E-02E1-4293-A232-33EE2490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D12"/>
                </a:solidFill>
              </a:defRPr>
            </a:pPr>
            <a:r>
              <a:rPr sz="1800" b="1">
                <a:solidFill>
                  <a:srgbClr val="0A0D12"/>
                </a:solidFill>
              </a:rPr>
              <a:t>Показывайте структуру</a:t>
            </a:r>
          </a:p>
        </p:txBody>
      </p:sp>
      <p:sp>
        <p:nvSpPr>
          <p:cNvPr id="9" name="bullet">
            <a:extLst xmlns:a="http://schemas.openxmlformats.org/drawingml/2006/main">
              <a:ext uri="{FF2B5EF4-FFF2-40B4-BE49-F238E27FC236}">
                <a16:creationId xmlns:a16="http://schemas.microsoft.com/office/drawing/2014/main" id="{F5E5E1F0-F0C7-4A6A-9DB6-CB4205AC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7F3D0-5099-4235-AAEB-56AC6B5B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D12"/>
                </a:solidFill>
              </a:defRPr>
            </a:pPr>
            <a:r>
              <a:rPr sz="1125" b="0">
                <a:solidFill>
                  <a:srgbClr val="0A0D12"/>
                </a:solidFill>
              </a:rPr>
              <a:t>Фиксируйте главное, детали — голосом</a:t>
            </a:r>
          </a:p>
        </p:txBody>
      </p:sp>
      <p:sp>
        <p:nvSpPr>
          <p:cNvPr id="11" name="bullet">
            <a:extLst xmlns:a="http://schemas.openxmlformats.org/drawingml/2006/main">
              <a:ext uri="{FF2B5EF4-FFF2-40B4-BE49-F238E27FC236}">
                <a16:creationId xmlns:a16="http://schemas.microsoft.com/office/drawing/2014/main" id="{2CBECEB2-70E7-42EE-BE05-CC18910F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00C2C-8822-4F9B-80A4-7A20711E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D12"/>
                </a:solidFill>
              </a:defRPr>
            </a:pPr>
            <a:r>
              <a:rPr sz="1125" b="0">
                <a:solidFill>
                  <a:srgbClr val="0A0D12"/>
                </a:solidFill>
              </a:rPr>
              <a:t>Алгоритмы показывайте схемой</a:t>
            </a:r>
          </a:p>
        </p:txBody>
      </p:sp>
      <p:sp>
        <p:nvSpPr>
          <p:cNvPr id="13" name="bullet">
            <a:extLst xmlns:a="http://schemas.openxmlformats.org/drawingml/2006/main">
              <a:ext uri="{FF2B5EF4-FFF2-40B4-BE49-F238E27FC236}">
                <a16:creationId xmlns:a16="http://schemas.microsoft.com/office/drawing/2014/main" id="{CB119B2B-8C57-424D-B0DA-42C3CEC7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3DD08-E0E2-4CEE-8B30-8FDE9AD3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D12"/>
                </a:solidFill>
              </a:defRPr>
            </a:pPr>
            <a:r>
              <a:rPr sz="1125" b="0">
                <a:solidFill>
                  <a:srgbClr val="0A0D12"/>
                </a:solidFill>
              </a:rPr>
              <a:t>Используйте опорные фразы-шаблоны</a:t>
            </a:r>
          </a:p>
        </p:txBody>
      </p:sp>
      <p:sp>
        <p:nvSpPr>
          <p:cNvPr id="15" name="bullet">
            <a:extLst xmlns:a="http://schemas.openxmlformats.org/drawingml/2006/main">
              <a:ext uri="{FF2B5EF4-FFF2-40B4-BE49-F238E27FC236}">
                <a16:creationId xmlns:a16="http://schemas.microsoft.com/office/drawing/2014/main" id="{084CFB03-BC30-474F-9E86-F3560EF4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3C237-A6DF-4300-A219-729F9491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D12"/>
                </a:solidFill>
              </a:defRPr>
            </a:pPr>
            <a:r>
              <a:rPr sz="1125" b="0">
                <a:solidFill>
                  <a:srgbClr val="0A0D12"/>
                </a:solidFill>
              </a:rPr>
              <a:t>Систематизируйте информацию</a:t>
            </a:r>
          </a:p>
        </p:txBody>
      </p:sp>
      <p:sp>
        <p:nvSpPr>
          <p:cNvPr id="17" name="intonation-panel">
            <a:extLst xmlns:a="http://schemas.openxmlformats.org/drawingml/2006/main">
              <a:ext uri="{FF2B5EF4-FFF2-40B4-BE49-F238E27FC236}">
                <a16:creationId xmlns:a16="http://schemas.microsoft.com/office/drawing/2014/main" id="{2048932F-8F83-4390-80FF-3ABC5F15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43175"/>
            <a:ext cx="54102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3DB4F-A258-4F8A-A177-5AF3CBE4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</a:defRPr>
            </a:pPr>
            <a:r>
              <a:rPr sz="1050" b="1">
                <a:solidFill>
                  <a:srgbClr val="6DCBF4"/>
                </a:solidFill>
              </a:rPr>
              <a:t>ИНТОНАЦИЯ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1196B-B5A7-4E7C-867A-E7DF8FC4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099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Делайте речь живой</a:t>
            </a:r>
          </a:p>
        </p:txBody>
      </p:sp>
      <p:sp>
        <p:nvSpPr>
          <p:cNvPr id="20" name="bullet">
            <a:extLst xmlns:a="http://schemas.openxmlformats.org/drawingml/2006/main">
              <a:ext uri="{FF2B5EF4-FFF2-40B4-BE49-F238E27FC236}">
                <a16:creationId xmlns:a16="http://schemas.microsoft.com/office/drawing/2014/main" id="{39FE013A-0484-45F3-BBBC-7E0E748F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87CBC4-6720-41BD-9632-559B7AB3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861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4E8F0"/>
                </a:solidFill>
              </a:defRPr>
            </a:pPr>
            <a:r>
              <a:rPr sz="1125" b="0">
                <a:solidFill>
                  <a:srgbClr val="E4E8F0"/>
                </a:solidFill>
              </a:rPr>
              <a:t>Логическое ударение</a:t>
            </a:r>
          </a:p>
        </p:txBody>
      </p:sp>
      <p:sp>
        <p:nvSpPr>
          <p:cNvPr id="22" name="bullet">
            <a:extLst xmlns:a="http://schemas.openxmlformats.org/drawingml/2006/main">
              <a:ext uri="{FF2B5EF4-FFF2-40B4-BE49-F238E27FC236}">
                <a16:creationId xmlns:a16="http://schemas.microsoft.com/office/drawing/2014/main" id="{7BFB80A3-65BA-410A-8EFC-3BB230AE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05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518F51-3C9A-4C13-8E91-AABF9727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290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4E8F0"/>
                </a:solidFill>
              </a:defRPr>
            </a:pPr>
            <a:r>
              <a:rPr sz="1125" b="0">
                <a:solidFill>
                  <a:srgbClr val="E4E8F0"/>
                </a:solidFill>
              </a:rPr>
              <a:t>Пауза между смыслами</a:t>
            </a:r>
          </a:p>
        </p:txBody>
      </p:sp>
      <p:sp>
        <p:nvSpPr>
          <p:cNvPr id="24" name="bullet">
            <a:extLst xmlns:a="http://schemas.openxmlformats.org/drawingml/2006/main">
              <a:ext uri="{FF2B5EF4-FFF2-40B4-BE49-F238E27FC236}">
                <a16:creationId xmlns:a16="http://schemas.microsoft.com/office/drawing/2014/main" id="{5F1A6D88-06C0-415A-B599-645BDF28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48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28670-199B-425F-A858-E1782F6F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719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4E8F0"/>
                </a:solidFill>
              </a:defRPr>
            </a:pPr>
            <a:r>
              <a:rPr sz="1125" b="0">
                <a:solidFill>
                  <a:srgbClr val="E4E8F0"/>
                </a:solidFill>
              </a:rPr>
              <a:t>Повышение / понижение тона</a:t>
            </a:r>
          </a:p>
        </p:txBody>
      </p:sp>
      <p:sp>
        <p:nvSpPr>
          <p:cNvPr id="26" name="bullet">
            <a:extLst xmlns:a="http://schemas.openxmlformats.org/drawingml/2006/main">
              <a:ext uri="{FF2B5EF4-FFF2-40B4-BE49-F238E27FC236}">
                <a16:creationId xmlns:a16="http://schemas.microsoft.com/office/drawing/2014/main" id="{FEABD6FA-7418-4378-9F22-1A439913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91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B7CAA6-DDBC-4946-B7EF-0D627F6E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148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4E8F0"/>
                </a:solidFill>
              </a:defRPr>
            </a:pPr>
            <a:r>
              <a:rPr sz="1125" b="0">
                <a:solidFill>
                  <a:srgbClr val="E4E8F0"/>
                </a:solidFill>
              </a:rPr>
              <a:t>Изменение темпа и громкости</a:t>
            </a:r>
          </a:p>
        </p:txBody>
      </p:sp>
      <p:sp>
        <p:nvSpPr>
          <p:cNvPr id="28" name="attention-message">
            <a:extLst xmlns:a="http://schemas.openxmlformats.org/drawingml/2006/main">
              <a:ext uri="{FF2B5EF4-FFF2-40B4-BE49-F238E27FC236}">
                <a16:creationId xmlns:a16="http://schemas.microsoft.com/office/drawing/2014/main" id="{A41DF124-13A3-484E-919B-782663FA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776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9C5B81-6616-483A-A35D-ACA6A97A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235"/>
                </a:solidFill>
              </a:defRPr>
            </a:pPr>
            <a:r>
              <a:rPr sz="1200" b="1">
                <a:solidFill>
                  <a:srgbClr val="182235"/>
                </a:solidFill>
              </a:rPr>
              <a:t>То, что можно представить схемой или таблицей, — представляйте визуально.</a:t>
            </a:r>
          </a:p>
        </p:txBody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33217766-5C0C-4268-866C-072CA6FC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AFDE59-BD16-4FD1-83AE-B4657BC2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Визуализация активизирует внимание, помогает восприятию и запоминанию.</a:t>
            </a:r>
          </a:p>
        </p:txBody>
      </p:sp>
    </p:spTree>
    <p:extLst>
      <p:ext uri="{BB962C8B-B14F-4D97-AF65-F5344CB8AC3E}">
        <p14:creationId xmlns:p14="http://schemas.microsoft.com/office/powerpoint/2010/main" val="2768500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">
            <a:extLst xmlns:a="http://schemas.openxmlformats.org/drawingml/2006/main">
              <a:ext uri="{FF2B5EF4-FFF2-40B4-BE49-F238E27FC236}">
                <a16:creationId xmlns:a16="http://schemas.microsoft.com/office/drawing/2014/main" id="{B5E5F1F5-9CFF-4F25-A72C-4536C28D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УПРАВЛЕНИЕ ВНИМАНИЕМ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C9D7A82-A1CF-4516-88E4-D36A3D89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11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CEAFCF7-8098-4788-9CBB-D52F0810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209FA6-C7AE-41EE-ACA1-A7CE80AC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D12"/>
                </a:solidFill>
              </a:defRPr>
            </a:pPr>
            <a:r>
              <a:rPr sz="3000" b="1">
                <a:solidFill>
                  <a:srgbClr val="0A0D12"/>
                </a:solidFill>
              </a:rPr>
              <a:t>Проверяем понимание, а не только слушание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0ADDD8D0-C859-49BE-98AC-3BA303DF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49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4"/>
                </a:solidFill>
              </a:defRPr>
            </a:pPr>
            <a:r>
              <a:rPr sz="1350" b="0">
                <a:solidFill>
                  <a:srgbClr val="606874"/>
                </a:solidFill>
              </a:rPr>
              <a:t>Вопросы помогают сотруднику воспроизвести материал, увидеть смысл и перенести алгоритм в работу.</a:t>
            </a:r>
          </a:p>
        </p:txBody>
      </p:sp>
      <p:sp>
        <p:nvSpPr>
          <p:cNvPr id="6" name="question-row">
            <a:extLst xmlns:a="http://schemas.openxmlformats.org/drawingml/2006/main">
              <a:ext uri="{FF2B5EF4-FFF2-40B4-BE49-F238E27FC236}">
                <a16:creationId xmlns:a16="http://schemas.microsoft.com/office/drawing/2014/main" id="{025B2EB6-EDB1-4973-A119-B43AE2D9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11277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80587-E095-43ED-BDB8-FD403538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7B632-0479-4CFC-A8AC-3DB69716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90800"/>
            <a:ext cx="3000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О содержании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5CBC7-DC86-4749-883E-83E88469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032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5"/>
                </a:solidFill>
              </a:defRPr>
            </a:pPr>
            <a:r>
              <a:rPr sz="1125" b="0">
                <a:solidFill>
                  <a:srgbClr val="182235"/>
                </a:solidFill>
              </a:rPr>
              <a:t>«Что означает…?»  «Из чего состоит…?»</a:t>
            </a:r>
          </a:p>
        </p:txBody>
      </p:sp>
      <p:sp>
        <p:nvSpPr>
          <p:cNvPr id="10" name="question-row">
            <a:extLst xmlns:a="http://schemas.openxmlformats.org/drawingml/2006/main">
              <a:ext uri="{FF2B5EF4-FFF2-40B4-BE49-F238E27FC236}">
                <a16:creationId xmlns:a16="http://schemas.microsoft.com/office/drawing/2014/main" id="{8F4251CC-519E-4E12-ADD6-5C9BAFBC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11277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4BC81-643B-4315-A27F-242FAD6B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E1811-5102-4699-A6DA-FEAB354A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71850"/>
            <a:ext cx="3000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О цели и применении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AF402-C304-40CC-ABD5-EDDFD5B0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813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5"/>
                </a:solidFill>
              </a:defRPr>
            </a:pPr>
            <a:r>
              <a:rPr sz="1125" b="0">
                <a:solidFill>
                  <a:srgbClr val="182235"/>
                </a:solidFill>
              </a:rPr>
              <a:t>«Для чего нужно…?»  «Что будет, если этого не сделать?»</a:t>
            </a:r>
          </a:p>
        </p:txBody>
      </p:sp>
      <p:sp>
        <p:nvSpPr>
          <p:cNvPr id="14" name="question-row">
            <a:extLst xmlns:a="http://schemas.openxmlformats.org/drawingml/2006/main">
              <a:ext uri="{FF2B5EF4-FFF2-40B4-BE49-F238E27FC236}">
                <a16:creationId xmlns:a16="http://schemas.microsoft.com/office/drawing/2014/main" id="{0D5E1634-6650-4BF7-8EED-55F775A0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90975"/>
            <a:ext cx="11277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D8A94-F239-4B26-AFF2-B3104472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05225-5751-46A0-A264-AE233AB1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52900"/>
            <a:ext cx="3000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О вариативности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76C20-AD94-4DE7-9D30-C11F08D5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6242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5"/>
                </a:solidFill>
              </a:defRPr>
            </a:pPr>
            <a:r>
              <a:rPr sz="1125" b="0">
                <a:solidFill>
                  <a:srgbClr val="182235"/>
                </a:solidFill>
              </a:rPr>
              <a:t>«Что предпримешь, если…?»  «В какой ситуации применишь…?»</a:t>
            </a:r>
          </a:p>
        </p:txBody>
      </p:sp>
      <p:sp>
        <p:nvSpPr>
          <p:cNvPr id="18" name="question-row">
            <a:extLst xmlns:a="http://schemas.openxmlformats.org/drawingml/2006/main">
              <a:ext uri="{FF2B5EF4-FFF2-40B4-BE49-F238E27FC236}">
                <a16:creationId xmlns:a16="http://schemas.microsoft.com/office/drawing/2014/main" id="{89D4E6C4-687F-466D-A286-1163BC1F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2025"/>
            <a:ext cx="11277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BA9C3-9F5F-4CB6-99B4-6B5174DC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3520EA-246B-4047-A2DE-42B439E5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33950"/>
            <a:ext cx="3000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</a:defRPr>
            </a:pPr>
            <a:r>
              <a:rPr sz="1350" b="1">
                <a:solidFill>
                  <a:srgbClr val="0A0D12"/>
                </a:solidFill>
              </a:rPr>
              <a:t>О контроле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03EE74-BF89-49DE-AF66-524A00BA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434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5"/>
                </a:solidFill>
              </a:defRPr>
            </a:pPr>
            <a:r>
              <a:rPr sz="1125" b="0">
                <a:solidFill>
                  <a:srgbClr val="182235"/>
                </a:solidFill>
              </a:rPr>
              <a:t>«Как поймёшь, что применил успешно?»</a:t>
            </a:r>
          </a:p>
        </p:txBody>
      </p:sp>
      <p:sp>
        <p:nvSpPr>
          <p:cNvPr id="22" name="questions-tip">
            <a:extLst xmlns:a="http://schemas.openxmlformats.org/drawingml/2006/main">
              <a:ext uri="{FF2B5EF4-FFF2-40B4-BE49-F238E27FC236}">
                <a16:creationId xmlns:a16="http://schemas.microsoft.com/office/drawing/2014/main" id="{3C244954-26B1-4586-B29E-9244AB86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1277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A0BAF8-18BF-4793-94A0-2B6511ED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Не спрашивайте «всё понятно?» — попросите сотрудника объяснить, выбрать действие или спрогнозировать результат.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CEF62C55-F28A-439A-BFAF-CAE4D664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661B1E-274D-4262-962F-9F142EF6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Хороший вопрос проверяет понимание через действие и причинно-следственную связь.</a:t>
            </a:r>
          </a:p>
        </p:txBody>
      </p:sp>
    </p:spTree>
    <p:extLst>
      <p:ext uri="{BB962C8B-B14F-4D97-AF65-F5344CB8AC3E}">
        <p14:creationId xmlns:p14="http://schemas.microsoft.com/office/powerpoint/2010/main" val="5142810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">
            <a:extLst xmlns:a="http://schemas.openxmlformats.org/drawingml/2006/main">
              <a:ext uri="{FF2B5EF4-FFF2-40B4-BE49-F238E27FC236}">
                <a16:creationId xmlns:a16="http://schemas.microsoft.com/office/drawing/2014/main" id="{3ED7CE7E-E98F-4D88-ADA0-8759AF1D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ПРАКТИКА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17815CC-74C9-48B8-B7B9-507330DE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6874"/>
                </a:solidFill>
              </a:defRPr>
            </a:pPr>
            <a:r>
              <a:rPr sz="825" b="1">
                <a:solidFill>
                  <a:srgbClr val="606874"/>
                </a:solidFill>
              </a:rPr>
              <a:t>12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E92D168-6FAE-4A87-82BD-F0E5D26C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A4605BFD-2A91-4557-B12A-12145746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19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0A0D12"/>
                </a:solidFill>
              </a:defRPr>
            </a:pPr>
            <a:r>
              <a:rPr sz="3975" b="1">
                <a:solidFill>
                  <a:srgbClr val="0A0D12"/>
                </a:solidFill>
              </a:rPr>
              <a:t>Соберите свою</a:t>
            </a:r>
          </a:p>
          <a:p xmlns:a="http://schemas.openxmlformats.org/drawingml/2006/main">
            <a:pPr algn="l">
              <a:defRPr sz="3975" b="1">
                <a:solidFill>
                  <a:srgbClr val="0A0D12"/>
                </a:solidFill>
              </a:defRPr>
            </a:pPr>
            <a:r>
              <a:rPr sz="3975" b="1">
                <a:solidFill>
                  <a:srgbClr val="0A0D12"/>
                </a:solidFill>
              </a:rPr>
              <a:t>обучающую встречу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5FF5B-0203-4AE2-9F83-1D45E11A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33700"/>
            <a:ext cx="582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874"/>
                </a:solidFill>
              </a:defRPr>
            </a:pPr>
            <a:r>
              <a:rPr sz="1500" b="0">
                <a:solidFill>
                  <a:srgbClr val="606874"/>
                </a:solidFill>
              </a:rPr>
              <a:t>Используйте алгоритм как рабочий сценарий —</a:t>
            </a:r>
          </a:p>
          <a:p xmlns:a="http://schemas.openxmlformats.org/drawingml/2006/main">
            <a:pPr algn="l">
              <a:defRPr sz="1500" b="0">
                <a:solidFill>
                  <a:srgbClr val="606874"/>
                </a:solidFill>
              </a:defRPr>
            </a:pPr>
            <a:r>
              <a:rPr sz="1500" b="0">
                <a:solidFill>
                  <a:srgbClr val="606874"/>
                </a:solidFill>
              </a:rPr>
              <a:t>и закрепите навык в реальной деятельности сотрудника.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4863A-9D31-4467-891C-14EBA26F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B9FFF-FF95-4773-9ECC-1638BDAD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D12"/>
                </a:solidFill>
              </a:defRPr>
            </a:pPr>
            <a:r>
              <a:rPr sz="1275" b="1">
                <a:solidFill>
                  <a:srgbClr val="0A0D12"/>
                </a:solidFill>
              </a:rPr>
              <a:t>Выберите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6995F-D3E0-4063-A851-DEFA53DC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100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874"/>
                </a:solidFill>
              </a:defRPr>
            </a:pPr>
            <a:r>
              <a:rPr sz="1200" b="0">
                <a:solidFill>
                  <a:srgbClr val="606874"/>
                </a:solidFill>
              </a:rPr>
              <a:t>один дефицитный блок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8F97E-F2A3-4475-8561-EF14120B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434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87715-226C-41FF-A229-A7B75CFE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D12"/>
                </a:solidFill>
              </a:defRPr>
            </a:pPr>
            <a:r>
              <a:rPr sz="1275" b="1">
                <a:solidFill>
                  <a:srgbClr val="0A0D12"/>
                </a:solidFill>
              </a:rPr>
              <a:t>Сформулируйте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A8400-379B-42DC-AC51-BE9B4398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2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874"/>
                </a:solidFill>
              </a:defRPr>
            </a:pPr>
            <a:r>
              <a:rPr sz="1200" b="0">
                <a:solidFill>
                  <a:srgbClr val="606874"/>
                </a:solidFill>
              </a:rPr>
              <a:t>цель и критерии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ADC85-25A5-4426-8B3E-B281707B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0F816-A5FB-406A-99D5-149B7EC0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D12"/>
                </a:solidFill>
              </a:defRPr>
            </a:pPr>
            <a:r>
              <a:rPr sz="1275" b="1">
                <a:solidFill>
                  <a:srgbClr val="0A0D12"/>
                </a:solidFill>
              </a:rPr>
              <a:t>Подготовьте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5D26C-E314-4014-85B9-160DC1F2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387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874"/>
                </a:solidFill>
              </a:defRPr>
            </a:pPr>
            <a:r>
              <a:rPr sz="1200" b="0">
                <a:solidFill>
                  <a:srgbClr val="606874"/>
                </a:solidFill>
              </a:rPr>
              <a:t>лекцию по конструктору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3D354-51D0-4710-AD95-2D84F788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72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D5201-83B0-4907-A6CD-86721B0D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D12"/>
                </a:solidFill>
              </a:defRPr>
            </a:pPr>
            <a:r>
              <a:rPr sz="1275" b="1">
                <a:solidFill>
                  <a:srgbClr val="0A0D12"/>
                </a:solidFill>
              </a:rPr>
              <a:t>Проведите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BB3B9-D532-4397-AA1B-09AB5BB2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530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874"/>
                </a:solidFill>
              </a:defRPr>
            </a:pPr>
            <a:r>
              <a:rPr sz="1200" b="0">
                <a:solidFill>
                  <a:srgbClr val="606874"/>
                </a:solidFill>
              </a:rPr>
              <a:t>практику и обратную связь</a:t>
            </a:r>
          </a:p>
        </p:txBody>
      </p:sp>
      <p:sp>
        <p:nvSpPr>
          <p:cNvPr id="18" name="closing-panel">
            <a:extLst xmlns:a="http://schemas.openxmlformats.org/drawingml/2006/main">
              <a:ext uri="{FF2B5EF4-FFF2-40B4-BE49-F238E27FC236}">
                <a16:creationId xmlns:a16="http://schemas.microsoft.com/office/drawing/2014/main" id="{2B4AE60E-9C0F-4028-A290-B0698B2D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38275"/>
            <a:ext cx="40957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1822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C684F-D0AE-446A-9B64-AAC54A62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</a:defRPr>
            </a:pPr>
            <a:r>
              <a:rPr sz="1050" b="1">
                <a:solidFill>
                  <a:srgbClr val="6DCBF4"/>
                </a:solidFill>
              </a:rPr>
              <a:t>РАБОЧАЯ</a:t>
            </a:r>
          </a:p>
          <a:p xmlns:a="http://schemas.openxmlformats.org/drawingml/2006/main">
            <a:pPr algn="l">
              <a:defRPr sz="1050" b="1">
                <a:solidFill>
                  <a:srgbClr val="6DCBF4"/>
                </a:solidFill>
              </a:defRPr>
            </a:pPr>
            <a:r>
              <a:rPr sz="1050" b="1">
                <a:solidFill>
                  <a:srgbClr val="6DCBF4"/>
                </a:solidFill>
              </a:rPr>
              <a:t>ФОРМУЛА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AA3DC1-995D-46C6-831B-90B39277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Расскажу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350075-E9B2-4DE8-8E8A-BA9FB682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DCBF4"/>
                </a:solidFill>
              </a:defRPr>
            </a:pPr>
            <a:r>
              <a:rPr sz="2025" b="1">
                <a:solidFill>
                  <a:srgbClr val="6DCBF4"/>
                </a:solidFill>
              </a:rPr>
              <a:t>Покажу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DCCE69-3BB1-433F-BC90-5DBC0A62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Сделаем вместе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78F743-B28C-40B1-8485-BB3C5121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DCBF4"/>
                </a:solidFill>
              </a:defRPr>
            </a:pPr>
            <a:r>
              <a:rPr sz="2025" b="1">
                <a:solidFill>
                  <a:srgbClr val="6DCBF4"/>
                </a:solidFill>
              </a:rPr>
              <a:t>Сделай сам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D59F98-7B52-43E5-8A7D-CC43AB74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EE9"/>
                </a:solidFill>
              </a:defRPr>
            </a:pPr>
            <a:r>
              <a:rPr sz="1200" b="0">
                <a:solidFill>
                  <a:srgbClr val="D7DEE9"/>
                </a:solidFill>
              </a:rPr>
              <a:t>→ закрепляем в реальной работе</a:t>
            </a: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6F17243C-53DE-4880-8DB0-4F350933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E2CA5B-AA38-4405-84E1-6BE3AB6A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6874"/>
                </a:solidFill>
              </a:defRPr>
            </a:pPr>
            <a:r>
              <a:rPr sz="750" b="0">
                <a:solidFill>
                  <a:srgbClr val="606874"/>
                </a:solidFill>
              </a:rPr>
              <a:t>Главный результат обучения — сотрудник применяет нужное действие без подсказок.</a:t>
            </a:r>
          </a:p>
        </p:txBody>
      </p:sp>
    </p:spTree>
    <p:extLst>
      <p:ext uri="{BB962C8B-B14F-4D97-AF65-F5344CB8AC3E}">
        <p14:creationId xmlns:p14="http://schemas.microsoft.com/office/powerpoint/2010/main" val="2136926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2026-09-03T08:50:16.5080000Z</dcterms:created>
  <dcterms:modified xsi:type="dcterms:W3CDTF">2026-09-03T08:50:16.5080000Z</dcterms:modified>
</coreProperties>
</file>