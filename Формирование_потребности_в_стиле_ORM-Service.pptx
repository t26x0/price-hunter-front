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6"/>
  </p:normalViewPr>
  <p:slideViewPr>
    <p:cSldViewPr snapToGrid="0">
      <p:cViewPr varScale="1">
        <p:scale>
          <a:sx n="114" d="100"/>
          <a:sy n="114" d="100"/>
        </p:scale>
        <p:origin x="4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C8CF6A23-BCC5-46D5-A0E7-C4432FD34481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82DD0E6-8B1C-4FD4-BACA-FDD449751A81}"/>
              </a:ext>
            </a:extLst>
          </p:cNvPr>
          <p:cNvSpPr>
            <a:spLocks noGrp="1"/>
          </p:cNvSpPr>
          <p:nvPr/>
        </p:nvSpPr>
        <p:spPr>
          <a:xfrm>
            <a:off x="76962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100A9CB-14FA-47CE-878C-5769051345A9}"/>
              </a:ext>
            </a:extLst>
          </p:cNvPr>
          <p:cNvSpPr>
            <a:spLocks noGrp="1"/>
          </p:cNvSpPr>
          <p:nvPr/>
        </p:nvSpPr>
        <p:spPr>
          <a:xfrm>
            <a:off x="81534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0EE4123-4C9C-4B05-B14B-B244207E954A}"/>
              </a:ext>
            </a:extLst>
          </p:cNvPr>
          <p:cNvSpPr>
            <a:spLocks noGrp="1"/>
          </p:cNvSpPr>
          <p:nvPr/>
        </p:nvSpPr>
        <p:spPr>
          <a:xfrm>
            <a:off x="86106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0F6AD41-43F1-455A-BE4C-D373E2AD5217}"/>
              </a:ext>
            </a:extLst>
          </p:cNvPr>
          <p:cNvSpPr>
            <a:spLocks noGrp="1"/>
          </p:cNvSpPr>
          <p:nvPr/>
        </p:nvSpPr>
        <p:spPr>
          <a:xfrm>
            <a:off x="90678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FF8A800-DD1E-4336-B58D-EEC722586592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F901B14-BE4F-4CBF-A487-AD9293A717B5}"/>
              </a:ext>
            </a:extLst>
          </p:cNvPr>
          <p:cNvSpPr>
            <a:spLocks noGrp="1"/>
          </p:cNvSpPr>
          <p:nvPr/>
        </p:nvSpPr>
        <p:spPr>
          <a:xfrm>
            <a:off x="99822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B9C48E0-B44B-4FEE-B48D-623587B8E057}"/>
              </a:ext>
            </a:extLst>
          </p:cNvPr>
          <p:cNvSpPr>
            <a:spLocks noGrp="1"/>
          </p:cNvSpPr>
          <p:nvPr/>
        </p:nvSpPr>
        <p:spPr>
          <a:xfrm>
            <a:off x="104394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819F104-E885-4A6A-A80D-EA7ECE23BDAD}"/>
              </a:ext>
            </a:extLst>
          </p:cNvPr>
          <p:cNvSpPr>
            <a:spLocks noGrp="1"/>
          </p:cNvSpPr>
          <p:nvPr/>
        </p:nvSpPr>
        <p:spPr>
          <a:xfrm>
            <a:off x="108966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3DEB336-7AAD-4215-803C-ED76FB7D769E}"/>
              </a:ext>
            </a:extLst>
          </p:cNvPr>
          <p:cNvSpPr>
            <a:spLocks noGrp="1"/>
          </p:cNvSpPr>
          <p:nvPr/>
        </p:nvSpPr>
        <p:spPr>
          <a:xfrm>
            <a:off x="113538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2ABFE7F-A5D4-400B-9DB6-F8B6BDD48D7E}"/>
              </a:ext>
            </a:extLst>
          </p:cNvPr>
          <p:cNvSpPr>
            <a:spLocks noGrp="1"/>
          </p:cNvSpPr>
          <p:nvPr/>
        </p:nvSpPr>
        <p:spPr>
          <a:xfrm>
            <a:off x="118110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832F9475-F2B0-487D-B5C6-00F74B6A233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706">
              <a:alpha val="66667"/>
            </a:srgbClr>
          </a:solidFill>
          <a:ln w="9525">
            <a:solidFill>
              <a:srgbClr val="050706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B94D2D9-F5F3-4FC4-AD83-4256C0B1941D}"/>
              </a:ext>
            </a:extLst>
          </p:cNvPr>
          <p:cNvSpPr>
            <a:spLocks noGrp="1"/>
          </p:cNvSpPr>
          <p:nvPr/>
        </p:nvSpPr>
        <p:spPr>
          <a:xfrm>
            <a:off x="438150" y="266700"/>
            <a:ext cx="2524125" cy="266700"/>
          </a:xfrm>
          <a:prstGeom prst="rect">
            <a:avLst/>
          </a:prstGeom>
          <a:solidFill>
            <a:srgbClr val="163A08"/>
          </a:solidFill>
          <a:ln w="9525">
            <a:solidFill>
              <a:srgbClr val="62D218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64A610E-0D57-4D13-B30E-551FF6A52C1D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2333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900" b="1">
                <a:solidFill>
                  <a:srgbClr val="E8F8DF"/>
                </a:solidFill>
                <a:latin typeface="Arial"/>
                <a:ea typeface="Arial"/>
                <a:cs typeface="Arial"/>
              </a:defRPr>
            </a:pPr>
            <a:r>
              <a:t>ОБУЧЕНИЕ ОТДЕЛА ПРОДАЖ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5A08272-4E9B-4DEB-A7F0-E8D21FC67D1E}"/>
              </a:ext>
            </a:extLst>
          </p:cNvPr>
          <p:cNvSpPr>
            <a:spLocks noGrp="1"/>
          </p:cNvSpPr>
          <p:nvPr/>
        </p:nvSpPr>
        <p:spPr>
          <a:xfrm>
            <a:off x="11334750" y="285750"/>
            <a:ext cx="428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r">
              <a:defRPr sz="975" b="1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411CE446-F7C9-4F40-A864-7A99C00F4387}"/>
              </a:ext>
            </a:extLst>
          </p:cNvPr>
          <p:cNvSpPr>
            <a:spLocks noGrp="1"/>
          </p:cNvSpPr>
          <p:nvPr/>
        </p:nvSpPr>
        <p:spPr>
          <a:xfrm>
            <a:off x="495300" y="2047875"/>
            <a:ext cx="8096250" cy="18097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43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ФОРМИРОВАНИЕ
ПОТРЕБНОСТИ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80E3F003-3659-4302-A4DD-2D80230EAF79}"/>
              </a:ext>
            </a:extLst>
          </p:cNvPr>
          <p:cNvSpPr>
            <a:spLocks noGrp="1"/>
          </p:cNvSpPr>
          <p:nvPr/>
        </p:nvSpPr>
        <p:spPr>
          <a:xfrm>
            <a:off x="523875" y="4171950"/>
            <a:ext cx="6096000" cy="4191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875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Модуль «Управление профилем»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FBE4E2E9-60E4-4A8A-A76A-39A6C2077857}"/>
              </a:ext>
            </a:extLst>
          </p:cNvPr>
          <p:cNvSpPr>
            <a:spLocks noGrp="1"/>
          </p:cNvSpPr>
          <p:nvPr/>
        </p:nvSpPr>
        <p:spPr>
          <a:xfrm>
            <a:off x="523875" y="5000625"/>
            <a:ext cx="4762500" cy="47625"/>
          </a:xfrm>
          <a:prstGeom prst="rect">
            <a:avLst/>
          </a:prstGeom>
          <a:solidFill>
            <a:srgbClr val="62D218"/>
          </a:solidFill>
          <a:ln w="9525">
            <a:solidFill>
              <a:srgbClr val="62D218"/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EBE453E8-F626-42AF-9007-98A955C0E930}"/>
              </a:ext>
            </a:extLst>
          </p:cNvPr>
          <p:cNvSpPr>
            <a:spLocks noGrp="1"/>
          </p:cNvSpPr>
          <p:nvPr/>
        </p:nvSpPr>
        <p:spPr>
          <a:xfrm>
            <a:off x="523875" y="5257800"/>
            <a:ext cx="6667500" cy="4000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650" b="1">
                <a:solidFill>
                  <a:srgbClr val="E8F8DF"/>
                </a:solidFill>
                <a:latin typeface="Arial"/>
                <a:ea typeface="Arial"/>
                <a:cs typeface="Arial"/>
              </a:defRPr>
            </a:pPr>
            <a:r>
              <a:t>Факты → последствия → готовность решать</a:t>
            </a:r>
          </a:p>
        </p:txBody>
      </p:sp>
    </p:spTree>
    <p:extLst>
      <p:ext uri="{BB962C8B-B14F-4D97-AF65-F5344CB8AC3E}">
        <p14:creationId xmlns:p14="http://schemas.microsoft.com/office/powerpoint/2010/main" val="1874854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2CCE2337-4CCC-42CE-9788-3E81613CDD51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E7F780F-F60E-4F31-BED1-A0B18CAF1470}"/>
              </a:ext>
            </a:extLst>
          </p:cNvPr>
          <p:cNvSpPr>
            <a:spLocks noGrp="1"/>
          </p:cNvSpPr>
          <p:nvPr/>
        </p:nvSpPr>
        <p:spPr>
          <a:xfrm>
            <a:off x="76962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B3FC843-5615-4C12-8566-E37D2564070C}"/>
              </a:ext>
            </a:extLst>
          </p:cNvPr>
          <p:cNvSpPr>
            <a:spLocks noGrp="1"/>
          </p:cNvSpPr>
          <p:nvPr/>
        </p:nvSpPr>
        <p:spPr>
          <a:xfrm>
            <a:off x="81534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41EA515-0E2A-42A7-B5BC-4A325E4CAA17}"/>
              </a:ext>
            </a:extLst>
          </p:cNvPr>
          <p:cNvSpPr>
            <a:spLocks noGrp="1"/>
          </p:cNvSpPr>
          <p:nvPr/>
        </p:nvSpPr>
        <p:spPr>
          <a:xfrm>
            <a:off x="86106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32826F0-E583-4A27-A920-B78356FA3437}"/>
              </a:ext>
            </a:extLst>
          </p:cNvPr>
          <p:cNvSpPr>
            <a:spLocks noGrp="1"/>
          </p:cNvSpPr>
          <p:nvPr/>
        </p:nvSpPr>
        <p:spPr>
          <a:xfrm>
            <a:off x="90678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39DBCA0-DD1D-4520-9F0F-0FF71BE98693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E049142-9C84-4A9B-92C1-62C222A9A582}"/>
              </a:ext>
            </a:extLst>
          </p:cNvPr>
          <p:cNvSpPr>
            <a:spLocks noGrp="1"/>
          </p:cNvSpPr>
          <p:nvPr/>
        </p:nvSpPr>
        <p:spPr>
          <a:xfrm>
            <a:off x="99822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1DB380B-0762-4439-A4AD-0E78D224205B}"/>
              </a:ext>
            </a:extLst>
          </p:cNvPr>
          <p:cNvSpPr>
            <a:spLocks noGrp="1"/>
          </p:cNvSpPr>
          <p:nvPr/>
        </p:nvSpPr>
        <p:spPr>
          <a:xfrm>
            <a:off x="104394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E487438-E981-4E44-86D9-984551B31EA5}"/>
              </a:ext>
            </a:extLst>
          </p:cNvPr>
          <p:cNvSpPr>
            <a:spLocks noGrp="1"/>
          </p:cNvSpPr>
          <p:nvPr/>
        </p:nvSpPr>
        <p:spPr>
          <a:xfrm>
            <a:off x="108966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0194761-1DF5-490F-94B7-9033A0A31BC3}"/>
              </a:ext>
            </a:extLst>
          </p:cNvPr>
          <p:cNvSpPr>
            <a:spLocks noGrp="1"/>
          </p:cNvSpPr>
          <p:nvPr/>
        </p:nvSpPr>
        <p:spPr>
          <a:xfrm>
            <a:off x="113538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EF2F72F-FB63-4B44-A77A-E128B866B44B}"/>
              </a:ext>
            </a:extLst>
          </p:cNvPr>
          <p:cNvSpPr>
            <a:spLocks noGrp="1"/>
          </p:cNvSpPr>
          <p:nvPr/>
        </p:nvSpPr>
        <p:spPr>
          <a:xfrm>
            <a:off x="118110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FEC09E-91AB-48DE-8ED9-DB2D92847F2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706">
              <a:alpha val="66667"/>
            </a:srgbClr>
          </a:solidFill>
          <a:ln w="9525">
            <a:solidFill>
              <a:srgbClr val="050706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6A3C9FBC-A9C1-4F80-B658-E052017BACD9}"/>
              </a:ext>
            </a:extLst>
          </p:cNvPr>
          <p:cNvSpPr>
            <a:spLocks noGrp="1"/>
          </p:cNvSpPr>
          <p:nvPr/>
        </p:nvSpPr>
        <p:spPr>
          <a:xfrm>
            <a:off x="438150" y="266700"/>
            <a:ext cx="2524125" cy="266700"/>
          </a:xfrm>
          <a:prstGeom prst="rect">
            <a:avLst/>
          </a:prstGeom>
          <a:solidFill>
            <a:srgbClr val="163A08"/>
          </a:solidFill>
          <a:ln w="9525">
            <a:solidFill>
              <a:srgbClr val="62D218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EC6BC37-2F82-404A-8C6F-CF1F22629020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2333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900" b="1">
                <a:solidFill>
                  <a:srgbClr val="E8F8DF"/>
                </a:solidFill>
                <a:latin typeface="Arial"/>
                <a:ea typeface="Arial"/>
                <a:cs typeface="Arial"/>
              </a:defRPr>
            </a:pPr>
            <a:r>
              <a:t>ФОРМИРОВАНИЕ ПОТРЕБНОСТИ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50D03611-C69E-479A-A64A-BCC03CCD0E08}"/>
              </a:ext>
            </a:extLst>
          </p:cNvPr>
          <p:cNvSpPr>
            <a:spLocks noGrp="1"/>
          </p:cNvSpPr>
          <p:nvPr/>
        </p:nvSpPr>
        <p:spPr>
          <a:xfrm>
            <a:off x="11334750" y="285750"/>
            <a:ext cx="428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r">
              <a:defRPr sz="975" b="1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84ECC03C-E89C-414B-B124-5037CEE2E0C9}"/>
              </a:ext>
            </a:extLst>
          </p:cNvPr>
          <p:cNvSpPr>
            <a:spLocks noGrp="1"/>
          </p:cNvSpPr>
          <p:nvPr/>
        </p:nvSpPr>
        <p:spPr>
          <a:xfrm>
            <a:off x="457200" y="742950"/>
            <a:ext cx="11049000" cy="7810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28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ЧТО И КАК БУДЕТ ПРОИСХОДИТЬ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CAC68170-D237-48B4-9409-7CB30BB62130}"/>
              </a:ext>
            </a:extLst>
          </p:cNvPr>
          <p:cNvSpPr>
            <a:spLocks noGrp="1"/>
          </p:cNvSpPr>
          <p:nvPr/>
        </p:nvSpPr>
        <p:spPr>
          <a:xfrm>
            <a:off x="523875" y="1952625"/>
            <a:ext cx="5238750" cy="3429000"/>
          </a:xfrm>
          <a:prstGeom prst="rect">
            <a:avLst/>
          </a:prstGeom>
          <a:solidFill>
            <a:srgbClr val="0B0F0C"/>
          </a:solidFill>
          <a:ln w="9525">
            <a:solidFill>
              <a:srgbClr val="325A20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F2BFD79-8C63-4D19-A573-E77BEFA9032B}"/>
              </a:ext>
            </a:extLst>
          </p:cNvPr>
          <p:cNvSpPr>
            <a:spLocks noGrp="1"/>
          </p:cNvSpPr>
          <p:nvPr/>
        </p:nvSpPr>
        <p:spPr>
          <a:xfrm>
            <a:off x="733425" y="2124075"/>
            <a:ext cx="4819650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ПЛАН ВСТРЕЧИ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171E828B-DBA2-433B-8714-31AE92807D82}"/>
              </a:ext>
            </a:extLst>
          </p:cNvPr>
          <p:cNvSpPr>
            <a:spLocks noGrp="1"/>
          </p:cNvSpPr>
          <p:nvPr/>
        </p:nvSpPr>
        <p:spPr>
          <a:xfrm>
            <a:off x="733425" y="2543175"/>
            <a:ext cx="4819650" cy="26860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Сейчас расскажу, что такое потребность; разберём алгоритм формирования потребности и примеры формулировок; разберём запись по формированию потребности; затем отыграем ролевую игру.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051EA5D5-1EF9-4539-8EDF-6AC9156E6935}"/>
              </a:ext>
            </a:extLst>
          </p:cNvPr>
          <p:cNvSpPr>
            <a:spLocks noGrp="1"/>
          </p:cNvSpPr>
          <p:nvPr/>
        </p:nvSpPr>
        <p:spPr>
          <a:xfrm>
            <a:off x="6000750" y="1952625"/>
            <a:ext cx="5429250" cy="3429000"/>
          </a:xfrm>
          <a:prstGeom prst="rect">
            <a:avLst/>
          </a:prstGeom>
          <a:solidFill>
            <a:srgbClr val="0B0F0C"/>
          </a:solidFill>
          <a:ln w="9525">
            <a:solidFill>
              <a:srgbClr val="325A20"/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BD0B480C-ECCB-4C44-8C06-1FCC1ACAAC0F}"/>
              </a:ext>
            </a:extLst>
          </p:cNvPr>
          <p:cNvSpPr>
            <a:spLocks noGrp="1"/>
          </p:cNvSpPr>
          <p:nvPr/>
        </p:nvSpPr>
        <p:spPr>
          <a:xfrm>
            <a:off x="6210300" y="2124075"/>
            <a:ext cx="5010150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ЧТО ЖДУ ОТ ТЕБЯ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D6B9BF0-5732-4418-B540-0E5F568755C0}"/>
              </a:ext>
            </a:extLst>
          </p:cNvPr>
          <p:cNvSpPr>
            <a:spLocks noGrp="1"/>
          </p:cNvSpPr>
          <p:nvPr/>
        </p:nvSpPr>
        <p:spPr>
          <a:xfrm>
            <a:off x="6210300" y="2543175"/>
            <a:ext cx="5010150" cy="26860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Максимальной вовлеченности. Если что-то непонятно — задавай вопросы и записывай в тетрадь.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D792FBC9-DB14-4245-B6CA-E2D4A88A3035}"/>
              </a:ext>
            </a:extLst>
          </p:cNvPr>
          <p:cNvSpPr>
            <a:spLocks noGrp="1"/>
          </p:cNvSpPr>
          <p:nvPr/>
        </p:nvSpPr>
        <p:spPr>
          <a:xfrm>
            <a:off x="571500" y="5762625"/>
            <a:ext cx="10477500" cy="428625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ctr">
              <a:defRPr sz="2025" b="1">
                <a:solidFill>
                  <a:srgbClr val="62D218"/>
                </a:solidFill>
                <a:latin typeface="Arial"/>
                <a:ea typeface="Arial"/>
                <a:cs typeface="Arial"/>
              </a:defRPr>
            </a:pPr>
            <a:r>
              <a:t>Есть вопросы? Готов начать?</a:t>
            </a:r>
          </a:p>
        </p:txBody>
      </p:sp>
    </p:spTree>
    <p:extLst>
      <p:ext uri="{BB962C8B-B14F-4D97-AF65-F5344CB8AC3E}">
        <p14:creationId xmlns:p14="http://schemas.microsoft.com/office/powerpoint/2010/main" val="1734972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4344BAC2-9EE0-4F47-ADB2-D762A84BD995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518795B-1AD2-4D54-ADDB-7444AB38B177}"/>
              </a:ext>
            </a:extLst>
          </p:cNvPr>
          <p:cNvSpPr>
            <a:spLocks noGrp="1"/>
          </p:cNvSpPr>
          <p:nvPr/>
        </p:nvSpPr>
        <p:spPr>
          <a:xfrm>
            <a:off x="76962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581DA6B-9979-4A51-8B0C-75418F8853DE}"/>
              </a:ext>
            </a:extLst>
          </p:cNvPr>
          <p:cNvSpPr>
            <a:spLocks noGrp="1"/>
          </p:cNvSpPr>
          <p:nvPr/>
        </p:nvSpPr>
        <p:spPr>
          <a:xfrm>
            <a:off x="81534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5C9C016-B714-4532-A2F2-209507812960}"/>
              </a:ext>
            </a:extLst>
          </p:cNvPr>
          <p:cNvSpPr>
            <a:spLocks noGrp="1"/>
          </p:cNvSpPr>
          <p:nvPr/>
        </p:nvSpPr>
        <p:spPr>
          <a:xfrm>
            <a:off x="86106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5CDF49E-DE8C-439C-AB5B-90B121EB5F5E}"/>
              </a:ext>
            </a:extLst>
          </p:cNvPr>
          <p:cNvSpPr>
            <a:spLocks noGrp="1"/>
          </p:cNvSpPr>
          <p:nvPr/>
        </p:nvSpPr>
        <p:spPr>
          <a:xfrm>
            <a:off x="90678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5CE1690-502A-443D-BCD6-117D46EFC192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8709912-3286-4929-B347-AA38E04A56AF}"/>
              </a:ext>
            </a:extLst>
          </p:cNvPr>
          <p:cNvSpPr>
            <a:spLocks noGrp="1"/>
          </p:cNvSpPr>
          <p:nvPr/>
        </p:nvSpPr>
        <p:spPr>
          <a:xfrm>
            <a:off x="99822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DEF7C13-4AA3-4762-B99E-A08D73AF0F1E}"/>
              </a:ext>
            </a:extLst>
          </p:cNvPr>
          <p:cNvSpPr>
            <a:spLocks noGrp="1"/>
          </p:cNvSpPr>
          <p:nvPr/>
        </p:nvSpPr>
        <p:spPr>
          <a:xfrm>
            <a:off x="104394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2C5FAEE-D5A2-4074-942A-B6BBD0496E5C}"/>
              </a:ext>
            </a:extLst>
          </p:cNvPr>
          <p:cNvSpPr>
            <a:spLocks noGrp="1"/>
          </p:cNvSpPr>
          <p:nvPr/>
        </p:nvSpPr>
        <p:spPr>
          <a:xfrm>
            <a:off x="108966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ED96F00-25B7-479D-A2DF-FC21E1612B05}"/>
              </a:ext>
            </a:extLst>
          </p:cNvPr>
          <p:cNvSpPr>
            <a:spLocks noGrp="1"/>
          </p:cNvSpPr>
          <p:nvPr/>
        </p:nvSpPr>
        <p:spPr>
          <a:xfrm>
            <a:off x="113538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E477EC3-8260-4B76-BC78-1505339734C8}"/>
              </a:ext>
            </a:extLst>
          </p:cNvPr>
          <p:cNvSpPr>
            <a:spLocks noGrp="1"/>
          </p:cNvSpPr>
          <p:nvPr/>
        </p:nvSpPr>
        <p:spPr>
          <a:xfrm>
            <a:off x="118110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AB8296C-3110-4E2E-82B0-21C43180520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706">
              <a:alpha val="66667"/>
            </a:srgbClr>
          </a:solidFill>
          <a:ln w="9525">
            <a:solidFill>
              <a:srgbClr val="050706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CBCE00E-2E7F-452F-A3AF-86A958F9E39D}"/>
              </a:ext>
            </a:extLst>
          </p:cNvPr>
          <p:cNvSpPr>
            <a:spLocks noGrp="1"/>
          </p:cNvSpPr>
          <p:nvPr/>
        </p:nvSpPr>
        <p:spPr>
          <a:xfrm>
            <a:off x="438150" y="266700"/>
            <a:ext cx="2524125" cy="266700"/>
          </a:xfrm>
          <a:prstGeom prst="rect">
            <a:avLst/>
          </a:prstGeom>
          <a:solidFill>
            <a:srgbClr val="163A08"/>
          </a:solidFill>
          <a:ln w="9525">
            <a:solidFill>
              <a:srgbClr val="62D218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ACB74A5-2552-40DC-A37C-ABA5FC0AE269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2333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900" b="1">
                <a:solidFill>
                  <a:srgbClr val="E8F8DF"/>
                </a:solidFill>
                <a:latin typeface="Arial"/>
                <a:ea typeface="Arial"/>
                <a:cs typeface="Arial"/>
              </a:defRPr>
            </a:pPr>
            <a:r>
              <a:t>ФОРМИРОВАНИЕ ПОТРЕБНОСТИ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E2BB2B22-5C69-4AB4-B226-7F0E2DFAEA94}"/>
              </a:ext>
            </a:extLst>
          </p:cNvPr>
          <p:cNvSpPr>
            <a:spLocks noGrp="1"/>
          </p:cNvSpPr>
          <p:nvPr/>
        </p:nvSpPr>
        <p:spPr>
          <a:xfrm>
            <a:off x="11334750" y="285750"/>
            <a:ext cx="428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r">
              <a:defRPr sz="975" b="1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9152C52B-6FD1-46AA-A84F-05964148F354}"/>
              </a:ext>
            </a:extLst>
          </p:cNvPr>
          <p:cNvSpPr>
            <a:spLocks noGrp="1"/>
          </p:cNvSpPr>
          <p:nvPr/>
        </p:nvSpPr>
        <p:spPr>
          <a:xfrm>
            <a:off x="457200" y="742950"/>
            <a:ext cx="11049000" cy="7810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28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ЧТО ТАКОЕ ПОТРЕБНОСТЬ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59C02D22-C069-44C1-989B-FC2A6888E052}"/>
              </a:ext>
            </a:extLst>
          </p:cNvPr>
          <p:cNvSpPr>
            <a:spLocks noGrp="1"/>
          </p:cNvSpPr>
          <p:nvPr/>
        </p:nvSpPr>
        <p:spPr>
          <a:xfrm>
            <a:off x="523875" y="1952625"/>
            <a:ext cx="10668000" cy="6286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21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Потребность — это нужда (нехватка чего-либо), требующая удовлетворения.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A49DDAAD-A9AB-459E-B9C4-679AFA904ACA}"/>
              </a:ext>
            </a:extLst>
          </p:cNvPr>
          <p:cNvSpPr>
            <a:spLocks noGrp="1"/>
          </p:cNvSpPr>
          <p:nvPr/>
        </p:nvSpPr>
        <p:spPr>
          <a:xfrm>
            <a:off x="523875" y="2952750"/>
            <a:ext cx="5191125" cy="2333625"/>
          </a:xfrm>
          <a:prstGeom prst="rect">
            <a:avLst/>
          </a:prstGeom>
          <a:solidFill>
            <a:srgbClr val="0B0F0C"/>
          </a:solidFill>
          <a:ln w="9525">
            <a:solidFill>
              <a:srgbClr val="325A20"/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E965F373-0BAB-4B93-825B-5AAC3BB989B9}"/>
              </a:ext>
            </a:extLst>
          </p:cNvPr>
          <p:cNvSpPr>
            <a:spLocks noGrp="1"/>
          </p:cNvSpPr>
          <p:nvPr/>
        </p:nvSpPr>
        <p:spPr>
          <a:xfrm>
            <a:off x="733425" y="3124200"/>
            <a:ext cx="4772025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СФОРМИРОВАННАЯ ПОТРЕБНОСТЬ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558A62A0-ECDF-4DFD-A6D1-A5A5A92AE042}"/>
              </a:ext>
            </a:extLst>
          </p:cNvPr>
          <p:cNvSpPr>
            <a:spLocks noGrp="1"/>
          </p:cNvSpPr>
          <p:nvPr/>
        </p:nvSpPr>
        <p:spPr>
          <a:xfrm>
            <a:off x="733425" y="3543300"/>
            <a:ext cx="4772025" cy="1590675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Осознанное понимание клиентом проблемы и последствий и готовность её решать.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5740780C-FB2E-41DF-9644-CB3F6F66DD98}"/>
              </a:ext>
            </a:extLst>
          </p:cNvPr>
          <p:cNvSpPr>
            <a:spLocks noGrp="1"/>
          </p:cNvSpPr>
          <p:nvPr/>
        </p:nvSpPr>
        <p:spPr>
          <a:xfrm>
            <a:off x="5953125" y="2952750"/>
            <a:ext cx="5476875" cy="2333625"/>
          </a:xfrm>
          <a:prstGeom prst="rect">
            <a:avLst/>
          </a:prstGeom>
          <a:solidFill>
            <a:srgbClr val="0B0F0C"/>
          </a:solidFill>
          <a:ln w="9525">
            <a:solidFill>
              <a:srgbClr val="325A20"/>
            </a:solidFill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EF245AB4-A4CB-4A95-8342-17D1DBD5AE61}"/>
              </a:ext>
            </a:extLst>
          </p:cNvPr>
          <p:cNvSpPr>
            <a:spLocks noGrp="1"/>
          </p:cNvSpPr>
          <p:nvPr/>
        </p:nvSpPr>
        <p:spPr>
          <a:xfrm>
            <a:off x="6162675" y="3124200"/>
            <a:ext cx="5057775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НЕСФОРМИРОВАННАЯ ПОТРЕБНОСТЬ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D112F35-C861-478A-A09A-482E750A1081}"/>
              </a:ext>
            </a:extLst>
          </p:cNvPr>
          <p:cNvSpPr>
            <a:spLocks noGrp="1"/>
          </p:cNvSpPr>
          <p:nvPr/>
        </p:nvSpPr>
        <p:spPr>
          <a:xfrm>
            <a:off x="6162675" y="3543300"/>
            <a:ext cx="5057775" cy="1590675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Непонимание клиентом проблемы и последствий и отсутствие готовности её решать.</a:t>
            </a:r>
          </a:p>
        </p:txBody>
      </p:sp>
    </p:spTree>
    <p:extLst>
      <p:ext uri="{BB962C8B-B14F-4D97-AF65-F5344CB8AC3E}">
        <p14:creationId xmlns:p14="http://schemas.microsoft.com/office/powerpoint/2010/main" val="2121896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F03C7684-4794-4BEF-A97A-6FF6489D3125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19A1DEB-EF6E-4178-871E-F5EAFB33CB89}"/>
              </a:ext>
            </a:extLst>
          </p:cNvPr>
          <p:cNvSpPr>
            <a:spLocks noGrp="1"/>
          </p:cNvSpPr>
          <p:nvPr/>
        </p:nvSpPr>
        <p:spPr>
          <a:xfrm>
            <a:off x="76962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F77AB50-FBD1-40F1-9C12-B3F0FC5B807B}"/>
              </a:ext>
            </a:extLst>
          </p:cNvPr>
          <p:cNvSpPr>
            <a:spLocks noGrp="1"/>
          </p:cNvSpPr>
          <p:nvPr/>
        </p:nvSpPr>
        <p:spPr>
          <a:xfrm>
            <a:off x="81534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4A01391-87B6-4208-B8B8-466F8A75E7A6}"/>
              </a:ext>
            </a:extLst>
          </p:cNvPr>
          <p:cNvSpPr>
            <a:spLocks noGrp="1"/>
          </p:cNvSpPr>
          <p:nvPr/>
        </p:nvSpPr>
        <p:spPr>
          <a:xfrm>
            <a:off x="86106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DF6CF3F-A2AF-48BB-B41F-DAA50B836EDD}"/>
              </a:ext>
            </a:extLst>
          </p:cNvPr>
          <p:cNvSpPr>
            <a:spLocks noGrp="1"/>
          </p:cNvSpPr>
          <p:nvPr/>
        </p:nvSpPr>
        <p:spPr>
          <a:xfrm>
            <a:off x="90678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8ABE835-2321-4236-9C5C-1D303F3EE196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3A46DF2-59DA-4F65-991B-842F7E251EC1}"/>
              </a:ext>
            </a:extLst>
          </p:cNvPr>
          <p:cNvSpPr>
            <a:spLocks noGrp="1"/>
          </p:cNvSpPr>
          <p:nvPr/>
        </p:nvSpPr>
        <p:spPr>
          <a:xfrm>
            <a:off x="99822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9955038-5C61-4EA9-93FA-FFBD968F13D4}"/>
              </a:ext>
            </a:extLst>
          </p:cNvPr>
          <p:cNvSpPr>
            <a:spLocks noGrp="1"/>
          </p:cNvSpPr>
          <p:nvPr/>
        </p:nvSpPr>
        <p:spPr>
          <a:xfrm>
            <a:off x="104394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F1D9548-F816-46BD-B6D2-9B55166A3E66}"/>
              </a:ext>
            </a:extLst>
          </p:cNvPr>
          <p:cNvSpPr>
            <a:spLocks noGrp="1"/>
          </p:cNvSpPr>
          <p:nvPr/>
        </p:nvSpPr>
        <p:spPr>
          <a:xfrm>
            <a:off x="108966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D519730-AD67-4648-8012-35942C3CAFBA}"/>
              </a:ext>
            </a:extLst>
          </p:cNvPr>
          <p:cNvSpPr>
            <a:spLocks noGrp="1"/>
          </p:cNvSpPr>
          <p:nvPr/>
        </p:nvSpPr>
        <p:spPr>
          <a:xfrm>
            <a:off x="113538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6347C03-33A3-4E2C-94D6-B255A6B2F44F}"/>
              </a:ext>
            </a:extLst>
          </p:cNvPr>
          <p:cNvSpPr>
            <a:spLocks noGrp="1"/>
          </p:cNvSpPr>
          <p:nvPr/>
        </p:nvSpPr>
        <p:spPr>
          <a:xfrm>
            <a:off x="118110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42148EF-CEE6-40D7-8BD1-CBA77FCB9D1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706">
              <a:alpha val="66667"/>
            </a:srgbClr>
          </a:solidFill>
          <a:ln w="9525">
            <a:solidFill>
              <a:srgbClr val="050706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0A602A8-C59C-40C1-8F1B-0537BAD151A5}"/>
              </a:ext>
            </a:extLst>
          </p:cNvPr>
          <p:cNvSpPr>
            <a:spLocks noGrp="1"/>
          </p:cNvSpPr>
          <p:nvPr/>
        </p:nvSpPr>
        <p:spPr>
          <a:xfrm>
            <a:off x="438150" y="266700"/>
            <a:ext cx="2524125" cy="266700"/>
          </a:xfrm>
          <a:prstGeom prst="rect">
            <a:avLst/>
          </a:prstGeom>
          <a:solidFill>
            <a:srgbClr val="163A08"/>
          </a:solidFill>
          <a:ln w="9525">
            <a:solidFill>
              <a:srgbClr val="62D218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3683037-40A1-4E9E-A5B8-F57AADAE664B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2333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900" b="1">
                <a:solidFill>
                  <a:srgbClr val="E8F8DF"/>
                </a:solidFill>
                <a:latin typeface="Arial"/>
                <a:ea typeface="Arial"/>
                <a:cs typeface="Arial"/>
              </a:defRPr>
            </a:pPr>
            <a:r>
              <a:t>ФОРМИРОВАНИЕ ПОТРЕБНОСТИ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6565500-3338-4AA5-B761-5C7A7B1A1070}"/>
              </a:ext>
            </a:extLst>
          </p:cNvPr>
          <p:cNvSpPr>
            <a:spLocks noGrp="1"/>
          </p:cNvSpPr>
          <p:nvPr/>
        </p:nvSpPr>
        <p:spPr>
          <a:xfrm>
            <a:off x="11334750" y="285750"/>
            <a:ext cx="428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r">
              <a:defRPr sz="975" b="1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0876248-6361-4E51-B71C-95E5F45202D9}"/>
              </a:ext>
            </a:extLst>
          </p:cNvPr>
          <p:cNvSpPr>
            <a:spLocks noGrp="1"/>
          </p:cNvSpPr>
          <p:nvPr/>
        </p:nvSpPr>
        <p:spPr>
          <a:xfrm>
            <a:off x="457200" y="742950"/>
            <a:ext cx="11049000" cy="7810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28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ЗАДАЧА ЭТАПА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7B75731A-46EC-4CDF-B4FD-50F0918FF58C}"/>
              </a:ext>
            </a:extLst>
          </p:cNvPr>
          <p:cNvSpPr>
            <a:spLocks noGrp="1"/>
          </p:cNvSpPr>
          <p:nvPr/>
        </p:nvSpPr>
        <p:spPr>
          <a:xfrm>
            <a:off x="523875" y="1952625"/>
            <a:ext cx="3381375" cy="2952750"/>
          </a:xfrm>
          <a:prstGeom prst="rect">
            <a:avLst/>
          </a:prstGeom>
          <a:solidFill>
            <a:srgbClr val="0B0F0C"/>
          </a:solidFill>
          <a:ln w="9525">
            <a:solidFill>
              <a:srgbClr val="325A20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06B5779-334B-44A4-A4EB-4F83E62C941E}"/>
              </a:ext>
            </a:extLst>
          </p:cNvPr>
          <p:cNvSpPr>
            <a:spLocks noGrp="1"/>
          </p:cNvSpPr>
          <p:nvPr/>
        </p:nvSpPr>
        <p:spPr>
          <a:xfrm>
            <a:off x="733425" y="2124075"/>
            <a:ext cx="2962275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ДЛЯ ЧЕГО НУЖЕН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0C219DB8-4503-44A8-AA5D-E9F72F205C10}"/>
              </a:ext>
            </a:extLst>
          </p:cNvPr>
          <p:cNvSpPr>
            <a:spLocks noGrp="1"/>
          </p:cNvSpPr>
          <p:nvPr/>
        </p:nvSpPr>
        <p:spPr>
          <a:xfrm>
            <a:off x="733425" y="2543175"/>
            <a:ext cx="2962275" cy="22098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Чтобы клиент увидел проблему, понял её влияние на бизнес и осознал необходимость её решения.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342D3454-3C6E-4E2B-84D4-ADD28489610B}"/>
              </a:ext>
            </a:extLst>
          </p:cNvPr>
          <p:cNvSpPr>
            <a:spLocks noGrp="1"/>
          </p:cNvSpPr>
          <p:nvPr/>
        </p:nvSpPr>
        <p:spPr>
          <a:xfrm>
            <a:off x="4095750" y="1952625"/>
            <a:ext cx="3381375" cy="2952750"/>
          </a:xfrm>
          <a:prstGeom prst="rect">
            <a:avLst/>
          </a:prstGeom>
          <a:solidFill>
            <a:srgbClr val="0B0F0C"/>
          </a:solidFill>
          <a:ln w="9525">
            <a:solidFill>
              <a:srgbClr val="325A20"/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EFA4CB3-0A75-454E-BAB2-6B2C13A21F32}"/>
              </a:ext>
            </a:extLst>
          </p:cNvPr>
          <p:cNvSpPr>
            <a:spLocks noGrp="1"/>
          </p:cNvSpPr>
          <p:nvPr/>
        </p:nvSpPr>
        <p:spPr>
          <a:xfrm>
            <a:off x="4305300" y="2124075"/>
            <a:ext cx="2962275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ЧТО ПРОИСХОДИТ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E65AEE60-C3C1-494C-873E-FA5949345518}"/>
              </a:ext>
            </a:extLst>
          </p:cNvPr>
          <p:cNvSpPr>
            <a:spLocks noGrp="1"/>
          </p:cNvSpPr>
          <p:nvPr/>
        </p:nvSpPr>
        <p:spPr>
          <a:xfrm>
            <a:off x="4305300" y="2543175"/>
            <a:ext cx="2962275" cy="22098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Клиент может не замечать проблему, не понимать её последствий или не считать решение приоритетным.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055F8695-5D12-47AB-9E1E-F4237F6F97F4}"/>
              </a:ext>
            </a:extLst>
          </p:cNvPr>
          <p:cNvSpPr>
            <a:spLocks noGrp="1"/>
          </p:cNvSpPr>
          <p:nvPr/>
        </p:nvSpPr>
        <p:spPr>
          <a:xfrm>
            <a:off x="7667625" y="1952625"/>
            <a:ext cx="3762375" cy="2952750"/>
          </a:xfrm>
          <a:prstGeom prst="rect">
            <a:avLst/>
          </a:prstGeom>
          <a:solidFill>
            <a:srgbClr val="0B0F0C"/>
          </a:solidFill>
          <a:ln w="9525">
            <a:solidFill>
              <a:srgbClr val="325A20"/>
            </a:solidFill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4481643C-164E-4576-8C62-EBB3642BC151}"/>
              </a:ext>
            </a:extLst>
          </p:cNvPr>
          <p:cNvSpPr>
            <a:spLocks noGrp="1"/>
          </p:cNvSpPr>
          <p:nvPr/>
        </p:nvSpPr>
        <p:spPr>
          <a:xfrm>
            <a:off x="7877175" y="2124075"/>
            <a:ext cx="3343275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К КАКОМУ СОСТОЯНИЮ ВЕДЁМ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256AD502-3144-42A2-BFC3-F92287989603}"/>
              </a:ext>
            </a:extLst>
          </p:cNvPr>
          <p:cNvSpPr>
            <a:spLocks noGrp="1"/>
          </p:cNvSpPr>
          <p:nvPr/>
        </p:nvSpPr>
        <p:spPr>
          <a:xfrm>
            <a:off x="7877175" y="2543175"/>
            <a:ext cx="3343275" cy="22098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«Я вижу проблему, понимаю её последствия и хочу узнать, как её можно решить».</a:t>
            </a:r>
          </a:p>
        </p:txBody>
      </p:sp>
    </p:spTree>
    <p:extLst>
      <p:ext uri="{BB962C8B-B14F-4D97-AF65-F5344CB8AC3E}">
        <p14:creationId xmlns:p14="http://schemas.microsoft.com/office/powerpoint/2010/main" val="151375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E98AFCB4-9A27-4706-9C8F-B175EEED8471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EF2C16B-0D23-41FA-B3F4-F2D1F3E2F6CC}"/>
              </a:ext>
            </a:extLst>
          </p:cNvPr>
          <p:cNvSpPr>
            <a:spLocks noGrp="1"/>
          </p:cNvSpPr>
          <p:nvPr/>
        </p:nvSpPr>
        <p:spPr>
          <a:xfrm>
            <a:off x="76962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159D535-2C6D-4E65-B918-A010A91BB833}"/>
              </a:ext>
            </a:extLst>
          </p:cNvPr>
          <p:cNvSpPr>
            <a:spLocks noGrp="1"/>
          </p:cNvSpPr>
          <p:nvPr/>
        </p:nvSpPr>
        <p:spPr>
          <a:xfrm>
            <a:off x="81534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CE0A616-DBB8-4C1E-939E-EDAB5A1C12B7}"/>
              </a:ext>
            </a:extLst>
          </p:cNvPr>
          <p:cNvSpPr>
            <a:spLocks noGrp="1"/>
          </p:cNvSpPr>
          <p:nvPr/>
        </p:nvSpPr>
        <p:spPr>
          <a:xfrm>
            <a:off x="86106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5A408AC-E909-4F4E-B80A-324833FA0C64}"/>
              </a:ext>
            </a:extLst>
          </p:cNvPr>
          <p:cNvSpPr>
            <a:spLocks noGrp="1"/>
          </p:cNvSpPr>
          <p:nvPr/>
        </p:nvSpPr>
        <p:spPr>
          <a:xfrm>
            <a:off x="90678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2C55FC4-27D9-4B10-8F86-C07BE8FE88E5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1DF43DC-9468-423C-A789-3738441575D0}"/>
              </a:ext>
            </a:extLst>
          </p:cNvPr>
          <p:cNvSpPr>
            <a:spLocks noGrp="1"/>
          </p:cNvSpPr>
          <p:nvPr/>
        </p:nvSpPr>
        <p:spPr>
          <a:xfrm>
            <a:off x="99822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1B3B692-1442-4A64-AECF-1F0977C35A5C}"/>
              </a:ext>
            </a:extLst>
          </p:cNvPr>
          <p:cNvSpPr>
            <a:spLocks noGrp="1"/>
          </p:cNvSpPr>
          <p:nvPr/>
        </p:nvSpPr>
        <p:spPr>
          <a:xfrm>
            <a:off x="104394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0F0F26E-5F00-4888-9F24-F8ED4B6CB49B}"/>
              </a:ext>
            </a:extLst>
          </p:cNvPr>
          <p:cNvSpPr>
            <a:spLocks noGrp="1"/>
          </p:cNvSpPr>
          <p:nvPr/>
        </p:nvSpPr>
        <p:spPr>
          <a:xfrm>
            <a:off x="108966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DA0A083-8813-4286-BE48-85EB92EEE610}"/>
              </a:ext>
            </a:extLst>
          </p:cNvPr>
          <p:cNvSpPr>
            <a:spLocks noGrp="1"/>
          </p:cNvSpPr>
          <p:nvPr/>
        </p:nvSpPr>
        <p:spPr>
          <a:xfrm>
            <a:off x="113538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4603AAF-701C-473D-87E6-4197D7715111}"/>
              </a:ext>
            </a:extLst>
          </p:cNvPr>
          <p:cNvSpPr>
            <a:spLocks noGrp="1"/>
          </p:cNvSpPr>
          <p:nvPr/>
        </p:nvSpPr>
        <p:spPr>
          <a:xfrm>
            <a:off x="118110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524B17D-79AB-4DCF-BAE5-55AD2DC2957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706">
              <a:alpha val="66667"/>
            </a:srgbClr>
          </a:solidFill>
          <a:ln w="9525">
            <a:solidFill>
              <a:srgbClr val="050706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0C61C87-962C-4558-9B82-4D26F7B24032}"/>
              </a:ext>
            </a:extLst>
          </p:cNvPr>
          <p:cNvSpPr>
            <a:spLocks noGrp="1"/>
          </p:cNvSpPr>
          <p:nvPr/>
        </p:nvSpPr>
        <p:spPr>
          <a:xfrm>
            <a:off x="438150" y="266700"/>
            <a:ext cx="2524125" cy="266700"/>
          </a:xfrm>
          <a:prstGeom prst="rect">
            <a:avLst/>
          </a:prstGeom>
          <a:solidFill>
            <a:srgbClr val="163A08"/>
          </a:solidFill>
          <a:ln w="9525">
            <a:solidFill>
              <a:srgbClr val="62D218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7B8FC9B-6ED7-4654-90E7-80CC1B75973F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2333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900" b="1">
                <a:solidFill>
                  <a:srgbClr val="E8F8DF"/>
                </a:solidFill>
                <a:latin typeface="Arial"/>
                <a:ea typeface="Arial"/>
                <a:cs typeface="Arial"/>
              </a:defRPr>
            </a:pPr>
            <a:r>
              <a:t>ФОРМИРОВАНИЕ ПОТРЕБНОСТИ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EC17CD8-9376-419E-AEC0-CED3508AC2CE}"/>
              </a:ext>
            </a:extLst>
          </p:cNvPr>
          <p:cNvSpPr>
            <a:spLocks noGrp="1"/>
          </p:cNvSpPr>
          <p:nvPr/>
        </p:nvSpPr>
        <p:spPr>
          <a:xfrm>
            <a:off x="11334750" y="285750"/>
            <a:ext cx="428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r">
              <a:defRPr sz="975" b="1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8FB6205E-594E-46CA-AE0F-80922132B80E}"/>
              </a:ext>
            </a:extLst>
          </p:cNvPr>
          <p:cNvSpPr>
            <a:spLocks noGrp="1"/>
          </p:cNvSpPr>
          <p:nvPr/>
        </p:nvSpPr>
        <p:spPr>
          <a:xfrm>
            <a:off x="457200" y="742950"/>
            <a:ext cx="11049000" cy="7810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28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ПРАВИЛА И ПРИНЦИПЫ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C3ABE506-C64F-4C7D-B189-3D0D7FDDB56B}"/>
              </a:ext>
            </a:extLst>
          </p:cNvPr>
          <p:cNvSpPr>
            <a:spLocks noGrp="1"/>
          </p:cNvSpPr>
          <p:nvPr/>
        </p:nvSpPr>
        <p:spPr>
          <a:xfrm>
            <a:off x="571500" y="1952625"/>
            <a:ext cx="457200" cy="4572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950" b="1">
                <a:solidFill>
                  <a:srgbClr val="62D218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EA4A41E-BAE5-456B-BD28-F226C621F543}"/>
              </a:ext>
            </a:extLst>
          </p:cNvPr>
          <p:cNvSpPr>
            <a:spLocks noGrp="1"/>
          </p:cNvSpPr>
          <p:nvPr/>
        </p:nvSpPr>
        <p:spPr>
          <a:xfrm>
            <a:off x="1190625" y="1952625"/>
            <a:ext cx="9715500" cy="4762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725" b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Опираться на конкретные факты из карточки.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92C593E4-7AAF-43D8-B7E5-96B68E41A104}"/>
              </a:ext>
            </a:extLst>
          </p:cNvPr>
          <p:cNvSpPr>
            <a:spLocks noGrp="1"/>
          </p:cNvSpPr>
          <p:nvPr/>
        </p:nvSpPr>
        <p:spPr>
          <a:xfrm>
            <a:off x="571500" y="2695575"/>
            <a:ext cx="457200" cy="4572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950" b="1">
                <a:solidFill>
                  <a:srgbClr val="62D218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731B63BA-C1F6-4F8E-B1A1-2F7CFBAD0FC0}"/>
              </a:ext>
            </a:extLst>
          </p:cNvPr>
          <p:cNvSpPr>
            <a:spLocks noGrp="1"/>
          </p:cNvSpPr>
          <p:nvPr/>
        </p:nvSpPr>
        <p:spPr>
          <a:xfrm>
            <a:off x="1190625" y="2695575"/>
            <a:ext cx="9715500" cy="4762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725" b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Не запугивать клиента и не придумывать потери.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509C1D3A-7AE7-4F3C-9919-174928B47631}"/>
              </a:ext>
            </a:extLst>
          </p:cNvPr>
          <p:cNvSpPr>
            <a:spLocks noGrp="1"/>
          </p:cNvSpPr>
          <p:nvPr/>
        </p:nvSpPr>
        <p:spPr>
          <a:xfrm>
            <a:off x="571500" y="3438525"/>
            <a:ext cx="457200" cy="4572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950" b="1">
                <a:solidFill>
                  <a:srgbClr val="62D218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7526DD09-F481-42EB-B3E7-52FEBE6023A9}"/>
              </a:ext>
            </a:extLst>
          </p:cNvPr>
          <p:cNvSpPr>
            <a:spLocks noGrp="1"/>
          </p:cNvSpPr>
          <p:nvPr/>
        </p:nvSpPr>
        <p:spPr>
          <a:xfrm>
            <a:off x="1190625" y="3438525"/>
            <a:ext cx="9715500" cy="4762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725" b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Показывать проблему через поведение потенциальных клиентов.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A51DFF93-333B-4732-BDDE-043D9D449696}"/>
              </a:ext>
            </a:extLst>
          </p:cNvPr>
          <p:cNvSpPr>
            <a:spLocks noGrp="1"/>
          </p:cNvSpPr>
          <p:nvPr/>
        </p:nvSpPr>
        <p:spPr>
          <a:xfrm>
            <a:off x="571500" y="4181475"/>
            <a:ext cx="457200" cy="4572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950" b="1">
                <a:solidFill>
                  <a:srgbClr val="62D218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62D96573-5AF9-4335-81EF-8886D0171652}"/>
              </a:ext>
            </a:extLst>
          </p:cNvPr>
          <p:cNvSpPr>
            <a:spLocks noGrp="1"/>
          </p:cNvSpPr>
          <p:nvPr/>
        </p:nvSpPr>
        <p:spPr>
          <a:xfrm>
            <a:off x="1190625" y="4181475"/>
            <a:ext cx="9715500" cy="4762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725" b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Задавать вопросы и получать реакцию клиента.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39F8704A-0D1E-436E-898E-3A9E5C6FE9EC}"/>
              </a:ext>
            </a:extLst>
          </p:cNvPr>
          <p:cNvSpPr>
            <a:spLocks noGrp="1"/>
          </p:cNvSpPr>
          <p:nvPr/>
        </p:nvSpPr>
        <p:spPr>
          <a:xfrm>
            <a:off x="571500" y="4924425"/>
            <a:ext cx="457200" cy="4572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950" b="1">
                <a:solidFill>
                  <a:srgbClr val="62D218"/>
                </a:solidFill>
                <a:latin typeface="Arial"/>
                <a:ea typeface="Arial"/>
                <a:cs typeface="Arial"/>
              </a:defRPr>
            </a:pPr>
            <a:r>
              <a:t>5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C93F9C33-D1F1-481D-B0EC-B4B862F1C507}"/>
              </a:ext>
            </a:extLst>
          </p:cNvPr>
          <p:cNvSpPr>
            <a:spLocks noGrp="1"/>
          </p:cNvSpPr>
          <p:nvPr/>
        </p:nvSpPr>
        <p:spPr>
          <a:xfrm>
            <a:off x="1190625" y="4924425"/>
            <a:ext cx="9715500" cy="4762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725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Не переходить к презентации, пока клиент не признал проблему.</a:t>
            </a:r>
          </a:p>
        </p:txBody>
      </p:sp>
    </p:spTree>
    <p:extLst>
      <p:ext uri="{BB962C8B-B14F-4D97-AF65-F5344CB8AC3E}">
        <p14:creationId xmlns:p14="http://schemas.microsoft.com/office/powerpoint/2010/main" val="1738917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232075BF-98F1-4ED3-B922-B2FA5989A39B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5B4C317-3368-4831-8135-D5EC48114383}"/>
              </a:ext>
            </a:extLst>
          </p:cNvPr>
          <p:cNvSpPr>
            <a:spLocks noGrp="1"/>
          </p:cNvSpPr>
          <p:nvPr/>
        </p:nvSpPr>
        <p:spPr>
          <a:xfrm>
            <a:off x="76962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E498227-9D9F-487C-AAB9-2E0C62BC5527}"/>
              </a:ext>
            </a:extLst>
          </p:cNvPr>
          <p:cNvSpPr>
            <a:spLocks noGrp="1"/>
          </p:cNvSpPr>
          <p:nvPr/>
        </p:nvSpPr>
        <p:spPr>
          <a:xfrm>
            <a:off x="81534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67CD0E7-4044-4611-B3B3-282CACBE74F6}"/>
              </a:ext>
            </a:extLst>
          </p:cNvPr>
          <p:cNvSpPr>
            <a:spLocks noGrp="1"/>
          </p:cNvSpPr>
          <p:nvPr/>
        </p:nvSpPr>
        <p:spPr>
          <a:xfrm>
            <a:off x="86106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EF9652E-29F7-4798-A7B7-286009C8C06D}"/>
              </a:ext>
            </a:extLst>
          </p:cNvPr>
          <p:cNvSpPr>
            <a:spLocks noGrp="1"/>
          </p:cNvSpPr>
          <p:nvPr/>
        </p:nvSpPr>
        <p:spPr>
          <a:xfrm>
            <a:off x="90678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320E032-B4E2-4583-8376-C445F92B5B7E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AE354EE-3321-4ED3-9702-EE4DBDFA41BA}"/>
              </a:ext>
            </a:extLst>
          </p:cNvPr>
          <p:cNvSpPr>
            <a:spLocks noGrp="1"/>
          </p:cNvSpPr>
          <p:nvPr/>
        </p:nvSpPr>
        <p:spPr>
          <a:xfrm>
            <a:off x="99822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2044C57-EE7F-4F77-8159-16D1B56F41D5}"/>
              </a:ext>
            </a:extLst>
          </p:cNvPr>
          <p:cNvSpPr>
            <a:spLocks noGrp="1"/>
          </p:cNvSpPr>
          <p:nvPr/>
        </p:nvSpPr>
        <p:spPr>
          <a:xfrm>
            <a:off x="104394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ED904E5-61CB-41E6-A139-098E8FA71671}"/>
              </a:ext>
            </a:extLst>
          </p:cNvPr>
          <p:cNvSpPr>
            <a:spLocks noGrp="1"/>
          </p:cNvSpPr>
          <p:nvPr/>
        </p:nvSpPr>
        <p:spPr>
          <a:xfrm>
            <a:off x="108966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51F9C2A-4298-41DD-BA07-B849FDDE4C85}"/>
              </a:ext>
            </a:extLst>
          </p:cNvPr>
          <p:cNvSpPr>
            <a:spLocks noGrp="1"/>
          </p:cNvSpPr>
          <p:nvPr/>
        </p:nvSpPr>
        <p:spPr>
          <a:xfrm>
            <a:off x="113538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AA21A48-609C-4052-B9C3-FA43137850EF}"/>
              </a:ext>
            </a:extLst>
          </p:cNvPr>
          <p:cNvSpPr>
            <a:spLocks noGrp="1"/>
          </p:cNvSpPr>
          <p:nvPr/>
        </p:nvSpPr>
        <p:spPr>
          <a:xfrm>
            <a:off x="118110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45746DD-98C5-4A9C-A515-41FBBA27568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706">
              <a:alpha val="66667"/>
            </a:srgbClr>
          </a:solidFill>
          <a:ln w="9525">
            <a:solidFill>
              <a:srgbClr val="050706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1D0E012-A522-43A6-991E-5F6753462871}"/>
              </a:ext>
            </a:extLst>
          </p:cNvPr>
          <p:cNvSpPr>
            <a:spLocks noGrp="1"/>
          </p:cNvSpPr>
          <p:nvPr/>
        </p:nvSpPr>
        <p:spPr>
          <a:xfrm>
            <a:off x="438150" y="266700"/>
            <a:ext cx="2524125" cy="266700"/>
          </a:xfrm>
          <a:prstGeom prst="rect">
            <a:avLst/>
          </a:prstGeom>
          <a:solidFill>
            <a:srgbClr val="163A08"/>
          </a:solidFill>
          <a:ln w="9525">
            <a:solidFill>
              <a:srgbClr val="62D218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7A6E3DD-64BB-4530-A634-C8296111230B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2333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900" b="1">
                <a:solidFill>
                  <a:srgbClr val="E8F8DF"/>
                </a:solidFill>
                <a:latin typeface="Arial"/>
                <a:ea typeface="Arial"/>
                <a:cs typeface="Arial"/>
              </a:defRPr>
            </a:pPr>
            <a:r>
              <a:t>ФОРМИРОВАНИЕ ПОТРЕБНОСТИ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D148D826-8D1F-46E2-BB5D-4E4FF6D0B209}"/>
              </a:ext>
            </a:extLst>
          </p:cNvPr>
          <p:cNvSpPr>
            <a:spLocks noGrp="1"/>
          </p:cNvSpPr>
          <p:nvPr/>
        </p:nvSpPr>
        <p:spPr>
          <a:xfrm>
            <a:off x="11334750" y="285750"/>
            <a:ext cx="428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r">
              <a:defRPr sz="975" b="1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3D4B25A-785F-42BC-9083-E44E6B37788E}"/>
              </a:ext>
            </a:extLst>
          </p:cNvPr>
          <p:cNvSpPr>
            <a:spLocks noGrp="1"/>
          </p:cNvSpPr>
          <p:nvPr/>
        </p:nvSpPr>
        <p:spPr>
          <a:xfrm>
            <a:off x="457200" y="742950"/>
            <a:ext cx="11049000" cy="7810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28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АЛГОРИТМ ФОРМИРОВАНИЯ ПОТРЕБНОСТИ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0CEB3D34-4EAC-4A43-A532-3084AFB8092A}"/>
              </a:ext>
            </a:extLst>
          </p:cNvPr>
          <p:cNvSpPr>
            <a:spLocks noGrp="1"/>
          </p:cNvSpPr>
          <p:nvPr/>
        </p:nvSpPr>
        <p:spPr>
          <a:xfrm>
            <a:off x="523875" y="1952625"/>
            <a:ext cx="5191125" cy="1619250"/>
          </a:xfrm>
          <a:prstGeom prst="rect">
            <a:avLst/>
          </a:prstGeom>
          <a:solidFill>
            <a:srgbClr val="0B0F0C"/>
          </a:solidFill>
          <a:ln w="9525">
            <a:solidFill>
              <a:srgbClr val="325A20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2B9C8541-D72C-42D0-A9D2-9FB80292E580}"/>
              </a:ext>
            </a:extLst>
          </p:cNvPr>
          <p:cNvSpPr>
            <a:spLocks noGrp="1"/>
          </p:cNvSpPr>
          <p:nvPr/>
        </p:nvSpPr>
        <p:spPr>
          <a:xfrm>
            <a:off x="733425" y="2124075"/>
            <a:ext cx="4772025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4303C5A6-1BAD-4E05-B680-44B8073510FE}"/>
              </a:ext>
            </a:extLst>
          </p:cNvPr>
          <p:cNvSpPr>
            <a:spLocks noGrp="1"/>
          </p:cNvSpPr>
          <p:nvPr/>
        </p:nvSpPr>
        <p:spPr>
          <a:xfrm>
            <a:off x="733425" y="2543175"/>
            <a:ext cx="4772025" cy="8763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Показываем проблему и её последствия.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BEB43DAE-EBD7-4525-80D2-63DD0931ABC2}"/>
              </a:ext>
            </a:extLst>
          </p:cNvPr>
          <p:cNvSpPr>
            <a:spLocks noGrp="1"/>
          </p:cNvSpPr>
          <p:nvPr/>
        </p:nvSpPr>
        <p:spPr>
          <a:xfrm>
            <a:off x="6000750" y="1952625"/>
            <a:ext cx="5191125" cy="1619250"/>
          </a:xfrm>
          <a:prstGeom prst="rect">
            <a:avLst/>
          </a:prstGeom>
          <a:solidFill>
            <a:srgbClr val="0B0F0C"/>
          </a:solidFill>
          <a:ln w="9525">
            <a:solidFill>
              <a:srgbClr val="325A20"/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9816E5E7-AEED-408E-8B06-4837F0E11A1A}"/>
              </a:ext>
            </a:extLst>
          </p:cNvPr>
          <p:cNvSpPr>
            <a:spLocks noGrp="1"/>
          </p:cNvSpPr>
          <p:nvPr/>
        </p:nvSpPr>
        <p:spPr>
          <a:xfrm>
            <a:off x="6210300" y="2124075"/>
            <a:ext cx="4772025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0D8DEF00-119C-4A6F-8AFD-41CA464D7182}"/>
              </a:ext>
            </a:extLst>
          </p:cNvPr>
          <p:cNvSpPr>
            <a:spLocks noGrp="1"/>
          </p:cNvSpPr>
          <p:nvPr/>
        </p:nvSpPr>
        <p:spPr>
          <a:xfrm>
            <a:off x="6210300" y="2543175"/>
            <a:ext cx="4772025" cy="8763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Приводим понятный пример из жизни потенциального клиента.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91F4816C-D0BD-4A8D-BF15-394BC5875A48}"/>
              </a:ext>
            </a:extLst>
          </p:cNvPr>
          <p:cNvSpPr>
            <a:spLocks noGrp="1"/>
          </p:cNvSpPr>
          <p:nvPr/>
        </p:nvSpPr>
        <p:spPr>
          <a:xfrm>
            <a:off x="523875" y="3905250"/>
            <a:ext cx="5191125" cy="1619250"/>
          </a:xfrm>
          <a:prstGeom prst="rect">
            <a:avLst/>
          </a:prstGeom>
          <a:solidFill>
            <a:srgbClr val="0B0F0C"/>
          </a:solidFill>
          <a:ln w="9525">
            <a:solidFill>
              <a:srgbClr val="325A20"/>
            </a:solidFill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1FC14B24-848C-47CB-B58E-A1BE2AD77EB8}"/>
              </a:ext>
            </a:extLst>
          </p:cNvPr>
          <p:cNvSpPr>
            <a:spLocks noGrp="1"/>
          </p:cNvSpPr>
          <p:nvPr/>
        </p:nvSpPr>
        <p:spPr>
          <a:xfrm>
            <a:off x="733425" y="4076700"/>
            <a:ext cx="4772025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5F7CE2B0-9DE0-47D5-A73F-DF6530BDB762}"/>
              </a:ext>
            </a:extLst>
          </p:cNvPr>
          <p:cNvSpPr>
            <a:spLocks noGrp="1"/>
          </p:cNvSpPr>
          <p:nvPr/>
        </p:nvSpPr>
        <p:spPr>
          <a:xfrm>
            <a:off x="733425" y="4495800"/>
            <a:ext cx="4772025" cy="8763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Выясняем отношение клиента к проблеме и текущей ситуации.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1E42496C-5F6F-4C8F-B12F-52C99307847F}"/>
              </a:ext>
            </a:extLst>
          </p:cNvPr>
          <p:cNvSpPr>
            <a:spLocks noGrp="1"/>
          </p:cNvSpPr>
          <p:nvPr/>
        </p:nvSpPr>
        <p:spPr>
          <a:xfrm>
            <a:off x="6000750" y="3905250"/>
            <a:ext cx="5191125" cy="1619250"/>
          </a:xfrm>
          <a:prstGeom prst="rect">
            <a:avLst/>
          </a:prstGeom>
          <a:solidFill>
            <a:srgbClr val="0B0F0C"/>
          </a:solidFill>
          <a:ln w="9525">
            <a:solidFill>
              <a:srgbClr val="325A20"/>
            </a:solidFill>
            <a:prstDash val="solid"/>
          </a:ln>
        </p:spPr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1B8487AE-C1B9-48B0-8A5A-06B428C3B2C0}"/>
              </a:ext>
            </a:extLst>
          </p:cNvPr>
          <p:cNvSpPr>
            <a:spLocks noGrp="1"/>
          </p:cNvSpPr>
          <p:nvPr/>
        </p:nvSpPr>
        <p:spPr>
          <a:xfrm>
            <a:off x="6210300" y="4076700"/>
            <a:ext cx="4772025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33AABDD6-FADF-47DB-8FA3-A03AF8059AE2}"/>
              </a:ext>
            </a:extLst>
          </p:cNvPr>
          <p:cNvSpPr>
            <a:spLocks noGrp="1"/>
          </p:cNvSpPr>
          <p:nvPr/>
        </p:nvSpPr>
        <p:spPr>
          <a:xfrm>
            <a:off x="6210300" y="4495800"/>
            <a:ext cx="4772025" cy="8763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Формируем мотивацию через текущие результаты, динамику ухудшения и путь клиента.</a:t>
            </a:r>
          </a:p>
        </p:txBody>
      </p:sp>
    </p:spTree>
    <p:extLst>
      <p:ext uri="{BB962C8B-B14F-4D97-AF65-F5344CB8AC3E}">
        <p14:creationId xmlns:p14="http://schemas.microsoft.com/office/powerpoint/2010/main" val="1113903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4A0627CD-0CDC-4FAB-950B-6B035A11797B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1F6DF56-9C6C-4CE1-A931-1AA843E5BF0E}"/>
              </a:ext>
            </a:extLst>
          </p:cNvPr>
          <p:cNvSpPr>
            <a:spLocks noGrp="1"/>
          </p:cNvSpPr>
          <p:nvPr/>
        </p:nvSpPr>
        <p:spPr>
          <a:xfrm>
            <a:off x="76962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1A18E01-5AF2-43E9-9FBB-D01F9F3A5075}"/>
              </a:ext>
            </a:extLst>
          </p:cNvPr>
          <p:cNvSpPr>
            <a:spLocks noGrp="1"/>
          </p:cNvSpPr>
          <p:nvPr/>
        </p:nvSpPr>
        <p:spPr>
          <a:xfrm>
            <a:off x="81534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9A74E1D-C3F3-4A99-A1EB-BC9BFF983E94}"/>
              </a:ext>
            </a:extLst>
          </p:cNvPr>
          <p:cNvSpPr>
            <a:spLocks noGrp="1"/>
          </p:cNvSpPr>
          <p:nvPr/>
        </p:nvSpPr>
        <p:spPr>
          <a:xfrm>
            <a:off x="86106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D3B3220-AE40-45D9-9018-2CE3C59A32D5}"/>
              </a:ext>
            </a:extLst>
          </p:cNvPr>
          <p:cNvSpPr>
            <a:spLocks noGrp="1"/>
          </p:cNvSpPr>
          <p:nvPr/>
        </p:nvSpPr>
        <p:spPr>
          <a:xfrm>
            <a:off x="90678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52FDF28-7594-4945-9732-6A95CD8D45FA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D0B36F0-9440-4B0D-8BA8-221739398B46}"/>
              </a:ext>
            </a:extLst>
          </p:cNvPr>
          <p:cNvSpPr>
            <a:spLocks noGrp="1"/>
          </p:cNvSpPr>
          <p:nvPr/>
        </p:nvSpPr>
        <p:spPr>
          <a:xfrm>
            <a:off x="99822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89BCDDB-6756-4EA3-A066-D22E3759C85E}"/>
              </a:ext>
            </a:extLst>
          </p:cNvPr>
          <p:cNvSpPr>
            <a:spLocks noGrp="1"/>
          </p:cNvSpPr>
          <p:nvPr/>
        </p:nvSpPr>
        <p:spPr>
          <a:xfrm>
            <a:off x="104394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7C568DF-DD6E-492D-BB0A-C661CF0B1543}"/>
              </a:ext>
            </a:extLst>
          </p:cNvPr>
          <p:cNvSpPr>
            <a:spLocks noGrp="1"/>
          </p:cNvSpPr>
          <p:nvPr/>
        </p:nvSpPr>
        <p:spPr>
          <a:xfrm>
            <a:off x="108966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0DAA4D1-A8DF-419E-82DE-4627BBEC5798}"/>
              </a:ext>
            </a:extLst>
          </p:cNvPr>
          <p:cNvSpPr>
            <a:spLocks noGrp="1"/>
          </p:cNvSpPr>
          <p:nvPr/>
        </p:nvSpPr>
        <p:spPr>
          <a:xfrm>
            <a:off x="113538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4640555-A71E-42A8-B854-5374C7BFEEED}"/>
              </a:ext>
            </a:extLst>
          </p:cNvPr>
          <p:cNvSpPr>
            <a:spLocks noGrp="1"/>
          </p:cNvSpPr>
          <p:nvPr/>
        </p:nvSpPr>
        <p:spPr>
          <a:xfrm>
            <a:off x="118110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E8C2040-C33D-4D69-8AAF-18D33CD84FF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706">
              <a:alpha val="66667"/>
            </a:srgbClr>
          </a:solidFill>
          <a:ln w="9525">
            <a:solidFill>
              <a:srgbClr val="050706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687F6A6A-B18E-4C5B-B6EF-923B924E1CF0}"/>
              </a:ext>
            </a:extLst>
          </p:cNvPr>
          <p:cNvSpPr>
            <a:spLocks noGrp="1"/>
          </p:cNvSpPr>
          <p:nvPr/>
        </p:nvSpPr>
        <p:spPr>
          <a:xfrm>
            <a:off x="438150" y="266700"/>
            <a:ext cx="2524125" cy="266700"/>
          </a:xfrm>
          <a:prstGeom prst="rect">
            <a:avLst/>
          </a:prstGeom>
          <a:solidFill>
            <a:srgbClr val="163A08"/>
          </a:solidFill>
          <a:ln w="9525">
            <a:solidFill>
              <a:srgbClr val="62D218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91DE506-CAA6-4AB2-97AB-5291C8033AA5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2333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900" b="1">
                <a:solidFill>
                  <a:srgbClr val="E8F8DF"/>
                </a:solidFill>
                <a:latin typeface="Arial"/>
                <a:ea typeface="Arial"/>
                <a:cs typeface="Arial"/>
              </a:defRPr>
            </a:pPr>
            <a:r>
              <a:t>ФОРМИРОВАНИЕ ПОТРЕБНОСТИ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613D925-F701-4B34-A182-B33BF24DCB90}"/>
              </a:ext>
            </a:extLst>
          </p:cNvPr>
          <p:cNvSpPr>
            <a:spLocks noGrp="1"/>
          </p:cNvSpPr>
          <p:nvPr/>
        </p:nvSpPr>
        <p:spPr>
          <a:xfrm>
            <a:off x="11334750" y="285750"/>
            <a:ext cx="428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r">
              <a:defRPr sz="975" b="1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07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4515EDE-2744-4ADF-9DE9-DA28D81D37FB}"/>
              </a:ext>
            </a:extLst>
          </p:cNvPr>
          <p:cNvSpPr>
            <a:spLocks noGrp="1"/>
          </p:cNvSpPr>
          <p:nvPr/>
        </p:nvSpPr>
        <p:spPr>
          <a:xfrm>
            <a:off x="457200" y="742950"/>
            <a:ext cx="11049000" cy="7810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28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ШАГ 1. ПОКАЗЫВАЕМ ПРОБЛЕМУ И ПОСЛЕДСТВИЯ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88EA3AD-2DCA-4DBD-968C-D45EC5B34AAB}"/>
              </a:ext>
            </a:extLst>
          </p:cNvPr>
          <p:cNvSpPr>
            <a:spLocks noGrp="1"/>
          </p:cNvSpPr>
          <p:nvPr/>
        </p:nvSpPr>
        <p:spPr>
          <a:xfrm>
            <a:off x="523875" y="1952625"/>
            <a:ext cx="5191125" cy="1714500"/>
          </a:xfrm>
          <a:prstGeom prst="rect">
            <a:avLst/>
          </a:prstGeom>
          <a:solidFill>
            <a:srgbClr val="0B0F0C"/>
          </a:solidFill>
          <a:ln w="9525">
            <a:solidFill>
              <a:srgbClr val="325A20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00B6A36E-CD9A-42C7-9B96-4E3ECE6AC95A}"/>
              </a:ext>
            </a:extLst>
          </p:cNvPr>
          <p:cNvSpPr>
            <a:spLocks noGrp="1"/>
          </p:cNvSpPr>
          <p:nvPr/>
        </p:nvSpPr>
        <p:spPr>
          <a:xfrm>
            <a:off x="733425" y="2124075"/>
            <a:ext cx="4772025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ЧТО ДЕЛАЕМ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5E7771A5-DFA7-4A0F-AB1F-2A5DE6193FB3}"/>
              </a:ext>
            </a:extLst>
          </p:cNvPr>
          <p:cNvSpPr>
            <a:spLocks noGrp="1"/>
          </p:cNvSpPr>
          <p:nvPr/>
        </p:nvSpPr>
        <p:spPr>
          <a:xfrm>
            <a:off x="733425" y="2543175"/>
            <a:ext cx="4772025" cy="9715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Озвучиваем конкретную проблему, найденную при анализе карточки, и объясняем её возможные последствия.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9360CF19-7C89-4B0F-B671-FAD8B7AF8BE9}"/>
              </a:ext>
            </a:extLst>
          </p:cNvPr>
          <p:cNvSpPr>
            <a:spLocks noGrp="1"/>
          </p:cNvSpPr>
          <p:nvPr/>
        </p:nvSpPr>
        <p:spPr>
          <a:xfrm>
            <a:off x="5953125" y="1952625"/>
            <a:ext cx="5476875" cy="1714500"/>
          </a:xfrm>
          <a:prstGeom prst="rect">
            <a:avLst/>
          </a:prstGeom>
          <a:solidFill>
            <a:srgbClr val="0B0F0C"/>
          </a:solidFill>
          <a:ln w="9525">
            <a:solidFill>
              <a:srgbClr val="325A20"/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03A7DCB-37EF-4377-88A1-EDDCDEE39346}"/>
              </a:ext>
            </a:extLst>
          </p:cNvPr>
          <p:cNvSpPr>
            <a:spLocks noGrp="1"/>
          </p:cNvSpPr>
          <p:nvPr/>
        </p:nvSpPr>
        <p:spPr>
          <a:xfrm>
            <a:off x="6162675" y="2124075"/>
            <a:ext cx="5057775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ПОЧЕМУ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F9C36494-0194-455D-9525-CC3218D460BD}"/>
              </a:ext>
            </a:extLst>
          </p:cNvPr>
          <p:cNvSpPr>
            <a:spLocks noGrp="1"/>
          </p:cNvSpPr>
          <p:nvPr/>
        </p:nvSpPr>
        <p:spPr>
          <a:xfrm>
            <a:off x="6162675" y="2543175"/>
            <a:ext cx="5057775" cy="9715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Клиент может не замечать недостаток или не понимать, как он влияет на обращения.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E75DE312-DB9A-418B-933C-9E89CBB47374}"/>
              </a:ext>
            </a:extLst>
          </p:cNvPr>
          <p:cNvSpPr>
            <a:spLocks noGrp="1"/>
          </p:cNvSpPr>
          <p:nvPr/>
        </p:nvSpPr>
        <p:spPr>
          <a:xfrm>
            <a:off x="523875" y="3905250"/>
            <a:ext cx="5191125" cy="1714500"/>
          </a:xfrm>
          <a:prstGeom prst="rect">
            <a:avLst/>
          </a:prstGeom>
          <a:solidFill>
            <a:srgbClr val="0B0F0C"/>
          </a:solidFill>
          <a:ln w="9525">
            <a:solidFill>
              <a:srgbClr val="325A20"/>
            </a:solidFill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C28828F1-21A7-4AA6-AB6E-C8DD39C25588}"/>
              </a:ext>
            </a:extLst>
          </p:cNvPr>
          <p:cNvSpPr>
            <a:spLocks noGrp="1"/>
          </p:cNvSpPr>
          <p:nvPr/>
        </p:nvSpPr>
        <p:spPr>
          <a:xfrm>
            <a:off x="733425" y="4076700"/>
            <a:ext cx="4772025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КАК ВЛИЯЕТ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41A73865-69B8-4EDB-9E17-B6A74FA49D72}"/>
              </a:ext>
            </a:extLst>
          </p:cNvPr>
          <p:cNvSpPr>
            <a:spLocks noGrp="1"/>
          </p:cNvSpPr>
          <p:nvPr/>
        </p:nvSpPr>
        <p:spPr>
          <a:xfrm>
            <a:off x="733425" y="4495800"/>
            <a:ext cx="4772025" cy="9715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Клиент начинает видеть связь между состоянием карточки и поведением потенциальных клиентов.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53843B89-94BC-4F78-A327-2C4180AB6825}"/>
              </a:ext>
            </a:extLst>
          </p:cNvPr>
          <p:cNvSpPr>
            <a:spLocks noGrp="1"/>
          </p:cNvSpPr>
          <p:nvPr/>
        </p:nvSpPr>
        <p:spPr>
          <a:xfrm>
            <a:off x="5953125" y="3905250"/>
            <a:ext cx="5476875" cy="1714500"/>
          </a:xfrm>
          <a:prstGeom prst="rect">
            <a:avLst/>
          </a:prstGeom>
          <a:solidFill>
            <a:srgbClr val="0B0F0C"/>
          </a:solidFill>
          <a:ln w="9525">
            <a:solidFill>
              <a:srgbClr val="325A20"/>
            </a:solidFill>
            <a:prstDash val="solid"/>
          </a:ln>
        </p:spPr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936E5B3C-00CF-48A3-B142-B6991B37596C}"/>
              </a:ext>
            </a:extLst>
          </p:cNvPr>
          <p:cNvSpPr>
            <a:spLocks noGrp="1"/>
          </p:cNvSpPr>
          <p:nvPr/>
        </p:nvSpPr>
        <p:spPr>
          <a:xfrm>
            <a:off x="6162675" y="4076700"/>
            <a:ext cx="5057775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КАК ДЕЛАТЬ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FCC3067F-5EB4-4D26-9DAD-F93603AE44EA}"/>
              </a:ext>
            </a:extLst>
          </p:cNvPr>
          <p:cNvSpPr>
            <a:spLocks noGrp="1"/>
          </p:cNvSpPr>
          <p:nvPr/>
        </p:nvSpPr>
        <p:spPr>
          <a:xfrm>
            <a:off x="6162675" y="4495800"/>
            <a:ext cx="5057775" cy="9715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Опираться на проверяемые факты, не использовать давление и неподтверждённые цифры.</a:t>
            </a:r>
          </a:p>
        </p:txBody>
      </p:sp>
    </p:spTree>
    <p:extLst>
      <p:ext uri="{BB962C8B-B14F-4D97-AF65-F5344CB8AC3E}">
        <p14:creationId xmlns:p14="http://schemas.microsoft.com/office/powerpoint/2010/main" val="1352798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6EC9522-ECF9-4E93-9341-C1FE00A4C52D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722FDB6-60A1-4104-96E9-D38AFA82296C}"/>
              </a:ext>
            </a:extLst>
          </p:cNvPr>
          <p:cNvSpPr>
            <a:spLocks noGrp="1"/>
          </p:cNvSpPr>
          <p:nvPr/>
        </p:nvSpPr>
        <p:spPr>
          <a:xfrm>
            <a:off x="76962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E43284F-96A3-4CD9-8C41-8160E5F07E99}"/>
              </a:ext>
            </a:extLst>
          </p:cNvPr>
          <p:cNvSpPr>
            <a:spLocks noGrp="1"/>
          </p:cNvSpPr>
          <p:nvPr/>
        </p:nvSpPr>
        <p:spPr>
          <a:xfrm>
            <a:off x="81534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3175C98-359A-4FA1-A7BA-3D0CAD8DBA5A}"/>
              </a:ext>
            </a:extLst>
          </p:cNvPr>
          <p:cNvSpPr>
            <a:spLocks noGrp="1"/>
          </p:cNvSpPr>
          <p:nvPr/>
        </p:nvSpPr>
        <p:spPr>
          <a:xfrm>
            <a:off x="86106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51FA12B-6358-4277-80A1-C942979AC31B}"/>
              </a:ext>
            </a:extLst>
          </p:cNvPr>
          <p:cNvSpPr>
            <a:spLocks noGrp="1"/>
          </p:cNvSpPr>
          <p:nvPr/>
        </p:nvSpPr>
        <p:spPr>
          <a:xfrm>
            <a:off x="90678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BC29AE5-DCCD-4C11-9CC7-B4E376A0ED1C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EFB8707-2FC9-4238-A7B1-542D51853C9D}"/>
              </a:ext>
            </a:extLst>
          </p:cNvPr>
          <p:cNvSpPr>
            <a:spLocks noGrp="1"/>
          </p:cNvSpPr>
          <p:nvPr/>
        </p:nvSpPr>
        <p:spPr>
          <a:xfrm>
            <a:off x="99822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C3F73C7-5F9D-4163-A4EA-446341F6288B}"/>
              </a:ext>
            </a:extLst>
          </p:cNvPr>
          <p:cNvSpPr>
            <a:spLocks noGrp="1"/>
          </p:cNvSpPr>
          <p:nvPr/>
        </p:nvSpPr>
        <p:spPr>
          <a:xfrm>
            <a:off x="104394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1A0D0FF-79F6-4B8D-AD09-ECB5A30404F6}"/>
              </a:ext>
            </a:extLst>
          </p:cNvPr>
          <p:cNvSpPr>
            <a:spLocks noGrp="1"/>
          </p:cNvSpPr>
          <p:nvPr/>
        </p:nvSpPr>
        <p:spPr>
          <a:xfrm>
            <a:off x="108966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BC3270C-C99F-4049-AE35-62CE7CC2A8B0}"/>
              </a:ext>
            </a:extLst>
          </p:cNvPr>
          <p:cNvSpPr>
            <a:spLocks noGrp="1"/>
          </p:cNvSpPr>
          <p:nvPr/>
        </p:nvSpPr>
        <p:spPr>
          <a:xfrm>
            <a:off x="113538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71374C1-FC72-4633-BC6E-02411CE672B7}"/>
              </a:ext>
            </a:extLst>
          </p:cNvPr>
          <p:cNvSpPr>
            <a:spLocks noGrp="1"/>
          </p:cNvSpPr>
          <p:nvPr/>
        </p:nvSpPr>
        <p:spPr>
          <a:xfrm>
            <a:off x="118110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CB81F0E-B154-4914-ADB8-1C98B1BE431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706">
              <a:alpha val="66667"/>
            </a:srgbClr>
          </a:solidFill>
          <a:ln w="9525">
            <a:solidFill>
              <a:srgbClr val="050706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66A52411-196C-4493-BEBA-0570459998FA}"/>
              </a:ext>
            </a:extLst>
          </p:cNvPr>
          <p:cNvSpPr>
            <a:spLocks noGrp="1"/>
          </p:cNvSpPr>
          <p:nvPr/>
        </p:nvSpPr>
        <p:spPr>
          <a:xfrm>
            <a:off x="438150" y="266700"/>
            <a:ext cx="2524125" cy="266700"/>
          </a:xfrm>
          <a:prstGeom prst="rect">
            <a:avLst/>
          </a:prstGeom>
          <a:solidFill>
            <a:srgbClr val="163A08"/>
          </a:solidFill>
          <a:ln w="9525">
            <a:solidFill>
              <a:srgbClr val="62D218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43E7EA5-2B1F-4774-971B-903A77793A44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2333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900" b="1">
                <a:solidFill>
                  <a:srgbClr val="E8F8DF"/>
                </a:solidFill>
                <a:latin typeface="Arial"/>
                <a:ea typeface="Arial"/>
                <a:cs typeface="Arial"/>
              </a:defRPr>
            </a:pPr>
            <a:r>
              <a:t>ФОРМИРОВАНИЕ ПОТРЕБНОСТИ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D1FF7851-4764-489B-89DA-EB6864502681}"/>
              </a:ext>
            </a:extLst>
          </p:cNvPr>
          <p:cNvSpPr>
            <a:spLocks noGrp="1"/>
          </p:cNvSpPr>
          <p:nvPr/>
        </p:nvSpPr>
        <p:spPr>
          <a:xfrm>
            <a:off x="11334750" y="285750"/>
            <a:ext cx="428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r">
              <a:defRPr sz="975" b="1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08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8649F93-E049-432F-9442-4D8281AC41E2}"/>
              </a:ext>
            </a:extLst>
          </p:cNvPr>
          <p:cNvSpPr>
            <a:spLocks noGrp="1"/>
          </p:cNvSpPr>
          <p:nvPr/>
        </p:nvSpPr>
        <p:spPr>
          <a:xfrm>
            <a:off x="457200" y="742950"/>
            <a:ext cx="11049000" cy="7810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28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ШАГ 1. ПРИМЕР ФОРМУЛИРОВКИ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5DB5F62F-00CD-4886-8D2A-9656ECA0D599}"/>
              </a:ext>
            </a:extLst>
          </p:cNvPr>
          <p:cNvSpPr>
            <a:spLocks noGrp="1"/>
          </p:cNvSpPr>
          <p:nvPr/>
        </p:nvSpPr>
        <p:spPr>
          <a:xfrm>
            <a:off x="666750" y="2047875"/>
            <a:ext cx="10477500" cy="3333750"/>
          </a:xfrm>
          <a:prstGeom prst="rect">
            <a:avLst/>
          </a:prstGeom>
          <a:solidFill>
            <a:srgbClr val="0B0F0C"/>
          </a:solidFill>
          <a:ln w="9525">
            <a:solidFill>
              <a:srgbClr val="325A20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B4C7040-05F0-473A-8302-E1302DE4C2ED}"/>
              </a:ext>
            </a:extLst>
          </p:cNvPr>
          <p:cNvSpPr>
            <a:spLocks noGrp="1"/>
          </p:cNvSpPr>
          <p:nvPr/>
        </p:nvSpPr>
        <p:spPr>
          <a:xfrm>
            <a:off x="876300" y="2219325"/>
            <a:ext cx="10058400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ПРИМЕР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73F2E635-5331-40A6-96AB-A7BA9C555EC1}"/>
              </a:ext>
            </a:extLst>
          </p:cNvPr>
          <p:cNvSpPr>
            <a:spLocks noGrp="1"/>
          </p:cNvSpPr>
          <p:nvPr/>
        </p:nvSpPr>
        <p:spPr>
          <a:xfrm>
            <a:off x="876300" y="2638425"/>
            <a:ext cx="10058400" cy="25908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«Сейчас в карточке не заполнена часть услуг и цен, давно не обновлялись фотографии, а отзывы остаются без ответов. Из-за этого профиль может выглядеть неактуальным, и потенциальному клиенту будет сложнее принять решение об обращении».</a:t>
            </a:r>
          </a:p>
        </p:txBody>
      </p:sp>
    </p:spTree>
    <p:extLst>
      <p:ext uri="{BB962C8B-B14F-4D97-AF65-F5344CB8AC3E}">
        <p14:creationId xmlns:p14="http://schemas.microsoft.com/office/powerpoint/2010/main" val="1469669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211AED46-F29D-4DF8-8CE2-D753D89D811E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8F6EA0D-08F0-4204-A1FB-F6B2423DF024}"/>
              </a:ext>
            </a:extLst>
          </p:cNvPr>
          <p:cNvSpPr>
            <a:spLocks noGrp="1"/>
          </p:cNvSpPr>
          <p:nvPr/>
        </p:nvSpPr>
        <p:spPr>
          <a:xfrm>
            <a:off x="76962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FA21D30-9075-41B9-8015-D05857AC7A7A}"/>
              </a:ext>
            </a:extLst>
          </p:cNvPr>
          <p:cNvSpPr>
            <a:spLocks noGrp="1"/>
          </p:cNvSpPr>
          <p:nvPr/>
        </p:nvSpPr>
        <p:spPr>
          <a:xfrm>
            <a:off x="81534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BED2DBE-B6D1-466C-B59F-5A8FA5E673B4}"/>
              </a:ext>
            </a:extLst>
          </p:cNvPr>
          <p:cNvSpPr>
            <a:spLocks noGrp="1"/>
          </p:cNvSpPr>
          <p:nvPr/>
        </p:nvSpPr>
        <p:spPr>
          <a:xfrm>
            <a:off x="86106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51C3711-3FB9-49C9-8DDB-C7ED7B1B520F}"/>
              </a:ext>
            </a:extLst>
          </p:cNvPr>
          <p:cNvSpPr>
            <a:spLocks noGrp="1"/>
          </p:cNvSpPr>
          <p:nvPr/>
        </p:nvSpPr>
        <p:spPr>
          <a:xfrm>
            <a:off x="90678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99F8C41-61B6-42C4-AB39-15FFBC62F901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90EF191-E50C-42C3-9FE4-8D070E463DFC}"/>
              </a:ext>
            </a:extLst>
          </p:cNvPr>
          <p:cNvSpPr>
            <a:spLocks noGrp="1"/>
          </p:cNvSpPr>
          <p:nvPr/>
        </p:nvSpPr>
        <p:spPr>
          <a:xfrm>
            <a:off x="99822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8FDBE6F-B1DC-4D46-92FF-BA9EDF8BF679}"/>
              </a:ext>
            </a:extLst>
          </p:cNvPr>
          <p:cNvSpPr>
            <a:spLocks noGrp="1"/>
          </p:cNvSpPr>
          <p:nvPr/>
        </p:nvSpPr>
        <p:spPr>
          <a:xfrm>
            <a:off x="104394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3008018-E30D-4C1B-869F-9567FA26D30D}"/>
              </a:ext>
            </a:extLst>
          </p:cNvPr>
          <p:cNvSpPr>
            <a:spLocks noGrp="1"/>
          </p:cNvSpPr>
          <p:nvPr/>
        </p:nvSpPr>
        <p:spPr>
          <a:xfrm>
            <a:off x="108966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7D69C5B-942B-44AA-B618-A1DA6A9E79DC}"/>
              </a:ext>
            </a:extLst>
          </p:cNvPr>
          <p:cNvSpPr>
            <a:spLocks noGrp="1"/>
          </p:cNvSpPr>
          <p:nvPr/>
        </p:nvSpPr>
        <p:spPr>
          <a:xfrm>
            <a:off x="113538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690698E-FEA6-4D5D-932E-18910BF8CE6D}"/>
              </a:ext>
            </a:extLst>
          </p:cNvPr>
          <p:cNvSpPr>
            <a:spLocks noGrp="1"/>
          </p:cNvSpPr>
          <p:nvPr/>
        </p:nvSpPr>
        <p:spPr>
          <a:xfrm>
            <a:off x="118110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78A25AE-DA26-4DD0-A52B-A71F43718D0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706">
              <a:alpha val="66667"/>
            </a:srgbClr>
          </a:solidFill>
          <a:ln w="9525">
            <a:solidFill>
              <a:srgbClr val="050706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9C751E8-5F6E-4C07-A7E1-25AD9996367E}"/>
              </a:ext>
            </a:extLst>
          </p:cNvPr>
          <p:cNvSpPr>
            <a:spLocks noGrp="1"/>
          </p:cNvSpPr>
          <p:nvPr/>
        </p:nvSpPr>
        <p:spPr>
          <a:xfrm>
            <a:off x="438150" y="266700"/>
            <a:ext cx="2524125" cy="266700"/>
          </a:xfrm>
          <a:prstGeom prst="rect">
            <a:avLst/>
          </a:prstGeom>
          <a:solidFill>
            <a:srgbClr val="163A08"/>
          </a:solidFill>
          <a:ln w="9525">
            <a:solidFill>
              <a:srgbClr val="62D218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27B9C26-ED45-4E29-9765-B6F8DECD1783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2333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900" b="1">
                <a:solidFill>
                  <a:srgbClr val="E8F8DF"/>
                </a:solidFill>
                <a:latin typeface="Arial"/>
                <a:ea typeface="Arial"/>
                <a:cs typeface="Arial"/>
              </a:defRPr>
            </a:pPr>
            <a:r>
              <a:t>ФОРМИРОВАНИЕ ПОТРЕБНОСТИ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511E9E61-5C64-41F5-8C04-85C343158C2A}"/>
              </a:ext>
            </a:extLst>
          </p:cNvPr>
          <p:cNvSpPr>
            <a:spLocks noGrp="1"/>
          </p:cNvSpPr>
          <p:nvPr/>
        </p:nvSpPr>
        <p:spPr>
          <a:xfrm>
            <a:off x="11334750" y="285750"/>
            <a:ext cx="428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r">
              <a:defRPr sz="975" b="1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09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445CC8D8-ADCC-4C87-B44F-AAA0C3B148D2}"/>
              </a:ext>
            </a:extLst>
          </p:cNvPr>
          <p:cNvSpPr>
            <a:spLocks noGrp="1"/>
          </p:cNvSpPr>
          <p:nvPr/>
        </p:nvSpPr>
        <p:spPr>
          <a:xfrm>
            <a:off x="457200" y="742950"/>
            <a:ext cx="11049000" cy="7810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28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ШАГ 2. ПРИВОДИМ ПРИМЕР ИЗ ЖИЗНИ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84936C5F-AC6D-4177-A175-1EAFBE8E98EE}"/>
              </a:ext>
            </a:extLst>
          </p:cNvPr>
          <p:cNvSpPr>
            <a:spLocks noGrp="1"/>
          </p:cNvSpPr>
          <p:nvPr/>
        </p:nvSpPr>
        <p:spPr>
          <a:xfrm>
            <a:off x="523875" y="1952625"/>
            <a:ext cx="5191125" cy="1714500"/>
          </a:xfrm>
          <a:prstGeom prst="rect">
            <a:avLst/>
          </a:prstGeom>
          <a:solidFill>
            <a:srgbClr val="0B0F0C"/>
          </a:solidFill>
          <a:ln w="9525">
            <a:solidFill>
              <a:srgbClr val="325A20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93DAF47-8BE9-464A-926D-28848475E4A9}"/>
              </a:ext>
            </a:extLst>
          </p:cNvPr>
          <p:cNvSpPr>
            <a:spLocks noGrp="1"/>
          </p:cNvSpPr>
          <p:nvPr/>
        </p:nvSpPr>
        <p:spPr>
          <a:xfrm>
            <a:off x="733425" y="2124075"/>
            <a:ext cx="4772025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ЧТО ДЕЛАЕМ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AFA22921-DB77-4E4D-B317-D8F405F2F588}"/>
              </a:ext>
            </a:extLst>
          </p:cNvPr>
          <p:cNvSpPr>
            <a:spLocks noGrp="1"/>
          </p:cNvSpPr>
          <p:nvPr/>
        </p:nvSpPr>
        <p:spPr>
          <a:xfrm>
            <a:off x="733425" y="2543175"/>
            <a:ext cx="4772025" cy="9715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Описываем понятный сценарий выбора компании потенциальным клиентом.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B9CAC348-4DF1-4643-AE4A-B026167E61F6}"/>
              </a:ext>
            </a:extLst>
          </p:cNvPr>
          <p:cNvSpPr>
            <a:spLocks noGrp="1"/>
          </p:cNvSpPr>
          <p:nvPr/>
        </p:nvSpPr>
        <p:spPr>
          <a:xfrm>
            <a:off x="5953125" y="1952625"/>
            <a:ext cx="5476875" cy="1714500"/>
          </a:xfrm>
          <a:prstGeom prst="rect">
            <a:avLst/>
          </a:prstGeom>
          <a:solidFill>
            <a:srgbClr val="0B0F0C"/>
          </a:solidFill>
          <a:ln w="9525">
            <a:solidFill>
              <a:srgbClr val="325A20"/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3250C97-A2D5-46A1-A034-0F9B1310465D}"/>
              </a:ext>
            </a:extLst>
          </p:cNvPr>
          <p:cNvSpPr>
            <a:spLocks noGrp="1"/>
          </p:cNvSpPr>
          <p:nvPr/>
        </p:nvSpPr>
        <p:spPr>
          <a:xfrm>
            <a:off x="6162675" y="2124075"/>
            <a:ext cx="5057775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ПОЧЕМУ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93EB408A-7FB3-40D0-9D0C-6644804D282E}"/>
              </a:ext>
            </a:extLst>
          </p:cNvPr>
          <p:cNvSpPr>
            <a:spLocks noGrp="1"/>
          </p:cNvSpPr>
          <p:nvPr/>
        </p:nvSpPr>
        <p:spPr>
          <a:xfrm>
            <a:off x="6162675" y="2543175"/>
            <a:ext cx="5057775" cy="9715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Жизненный пример помогает наглядно показать проблему.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D1871A5E-84A9-4900-A8E2-D831CA344B91}"/>
              </a:ext>
            </a:extLst>
          </p:cNvPr>
          <p:cNvSpPr>
            <a:spLocks noGrp="1"/>
          </p:cNvSpPr>
          <p:nvPr/>
        </p:nvSpPr>
        <p:spPr>
          <a:xfrm>
            <a:off x="523875" y="3905250"/>
            <a:ext cx="5191125" cy="1714500"/>
          </a:xfrm>
          <a:prstGeom prst="rect">
            <a:avLst/>
          </a:prstGeom>
          <a:solidFill>
            <a:srgbClr val="0B0F0C"/>
          </a:solidFill>
          <a:ln w="9525">
            <a:solidFill>
              <a:srgbClr val="325A20"/>
            </a:solidFill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81E6A0A7-7384-444B-BF23-3D2E6AC4D3EC}"/>
              </a:ext>
            </a:extLst>
          </p:cNvPr>
          <p:cNvSpPr>
            <a:spLocks noGrp="1"/>
          </p:cNvSpPr>
          <p:nvPr/>
        </p:nvSpPr>
        <p:spPr>
          <a:xfrm>
            <a:off x="733425" y="4076700"/>
            <a:ext cx="4772025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КАК ВЛИЯЕТ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5CC86A5B-1E36-4046-AC16-CFA288944839}"/>
              </a:ext>
            </a:extLst>
          </p:cNvPr>
          <p:cNvSpPr>
            <a:spLocks noGrp="1"/>
          </p:cNvSpPr>
          <p:nvPr/>
        </p:nvSpPr>
        <p:spPr>
          <a:xfrm>
            <a:off x="733425" y="4495800"/>
            <a:ext cx="4772025" cy="9715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Клиент представляет себя на месте пользователя и лучше понимает возможные потери.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17B7C986-8985-49A3-9DE7-F011067555A3}"/>
              </a:ext>
            </a:extLst>
          </p:cNvPr>
          <p:cNvSpPr>
            <a:spLocks noGrp="1"/>
          </p:cNvSpPr>
          <p:nvPr/>
        </p:nvSpPr>
        <p:spPr>
          <a:xfrm>
            <a:off x="5953125" y="3905250"/>
            <a:ext cx="5476875" cy="1714500"/>
          </a:xfrm>
          <a:prstGeom prst="rect">
            <a:avLst/>
          </a:prstGeom>
          <a:solidFill>
            <a:srgbClr val="0B0F0C"/>
          </a:solidFill>
          <a:ln w="9525">
            <a:solidFill>
              <a:srgbClr val="325A20"/>
            </a:solidFill>
            <a:prstDash val="solid"/>
          </a:ln>
        </p:spPr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F8A4C32-B1B0-4A37-BBF6-ACC91D3DF3D5}"/>
              </a:ext>
            </a:extLst>
          </p:cNvPr>
          <p:cNvSpPr>
            <a:spLocks noGrp="1"/>
          </p:cNvSpPr>
          <p:nvPr/>
        </p:nvSpPr>
        <p:spPr>
          <a:xfrm>
            <a:off x="6162675" y="4076700"/>
            <a:ext cx="5057775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КАК ДЕЛАТЬ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540A7F1E-FCF1-428C-A157-48B0BE5895FB}"/>
              </a:ext>
            </a:extLst>
          </p:cNvPr>
          <p:cNvSpPr>
            <a:spLocks noGrp="1"/>
          </p:cNvSpPr>
          <p:nvPr/>
        </p:nvSpPr>
        <p:spPr>
          <a:xfrm>
            <a:off x="6162675" y="4495800"/>
            <a:ext cx="5057775" cy="9715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Использовать ситуацию, соответствующую сфере бизнеса клиента.</a:t>
            </a:r>
          </a:p>
        </p:txBody>
      </p:sp>
    </p:spTree>
    <p:extLst>
      <p:ext uri="{BB962C8B-B14F-4D97-AF65-F5344CB8AC3E}">
        <p14:creationId xmlns:p14="http://schemas.microsoft.com/office/powerpoint/2010/main" val="1768208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F1B489F-BA73-42F4-9FB5-8FC46D7B0FCA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94FEBF9-DB29-4B01-939E-6B24149E18AE}"/>
              </a:ext>
            </a:extLst>
          </p:cNvPr>
          <p:cNvSpPr>
            <a:spLocks noGrp="1"/>
          </p:cNvSpPr>
          <p:nvPr/>
        </p:nvSpPr>
        <p:spPr>
          <a:xfrm>
            <a:off x="76962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E8D4142-7554-44D6-A335-D8F036AF1968}"/>
              </a:ext>
            </a:extLst>
          </p:cNvPr>
          <p:cNvSpPr>
            <a:spLocks noGrp="1"/>
          </p:cNvSpPr>
          <p:nvPr/>
        </p:nvSpPr>
        <p:spPr>
          <a:xfrm>
            <a:off x="81534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4FB485E-E2F4-4B27-B531-D30A4D840043}"/>
              </a:ext>
            </a:extLst>
          </p:cNvPr>
          <p:cNvSpPr>
            <a:spLocks noGrp="1"/>
          </p:cNvSpPr>
          <p:nvPr/>
        </p:nvSpPr>
        <p:spPr>
          <a:xfrm>
            <a:off x="86106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38D97D3-B4BA-43DB-8535-63B23BA7798C}"/>
              </a:ext>
            </a:extLst>
          </p:cNvPr>
          <p:cNvSpPr>
            <a:spLocks noGrp="1"/>
          </p:cNvSpPr>
          <p:nvPr/>
        </p:nvSpPr>
        <p:spPr>
          <a:xfrm>
            <a:off x="90678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242B3DA-F292-4596-8C04-50DE4EFB7F3C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C4A3CA9-4DC5-42C3-A216-9A4D230A3FBF}"/>
              </a:ext>
            </a:extLst>
          </p:cNvPr>
          <p:cNvSpPr>
            <a:spLocks noGrp="1"/>
          </p:cNvSpPr>
          <p:nvPr/>
        </p:nvSpPr>
        <p:spPr>
          <a:xfrm>
            <a:off x="99822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33BDD7E-D66B-4F50-9FF3-35D6C07504ED}"/>
              </a:ext>
            </a:extLst>
          </p:cNvPr>
          <p:cNvSpPr>
            <a:spLocks noGrp="1"/>
          </p:cNvSpPr>
          <p:nvPr/>
        </p:nvSpPr>
        <p:spPr>
          <a:xfrm>
            <a:off x="104394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FDFB572-45A0-4D12-BF59-D796A84A9D0D}"/>
              </a:ext>
            </a:extLst>
          </p:cNvPr>
          <p:cNvSpPr>
            <a:spLocks noGrp="1"/>
          </p:cNvSpPr>
          <p:nvPr/>
        </p:nvSpPr>
        <p:spPr>
          <a:xfrm>
            <a:off x="108966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DC1A8CF-FC5C-47F4-B0C1-0A66E80F7374}"/>
              </a:ext>
            </a:extLst>
          </p:cNvPr>
          <p:cNvSpPr>
            <a:spLocks noGrp="1"/>
          </p:cNvSpPr>
          <p:nvPr/>
        </p:nvSpPr>
        <p:spPr>
          <a:xfrm>
            <a:off x="113538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B9D6825-876F-437D-ABB8-B9E1E07A0DF2}"/>
              </a:ext>
            </a:extLst>
          </p:cNvPr>
          <p:cNvSpPr>
            <a:spLocks noGrp="1"/>
          </p:cNvSpPr>
          <p:nvPr/>
        </p:nvSpPr>
        <p:spPr>
          <a:xfrm>
            <a:off x="118110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A8C5507-7347-45D7-8E50-5F235C08EE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706">
              <a:alpha val="66667"/>
            </a:srgbClr>
          </a:solidFill>
          <a:ln w="9525">
            <a:solidFill>
              <a:srgbClr val="050706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BFB2E98-B7C1-4DAB-A67A-EED17BDFC6A7}"/>
              </a:ext>
            </a:extLst>
          </p:cNvPr>
          <p:cNvSpPr>
            <a:spLocks noGrp="1"/>
          </p:cNvSpPr>
          <p:nvPr/>
        </p:nvSpPr>
        <p:spPr>
          <a:xfrm>
            <a:off x="438150" y="266700"/>
            <a:ext cx="2524125" cy="266700"/>
          </a:xfrm>
          <a:prstGeom prst="rect">
            <a:avLst/>
          </a:prstGeom>
          <a:solidFill>
            <a:srgbClr val="163A08"/>
          </a:solidFill>
          <a:ln w="9525">
            <a:solidFill>
              <a:srgbClr val="62D218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98727BD-8FB6-4F2D-901A-640D0F56C673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2333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900" b="1">
                <a:solidFill>
                  <a:srgbClr val="E8F8DF"/>
                </a:solidFill>
                <a:latin typeface="Arial"/>
                <a:ea typeface="Arial"/>
                <a:cs typeface="Arial"/>
              </a:defRPr>
            </a:pPr>
            <a:r>
              <a:t>ФОРМИРОВАНИЕ ПОТРЕБНОСТИ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EC6E5A3-8C24-4CFB-B959-B6333EA1A7C3}"/>
              </a:ext>
            </a:extLst>
          </p:cNvPr>
          <p:cNvSpPr>
            <a:spLocks noGrp="1"/>
          </p:cNvSpPr>
          <p:nvPr/>
        </p:nvSpPr>
        <p:spPr>
          <a:xfrm>
            <a:off x="11334750" y="285750"/>
            <a:ext cx="428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r">
              <a:defRPr sz="975" b="1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10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BEA4789E-F952-40B6-90EA-D5594A3FE185}"/>
              </a:ext>
            </a:extLst>
          </p:cNvPr>
          <p:cNvSpPr>
            <a:spLocks noGrp="1"/>
          </p:cNvSpPr>
          <p:nvPr/>
        </p:nvSpPr>
        <p:spPr>
          <a:xfrm>
            <a:off x="457200" y="742950"/>
            <a:ext cx="11049000" cy="7810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28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ШАГ 2. ПРИМЕР ФОРМУЛИРОВКИ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B6FA2491-E3B5-4B2E-A376-6670E0B71AF8}"/>
              </a:ext>
            </a:extLst>
          </p:cNvPr>
          <p:cNvSpPr>
            <a:spLocks noGrp="1"/>
          </p:cNvSpPr>
          <p:nvPr/>
        </p:nvSpPr>
        <p:spPr>
          <a:xfrm>
            <a:off x="666750" y="1952625"/>
            <a:ext cx="10477500" cy="3619500"/>
          </a:xfrm>
          <a:prstGeom prst="rect">
            <a:avLst/>
          </a:prstGeom>
          <a:solidFill>
            <a:srgbClr val="0B0F0C"/>
          </a:solidFill>
          <a:ln w="9525">
            <a:solidFill>
              <a:srgbClr val="325A20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C1F9E9F-BA8C-44B2-BD93-A003B8C39242}"/>
              </a:ext>
            </a:extLst>
          </p:cNvPr>
          <p:cNvSpPr>
            <a:spLocks noGrp="1"/>
          </p:cNvSpPr>
          <p:nvPr/>
        </p:nvSpPr>
        <p:spPr>
          <a:xfrm>
            <a:off x="876300" y="2124075"/>
            <a:ext cx="10058400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ПРИМЕР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2A0B133A-6385-4CAA-B196-12A59FF0DC6B}"/>
              </a:ext>
            </a:extLst>
          </p:cNvPr>
          <p:cNvSpPr>
            <a:spLocks noGrp="1"/>
          </p:cNvSpPr>
          <p:nvPr/>
        </p:nvSpPr>
        <p:spPr>
          <a:xfrm>
            <a:off x="876300" y="2543175"/>
            <a:ext cx="10058400" cy="28765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«Представьте клиента, который открыл вашу карточку и карточку конкурента. У конкурента указаны услуги и цены, добавлены свежие фотографии, выходят публикации и есть ответы на отзывы. В вашей карточке информации меньше. При прочих равных клиенту будет проще выбрать конкурента».</a:t>
            </a:r>
          </a:p>
        </p:txBody>
      </p:sp>
    </p:spTree>
    <p:extLst>
      <p:ext uri="{BB962C8B-B14F-4D97-AF65-F5344CB8AC3E}">
        <p14:creationId xmlns:p14="http://schemas.microsoft.com/office/powerpoint/2010/main" val="1077395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E3FA3433-7B6F-465B-A402-275081BDBAD3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4B51C0F-4EF7-43BA-85EA-482C37599A3D}"/>
              </a:ext>
            </a:extLst>
          </p:cNvPr>
          <p:cNvSpPr>
            <a:spLocks noGrp="1"/>
          </p:cNvSpPr>
          <p:nvPr/>
        </p:nvSpPr>
        <p:spPr>
          <a:xfrm>
            <a:off x="76962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C01DF3F-444C-4CFB-A735-C833A9A205DC}"/>
              </a:ext>
            </a:extLst>
          </p:cNvPr>
          <p:cNvSpPr>
            <a:spLocks noGrp="1"/>
          </p:cNvSpPr>
          <p:nvPr/>
        </p:nvSpPr>
        <p:spPr>
          <a:xfrm>
            <a:off x="81534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C12192E-26D5-4F54-B7D9-F50F67EDDB81}"/>
              </a:ext>
            </a:extLst>
          </p:cNvPr>
          <p:cNvSpPr>
            <a:spLocks noGrp="1"/>
          </p:cNvSpPr>
          <p:nvPr/>
        </p:nvSpPr>
        <p:spPr>
          <a:xfrm>
            <a:off x="86106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76E1159-E1CC-48A1-8B92-D59052AFB675}"/>
              </a:ext>
            </a:extLst>
          </p:cNvPr>
          <p:cNvSpPr>
            <a:spLocks noGrp="1"/>
          </p:cNvSpPr>
          <p:nvPr/>
        </p:nvSpPr>
        <p:spPr>
          <a:xfrm>
            <a:off x="90678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138CFF5-EDF0-4224-A443-B8E29619076E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5439733-75D4-4F37-9F4B-47D109BACCB1}"/>
              </a:ext>
            </a:extLst>
          </p:cNvPr>
          <p:cNvSpPr>
            <a:spLocks noGrp="1"/>
          </p:cNvSpPr>
          <p:nvPr/>
        </p:nvSpPr>
        <p:spPr>
          <a:xfrm>
            <a:off x="99822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9C51065-A64A-4034-AC63-AA82E1F9F484}"/>
              </a:ext>
            </a:extLst>
          </p:cNvPr>
          <p:cNvSpPr>
            <a:spLocks noGrp="1"/>
          </p:cNvSpPr>
          <p:nvPr/>
        </p:nvSpPr>
        <p:spPr>
          <a:xfrm>
            <a:off x="104394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9D4FB42-9309-4AC6-9217-9FA8BC85DBBD}"/>
              </a:ext>
            </a:extLst>
          </p:cNvPr>
          <p:cNvSpPr>
            <a:spLocks noGrp="1"/>
          </p:cNvSpPr>
          <p:nvPr/>
        </p:nvSpPr>
        <p:spPr>
          <a:xfrm>
            <a:off x="108966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A124C6C-6C6E-4820-A477-E68981B23162}"/>
              </a:ext>
            </a:extLst>
          </p:cNvPr>
          <p:cNvSpPr>
            <a:spLocks noGrp="1"/>
          </p:cNvSpPr>
          <p:nvPr/>
        </p:nvSpPr>
        <p:spPr>
          <a:xfrm>
            <a:off x="113538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5306A5B-617D-4B46-BE28-E0CA27D9ED4D}"/>
              </a:ext>
            </a:extLst>
          </p:cNvPr>
          <p:cNvSpPr>
            <a:spLocks noGrp="1"/>
          </p:cNvSpPr>
          <p:nvPr/>
        </p:nvSpPr>
        <p:spPr>
          <a:xfrm>
            <a:off x="118110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8994255-85DC-4316-9C80-0EF51416ABB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706">
              <a:alpha val="66667"/>
            </a:srgbClr>
          </a:solidFill>
          <a:ln w="9525">
            <a:solidFill>
              <a:srgbClr val="050706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BB67D0A-3276-4183-8141-855E6CD2FBB0}"/>
              </a:ext>
            </a:extLst>
          </p:cNvPr>
          <p:cNvSpPr>
            <a:spLocks noGrp="1"/>
          </p:cNvSpPr>
          <p:nvPr/>
        </p:nvSpPr>
        <p:spPr>
          <a:xfrm>
            <a:off x="438150" y="266700"/>
            <a:ext cx="2524125" cy="266700"/>
          </a:xfrm>
          <a:prstGeom prst="rect">
            <a:avLst/>
          </a:prstGeom>
          <a:solidFill>
            <a:srgbClr val="163A08"/>
          </a:solidFill>
          <a:ln w="9525">
            <a:solidFill>
              <a:srgbClr val="62D218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4401075-9C77-491A-97CD-9C63A553D9D0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2333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900" b="1">
                <a:solidFill>
                  <a:srgbClr val="E8F8DF"/>
                </a:solidFill>
                <a:latin typeface="Arial"/>
                <a:ea typeface="Arial"/>
                <a:cs typeface="Arial"/>
              </a:defRPr>
            </a:pPr>
            <a:r>
              <a:t>ФОРМИРОВАНИЕ ПОТРЕБНОСТИ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524ECEB4-60B3-4A87-A2DC-96006DCAD056}"/>
              </a:ext>
            </a:extLst>
          </p:cNvPr>
          <p:cNvSpPr>
            <a:spLocks noGrp="1"/>
          </p:cNvSpPr>
          <p:nvPr/>
        </p:nvSpPr>
        <p:spPr>
          <a:xfrm>
            <a:off x="11334750" y="285750"/>
            <a:ext cx="428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r">
              <a:defRPr sz="975" b="1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11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F0CEC52-7FF6-40A9-BEA9-7B39C8952C54}"/>
              </a:ext>
            </a:extLst>
          </p:cNvPr>
          <p:cNvSpPr>
            <a:spLocks noGrp="1"/>
          </p:cNvSpPr>
          <p:nvPr/>
        </p:nvSpPr>
        <p:spPr>
          <a:xfrm>
            <a:off x="457200" y="742950"/>
            <a:ext cx="11049000" cy="7810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28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ШАГ 3. ВЫЯСНЯЕМ ОТНОШЕНИЕ К ПРОБЛЕМЕ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E24AA20-5D02-4B77-A554-5BF79CCF619F}"/>
              </a:ext>
            </a:extLst>
          </p:cNvPr>
          <p:cNvSpPr>
            <a:spLocks noGrp="1"/>
          </p:cNvSpPr>
          <p:nvPr/>
        </p:nvSpPr>
        <p:spPr>
          <a:xfrm>
            <a:off x="523875" y="1952625"/>
            <a:ext cx="5191125" cy="1714500"/>
          </a:xfrm>
          <a:prstGeom prst="rect">
            <a:avLst/>
          </a:prstGeom>
          <a:solidFill>
            <a:srgbClr val="0B0F0C"/>
          </a:solidFill>
          <a:ln w="9525">
            <a:solidFill>
              <a:srgbClr val="325A20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6AA395D5-AEBF-400E-900C-F390DEF27733}"/>
              </a:ext>
            </a:extLst>
          </p:cNvPr>
          <p:cNvSpPr>
            <a:spLocks noGrp="1"/>
          </p:cNvSpPr>
          <p:nvPr/>
        </p:nvSpPr>
        <p:spPr>
          <a:xfrm>
            <a:off x="733425" y="2124075"/>
            <a:ext cx="4772025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ЧТО ДЕЛАЕМ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FD643E0B-1861-420B-89E2-D643EB13B206}"/>
              </a:ext>
            </a:extLst>
          </p:cNvPr>
          <p:cNvSpPr>
            <a:spLocks noGrp="1"/>
          </p:cNvSpPr>
          <p:nvPr/>
        </p:nvSpPr>
        <p:spPr>
          <a:xfrm>
            <a:off x="733425" y="2543175"/>
            <a:ext cx="4772025" cy="9715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Спрашиваем, как клиент работает с карточками сейчас и устраивает ли его результат.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34ED840B-E5FD-444F-BF66-2E6B372F5029}"/>
              </a:ext>
            </a:extLst>
          </p:cNvPr>
          <p:cNvSpPr>
            <a:spLocks noGrp="1"/>
          </p:cNvSpPr>
          <p:nvPr/>
        </p:nvSpPr>
        <p:spPr>
          <a:xfrm>
            <a:off x="5953125" y="1952625"/>
            <a:ext cx="5476875" cy="1714500"/>
          </a:xfrm>
          <a:prstGeom prst="rect">
            <a:avLst/>
          </a:prstGeom>
          <a:solidFill>
            <a:srgbClr val="0B0F0C"/>
          </a:solidFill>
          <a:ln w="9525">
            <a:solidFill>
              <a:srgbClr val="325A20"/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6282D82-EBCC-4E1F-B83B-F0D18C03832B}"/>
              </a:ext>
            </a:extLst>
          </p:cNvPr>
          <p:cNvSpPr>
            <a:spLocks noGrp="1"/>
          </p:cNvSpPr>
          <p:nvPr/>
        </p:nvSpPr>
        <p:spPr>
          <a:xfrm>
            <a:off x="6162675" y="2124075"/>
            <a:ext cx="5057775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ПОЧЕМУ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EE48E809-79A9-43DC-ADE5-800F019A0298}"/>
              </a:ext>
            </a:extLst>
          </p:cNvPr>
          <p:cNvSpPr>
            <a:spLocks noGrp="1"/>
          </p:cNvSpPr>
          <p:nvPr/>
        </p:nvSpPr>
        <p:spPr>
          <a:xfrm>
            <a:off x="6162675" y="2543175"/>
            <a:ext cx="5057775" cy="9715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Важно, чтобы клиент самостоятельно оценил ситуацию и подтвердил проблему.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7B7D9F63-F7EE-41C8-BDF0-7FEC901666C3}"/>
              </a:ext>
            </a:extLst>
          </p:cNvPr>
          <p:cNvSpPr>
            <a:spLocks noGrp="1"/>
          </p:cNvSpPr>
          <p:nvPr/>
        </p:nvSpPr>
        <p:spPr>
          <a:xfrm>
            <a:off x="523875" y="3905250"/>
            <a:ext cx="5191125" cy="1714500"/>
          </a:xfrm>
          <a:prstGeom prst="rect">
            <a:avLst/>
          </a:prstGeom>
          <a:solidFill>
            <a:srgbClr val="0B0F0C"/>
          </a:solidFill>
          <a:ln w="9525">
            <a:solidFill>
              <a:srgbClr val="325A20"/>
            </a:solidFill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9CF09EAB-EBF1-4B42-87CF-21D3379D701B}"/>
              </a:ext>
            </a:extLst>
          </p:cNvPr>
          <p:cNvSpPr>
            <a:spLocks noGrp="1"/>
          </p:cNvSpPr>
          <p:nvPr/>
        </p:nvSpPr>
        <p:spPr>
          <a:xfrm>
            <a:off x="733425" y="4076700"/>
            <a:ext cx="4772025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КАК ВЛИЯЕТ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2B23EF15-493D-496A-B8C4-734E07594496}"/>
              </a:ext>
            </a:extLst>
          </p:cNvPr>
          <p:cNvSpPr>
            <a:spLocks noGrp="1"/>
          </p:cNvSpPr>
          <p:nvPr/>
        </p:nvSpPr>
        <p:spPr>
          <a:xfrm>
            <a:off x="733425" y="4495800"/>
            <a:ext cx="4772025" cy="9715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Разговор становится диалогом, а клиент проговаривает сложности собственными словами.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C7100DB7-E8EF-4DAA-AFF0-18805FA079BB}"/>
              </a:ext>
            </a:extLst>
          </p:cNvPr>
          <p:cNvSpPr>
            <a:spLocks noGrp="1"/>
          </p:cNvSpPr>
          <p:nvPr/>
        </p:nvSpPr>
        <p:spPr>
          <a:xfrm>
            <a:off x="5953125" y="3905250"/>
            <a:ext cx="5476875" cy="1714500"/>
          </a:xfrm>
          <a:prstGeom prst="rect">
            <a:avLst/>
          </a:prstGeom>
          <a:solidFill>
            <a:srgbClr val="0B0F0C"/>
          </a:solidFill>
          <a:ln w="9525">
            <a:solidFill>
              <a:srgbClr val="325A20"/>
            </a:solidFill>
            <a:prstDash val="solid"/>
          </a:ln>
        </p:spPr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2CEF0063-FBA2-4955-94D6-9BDEAD017921}"/>
              </a:ext>
            </a:extLst>
          </p:cNvPr>
          <p:cNvSpPr>
            <a:spLocks noGrp="1"/>
          </p:cNvSpPr>
          <p:nvPr/>
        </p:nvSpPr>
        <p:spPr>
          <a:xfrm>
            <a:off x="6162675" y="4076700"/>
            <a:ext cx="5057775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КАК ДЕЛАТЬ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E6FA89A0-DA62-4649-9C6D-CBCC24AD90F2}"/>
              </a:ext>
            </a:extLst>
          </p:cNvPr>
          <p:cNvSpPr>
            <a:spLocks noGrp="1"/>
          </p:cNvSpPr>
          <p:nvPr/>
        </p:nvSpPr>
        <p:spPr>
          <a:xfrm>
            <a:off x="6162675" y="4495800"/>
            <a:ext cx="5057775" cy="9715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Задавать открытые вопросы и не спорить с ответами клиента.</a:t>
            </a:r>
          </a:p>
        </p:txBody>
      </p:sp>
    </p:spTree>
    <p:extLst>
      <p:ext uri="{BB962C8B-B14F-4D97-AF65-F5344CB8AC3E}">
        <p14:creationId xmlns:p14="http://schemas.microsoft.com/office/powerpoint/2010/main" val="19282372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EB7B2134-F4A3-4F62-90FD-069864C8FCB5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BEA36E4-A3C8-4A69-8DD4-927C4D533C02}"/>
              </a:ext>
            </a:extLst>
          </p:cNvPr>
          <p:cNvSpPr>
            <a:spLocks noGrp="1"/>
          </p:cNvSpPr>
          <p:nvPr/>
        </p:nvSpPr>
        <p:spPr>
          <a:xfrm>
            <a:off x="76962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FC0F4D8-51B2-41B0-8EC9-CA3A851EC8AB}"/>
              </a:ext>
            </a:extLst>
          </p:cNvPr>
          <p:cNvSpPr>
            <a:spLocks noGrp="1"/>
          </p:cNvSpPr>
          <p:nvPr/>
        </p:nvSpPr>
        <p:spPr>
          <a:xfrm>
            <a:off x="81534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D867D30-D86A-4CFF-A946-EDC71981E49E}"/>
              </a:ext>
            </a:extLst>
          </p:cNvPr>
          <p:cNvSpPr>
            <a:spLocks noGrp="1"/>
          </p:cNvSpPr>
          <p:nvPr/>
        </p:nvSpPr>
        <p:spPr>
          <a:xfrm>
            <a:off x="86106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4100403-365D-4BF2-921C-03BB11C7E205}"/>
              </a:ext>
            </a:extLst>
          </p:cNvPr>
          <p:cNvSpPr>
            <a:spLocks noGrp="1"/>
          </p:cNvSpPr>
          <p:nvPr/>
        </p:nvSpPr>
        <p:spPr>
          <a:xfrm>
            <a:off x="90678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D36C7C5-3AF0-4D3E-8B24-F28933355AEE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B86F936-29EB-4917-80C8-C0C536451A7C}"/>
              </a:ext>
            </a:extLst>
          </p:cNvPr>
          <p:cNvSpPr>
            <a:spLocks noGrp="1"/>
          </p:cNvSpPr>
          <p:nvPr/>
        </p:nvSpPr>
        <p:spPr>
          <a:xfrm>
            <a:off x="99822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C632CAE-F96B-4AF2-9733-7476A656971A}"/>
              </a:ext>
            </a:extLst>
          </p:cNvPr>
          <p:cNvSpPr>
            <a:spLocks noGrp="1"/>
          </p:cNvSpPr>
          <p:nvPr/>
        </p:nvSpPr>
        <p:spPr>
          <a:xfrm>
            <a:off x="104394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F9B770B-225A-4CE3-A9D5-086F10F40947}"/>
              </a:ext>
            </a:extLst>
          </p:cNvPr>
          <p:cNvSpPr>
            <a:spLocks noGrp="1"/>
          </p:cNvSpPr>
          <p:nvPr/>
        </p:nvSpPr>
        <p:spPr>
          <a:xfrm>
            <a:off x="108966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C7D67A9-FC57-4280-86CC-B75C75802D61}"/>
              </a:ext>
            </a:extLst>
          </p:cNvPr>
          <p:cNvSpPr>
            <a:spLocks noGrp="1"/>
          </p:cNvSpPr>
          <p:nvPr/>
        </p:nvSpPr>
        <p:spPr>
          <a:xfrm>
            <a:off x="113538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A254DDE-57FF-4BA7-A595-34144DDB05B1}"/>
              </a:ext>
            </a:extLst>
          </p:cNvPr>
          <p:cNvSpPr>
            <a:spLocks noGrp="1"/>
          </p:cNvSpPr>
          <p:nvPr/>
        </p:nvSpPr>
        <p:spPr>
          <a:xfrm>
            <a:off x="118110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2353187-6FB4-4FE3-BF4E-270E37D4BC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706">
              <a:alpha val="66667"/>
            </a:srgbClr>
          </a:solidFill>
          <a:ln w="9525">
            <a:solidFill>
              <a:srgbClr val="050706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03370A8-D0F3-4D80-997E-95ADFFEE99E3}"/>
              </a:ext>
            </a:extLst>
          </p:cNvPr>
          <p:cNvSpPr>
            <a:spLocks noGrp="1"/>
          </p:cNvSpPr>
          <p:nvPr/>
        </p:nvSpPr>
        <p:spPr>
          <a:xfrm>
            <a:off x="438150" y="266700"/>
            <a:ext cx="2524125" cy="266700"/>
          </a:xfrm>
          <a:prstGeom prst="rect">
            <a:avLst/>
          </a:prstGeom>
          <a:solidFill>
            <a:srgbClr val="163A08"/>
          </a:solidFill>
          <a:ln w="9525">
            <a:solidFill>
              <a:srgbClr val="62D218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E04F819-6909-4674-9E56-E682BC9C60C0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2333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900" b="1">
                <a:solidFill>
                  <a:srgbClr val="E8F8DF"/>
                </a:solidFill>
                <a:latin typeface="Arial"/>
                <a:ea typeface="Arial"/>
                <a:cs typeface="Arial"/>
              </a:defRPr>
            </a:pPr>
            <a:r>
              <a:t>ФОРМИРОВАНИЕ ПОТРЕБНОСТИ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E942C2B7-B5A0-4ED9-88D2-B1CA5403A811}"/>
              </a:ext>
            </a:extLst>
          </p:cNvPr>
          <p:cNvSpPr>
            <a:spLocks noGrp="1"/>
          </p:cNvSpPr>
          <p:nvPr/>
        </p:nvSpPr>
        <p:spPr>
          <a:xfrm>
            <a:off x="11334750" y="285750"/>
            <a:ext cx="428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r">
              <a:defRPr sz="975" b="1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12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BEEADAF-4D22-412C-A882-5B87E9C3E2B8}"/>
              </a:ext>
            </a:extLst>
          </p:cNvPr>
          <p:cNvSpPr>
            <a:spLocks noGrp="1"/>
          </p:cNvSpPr>
          <p:nvPr/>
        </p:nvSpPr>
        <p:spPr>
          <a:xfrm>
            <a:off x="457200" y="742950"/>
            <a:ext cx="11049000" cy="7810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28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ШАГ 3. ПРИМЕР ФОРМУЛИРОВКИ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D3AAD71F-B653-4065-811A-4EBB60255240}"/>
              </a:ext>
            </a:extLst>
          </p:cNvPr>
          <p:cNvSpPr>
            <a:spLocks noGrp="1"/>
          </p:cNvSpPr>
          <p:nvPr/>
        </p:nvSpPr>
        <p:spPr>
          <a:xfrm>
            <a:off x="666750" y="1952625"/>
            <a:ext cx="10477500" cy="3619500"/>
          </a:xfrm>
          <a:prstGeom prst="rect">
            <a:avLst/>
          </a:prstGeom>
          <a:solidFill>
            <a:srgbClr val="0B0F0C"/>
          </a:solidFill>
          <a:ln w="9525">
            <a:solidFill>
              <a:srgbClr val="325A20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27B03BF1-A000-45E9-A0FC-3304A5878EDA}"/>
              </a:ext>
            </a:extLst>
          </p:cNvPr>
          <p:cNvSpPr>
            <a:spLocks noGrp="1"/>
          </p:cNvSpPr>
          <p:nvPr/>
        </p:nvSpPr>
        <p:spPr>
          <a:xfrm>
            <a:off x="876300" y="2124075"/>
            <a:ext cx="10058400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ПРИМЕР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46FBD7E9-43F1-4436-B19F-6B8A9381D687}"/>
              </a:ext>
            </a:extLst>
          </p:cNvPr>
          <p:cNvSpPr>
            <a:spLocks noGrp="1"/>
          </p:cNvSpPr>
          <p:nvPr/>
        </p:nvSpPr>
        <p:spPr>
          <a:xfrm>
            <a:off x="876300" y="2543175"/>
            <a:ext cx="10058400" cy="28765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«Подскажите, кто сейчас занимается ведением карточек на Яндекс Картах, 2ГИС и Zoon? Как часто вы обновляете информацию, добавляете фотографии, публикуете новости и отвечаете на отзывы?»</a:t>
            </a:r>
          </a:p>
        </p:txBody>
      </p:sp>
    </p:spTree>
    <p:extLst>
      <p:ext uri="{BB962C8B-B14F-4D97-AF65-F5344CB8AC3E}">
        <p14:creationId xmlns:p14="http://schemas.microsoft.com/office/powerpoint/2010/main" val="2242359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8B417CD9-8C1F-43D5-A80B-2EE72F782DA7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3C31744-2873-4AA3-8178-4B241C37736F}"/>
              </a:ext>
            </a:extLst>
          </p:cNvPr>
          <p:cNvSpPr>
            <a:spLocks noGrp="1"/>
          </p:cNvSpPr>
          <p:nvPr/>
        </p:nvSpPr>
        <p:spPr>
          <a:xfrm>
            <a:off x="76962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8359DD2-B087-405C-ADC0-4B8277E993BD}"/>
              </a:ext>
            </a:extLst>
          </p:cNvPr>
          <p:cNvSpPr>
            <a:spLocks noGrp="1"/>
          </p:cNvSpPr>
          <p:nvPr/>
        </p:nvSpPr>
        <p:spPr>
          <a:xfrm>
            <a:off x="81534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9BD66DE-1F16-4F0A-B7CF-C7F807F3EB0F}"/>
              </a:ext>
            </a:extLst>
          </p:cNvPr>
          <p:cNvSpPr>
            <a:spLocks noGrp="1"/>
          </p:cNvSpPr>
          <p:nvPr/>
        </p:nvSpPr>
        <p:spPr>
          <a:xfrm>
            <a:off x="86106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3B94E25-B2A3-418C-8873-C6AB508222A6}"/>
              </a:ext>
            </a:extLst>
          </p:cNvPr>
          <p:cNvSpPr>
            <a:spLocks noGrp="1"/>
          </p:cNvSpPr>
          <p:nvPr/>
        </p:nvSpPr>
        <p:spPr>
          <a:xfrm>
            <a:off x="90678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92AFF7B-764C-43FF-9188-31149FCD4641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DB8FD3A-65EC-4919-B78A-60708AD24748}"/>
              </a:ext>
            </a:extLst>
          </p:cNvPr>
          <p:cNvSpPr>
            <a:spLocks noGrp="1"/>
          </p:cNvSpPr>
          <p:nvPr/>
        </p:nvSpPr>
        <p:spPr>
          <a:xfrm>
            <a:off x="99822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BC6EAED-8E5B-494C-932F-69090D4708BD}"/>
              </a:ext>
            </a:extLst>
          </p:cNvPr>
          <p:cNvSpPr>
            <a:spLocks noGrp="1"/>
          </p:cNvSpPr>
          <p:nvPr/>
        </p:nvSpPr>
        <p:spPr>
          <a:xfrm>
            <a:off x="104394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3884B60-A7A7-4BFE-9DDF-27FF55A67A66}"/>
              </a:ext>
            </a:extLst>
          </p:cNvPr>
          <p:cNvSpPr>
            <a:spLocks noGrp="1"/>
          </p:cNvSpPr>
          <p:nvPr/>
        </p:nvSpPr>
        <p:spPr>
          <a:xfrm>
            <a:off x="108966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64DF2BF-AB00-424B-BA9E-CDDA2E39A0A7}"/>
              </a:ext>
            </a:extLst>
          </p:cNvPr>
          <p:cNvSpPr>
            <a:spLocks noGrp="1"/>
          </p:cNvSpPr>
          <p:nvPr/>
        </p:nvSpPr>
        <p:spPr>
          <a:xfrm>
            <a:off x="113538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CA8BDEB-0370-4EC0-B691-F974DE416288}"/>
              </a:ext>
            </a:extLst>
          </p:cNvPr>
          <p:cNvSpPr>
            <a:spLocks noGrp="1"/>
          </p:cNvSpPr>
          <p:nvPr/>
        </p:nvSpPr>
        <p:spPr>
          <a:xfrm>
            <a:off x="118110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8B88EDF8-BD4F-4485-9402-E40FDCC04E5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706">
              <a:alpha val="66667"/>
            </a:srgbClr>
          </a:solidFill>
          <a:ln w="9525">
            <a:solidFill>
              <a:srgbClr val="050706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21070E7-CEA3-49D0-94E6-314040687CB6}"/>
              </a:ext>
            </a:extLst>
          </p:cNvPr>
          <p:cNvSpPr>
            <a:spLocks noGrp="1"/>
          </p:cNvSpPr>
          <p:nvPr/>
        </p:nvSpPr>
        <p:spPr>
          <a:xfrm>
            <a:off x="438150" y="266700"/>
            <a:ext cx="2524125" cy="266700"/>
          </a:xfrm>
          <a:prstGeom prst="rect">
            <a:avLst/>
          </a:prstGeom>
          <a:solidFill>
            <a:srgbClr val="163A08"/>
          </a:solidFill>
          <a:ln w="9525">
            <a:solidFill>
              <a:srgbClr val="62D218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C2E5828-26F2-484C-92EA-9A685017A1BB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2333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900" b="1">
                <a:solidFill>
                  <a:srgbClr val="E8F8DF"/>
                </a:solidFill>
                <a:latin typeface="Arial"/>
                <a:ea typeface="Arial"/>
                <a:cs typeface="Arial"/>
              </a:defRPr>
            </a:pPr>
            <a:r>
              <a:t>ФОРМИРОВАНИЕ ПОТРЕБНОСТИ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E64F43DA-A6F0-4F5F-9DF2-EADE5E833939}"/>
              </a:ext>
            </a:extLst>
          </p:cNvPr>
          <p:cNvSpPr>
            <a:spLocks noGrp="1"/>
          </p:cNvSpPr>
          <p:nvPr/>
        </p:nvSpPr>
        <p:spPr>
          <a:xfrm>
            <a:off x="11334750" y="285750"/>
            <a:ext cx="428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r">
              <a:defRPr sz="975" b="1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13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1D42A01-F7BE-47C9-8113-DDAC0F773539}"/>
              </a:ext>
            </a:extLst>
          </p:cNvPr>
          <p:cNvSpPr>
            <a:spLocks noGrp="1"/>
          </p:cNvSpPr>
          <p:nvPr/>
        </p:nvSpPr>
        <p:spPr>
          <a:xfrm>
            <a:off x="457200" y="742950"/>
            <a:ext cx="11049000" cy="7810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28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ШАГ 4. ФОРМИРУЕМ МОТИВАЦИЮ К ДЕЙСТВИЮ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C4EC226F-21E0-4F5D-B29D-D6202EB785A2}"/>
              </a:ext>
            </a:extLst>
          </p:cNvPr>
          <p:cNvSpPr>
            <a:spLocks noGrp="1"/>
          </p:cNvSpPr>
          <p:nvPr/>
        </p:nvSpPr>
        <p:spPr>
          <a:xfrm>
            <a:off x="523875" y="1952625"/>
            <a:ext cx="5191125" cy="1714500"/>
          </a:xfrm>
          <a:prstGeom prst="rect">
            <a:avLst/>
          </a:prstGeom>
          <a:solidFill>
            <a:srgbClr val="0B0F0C"/>
          </a:solidFill>
          <a:ln w="9525">
            <a:solidFill>
              <a:srgbClr val="325A20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DA163D18-3CFD-4208-98F1-A21F6F4DC162}"/>
              </a:ext>
            </a:extLst>
          </p:cNvPr>
          <p:cNvSpPr>
            <a:spLocks noGrp="1"/>
          </p:cNvSpPr>
          <p:nvPr/>
        </p:nvSpPr>
        <p:spPr>
          <a:xfrm>
            <a:off x="733425" y="2124075"/>
            <a:ext cx="4772025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ЧТО ДЕЛАЕМ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7A710229-4477-4A8E-A649-7FA0EEDD6447}"/>
              </a:ext>
            </a:extLst>
          </p:cNvPr>
          <p:cNvSpPr>
            <a:spLocks noGrp="1"/>
          </p:cNvSpPr>
          <p:nvPr/>
        </p:nvSpPr>
        <p:spPr>
          <a:xfrm>
            <a:off x="733425" y="2543175"/>
            <a:ext cx="4772025" cy="9715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Показываем текущие последствия, возможную динамику ухудшения и путь потенциального клиента.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FF142A70-7268-4AE8-97CC-4C626F71A3EC}"/>
              </a:ext>
            </a:extLst>
          </p:cNvPr>
          <p:cNvSpPr>
            <a:spLocks noGrp="1"/>
          </p:cNvSpPr>
          <p:nvPr/>
        </p:nvSpPr>
        <p:spPr>
          <a:xfrm>
            <a:off x="5953125" y="1952625"/>
            <a:ext cx="5476875" cy="1714500"/>
          </a:xfrm>
          <a:prstGeom prst="rect">
            <a:avLst/>
          </a:prstGeom>
          <a:solidFill>
            <a:srgbClr val="0B0F0C"/>
          </a:solidFill>
          <a:ln w="9525">
            <a:solidFill>
              <a:srgbClr val="325A20"/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B27FCE2-A6C2-4AA4-94B0-175B14B87E5A}"/>
              </a:ext>
            </a:extLst>
          </p:cNvPr>
          <p:cNvSpPr>
            <a:spLocks noGrp="1"/>
          </p:cNvSpPr>
          <p:nvPr/>
        </p:nvSpPr>
        <p:spPr>
          <a:xfrm>
            <a:off x="6162675" y="2124075"/>
            <a:ext cx="5057775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ПОЧЕМУ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D3B36081-BDD2-4040-A181-624A8692F07A}"/>
              </a:ext>
            </a:extLst>
          </p:cNvPr>
          <p:cNvSpPr>
            <a:spLocks noGrp="1"/>
          </p:cNvSpPr>
          <p:nvPr/>
        </p:nvSpPr>
        <p:spPr>
          <a:xfrm>
            <a:off x="6162675" y="2543175"/>
            <a:ext cx="5057775" cy="9715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Клиент может понимать проблему, но не считать её решение приоритетным.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59C86CCF-E8D2-460A-9216-67CFE127C35B}"/>
              </a:ext>
            </a:extLst>
          </p:cNvPr>
          <p:cNvSpPr>
            <a:spLocks noGrp="1"/>
          </p:cNvSpPr>
          <p:nvPr/>
        </p:nvSpPr>
        <p:spPr>
          <a:xfrm>
            <a:off x="523875" y="3905250"/>
            <a:ext cx="5191125" cy="1714500"/>
          </a:xfrm>
          <a:prstGeom prst="rect">
            <a:avLst/>
          </a:prstGeom>
          <a:solidFill>
            <a:srgbClr val="0B0F0C"/>
          </a:solidFill>
          <a:ln w="9525">
            <a:solidFill>
              <a:srgbClr val="325A20"/>
            </a:solidFill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ADD2D811-796F-4896-97C6-F0F5C6431950}"/>
              </a:ext>
            </a:extLst>
          </p:cNvPr>
          <p:cNvSpPr>
            <a:spLocks noGrp="1"/>
          </p:cNvSpPr>
          <p:nvPr/>
        </p:nvSpPr>
        <p:spPr>
          <a:xfrm>
            <a:off x="733425" y="4076700"/>
            <a:ext cx="4772025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КАК ВЛИЯЕТ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909B7E59-6607-4D01-99EA-BCB3157B7D0E}"/>
              </a:ext>
            </a:extLst>
          </p:cNvPr>
          <p:cNvSpPr>
            <a:spLocks noGrp="1"/>
          </p:cNvSpPr>
          <p:nvPr/>
        </p:nvSpPr>
        <p:spPr>
          <a:xfrm>
            <a:off x="733425" y="4495800"/>
            <a:ext cx="4772025" cy="9715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Клиент осознаёт, почему откладывать решение невыгодно.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779FF70E-912A-4039-916C-CDEFE36D5185}"/>
              </a:ext>
            </a:extLst>
          </p:cNvPr>
          <p:cNvSpPr>
            <a:spLocks noGrp="1"/>
          </p:cNvSpPr>
          <p:nvPr/>
        </p:nvSpPr>
        <p:spPr>
          <a:xfrm>
            <a:off x="5953125" y="3905250"/>
            <a:ext cx="5476875" cy="1714500"/>
          </a:xfrm>
          <a:prstGeom prst="rect">
            <a:avLst/>
          </a:prstGeom>
          <a:solidFill>
            <a:srgbClr val="0B0F0C"/>
          </a:solidFill>
          <a:ln w="9525">
            <a:solidFill>
              <a:srgbClr val="325A20"/>
            </a:solidFill>
            <a:prstDash val="solid"/>
          </a:ln>
        </p:spPr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E24C801F-893F-4117-9FDB-AF25D5AA68C8}"/>
              </a:ext>
            </a:extLst>
          </p:cNvPr>
          <p:cNvSpPr>
            <a:spLocks noGrp="1"/>
          </p:cNvSpPr>
          <p:nvPr/>
        </p:nvSpPr>
        <p:spPr>
          <a:xfrm>
            <a:off x="6162675" y="4076700"/>
            <a:ext cx="5057775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КАК ДЕЛАТЬ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06D4E46E-9532-4B79-8CAC-0D88D6A884A8}"/>
              </a:ext>
            </a:extLst>
          </p:cNvPr>
          <p:cNvSpPr>
            <a:spLocks noGrp="1"/>
          </p:cNvSpPr>
          <p:nvPr/>
        </p:nvSpPr>
        <p:spPr>
          <a:xfrm>
            <a:off x="6162675" y="4495800"/>
            <a:ext cx="5057775" cy="9715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Опираться на слова клиента и использовать условные формулировки: «может», «если ситуация сохранится», «вероятность».</a:t>
            </a:r>
          </a:p>
        </p:txBody>
      </p:sp>
    </p:spTree>
    <p:extLst>
      <p:ext uri="{BB962C8B-B14F-4D97-AF65-F5344CB8AC3E}">
        <p14:creationId xmlns:p14="http://schemas.microsoft.com/office/powerpoint/2010/main" val="557826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05F7B70B-1BBC-408A-9718-F99EAAE48A43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733E4FB-0381-43FD-9BE0-F357337F74E3}"/>
              </a:ext>
            </a:extLst>
          </p:cNvPr>
          <p:cNvSpPr>
            <a:spLocks noGrp="1"/>
          </p:cNvSpPr>
          <p:nvPr/>
        </p:nvSpPr>
        <p:spPr>
          <a:xfrm>
            <a:off x="76962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632ED58-E71E-4F2E-B2D4-7F94E50E89A0}"/>
              </a:ext>
            </a:extLst>
          </p:cNvPr>
          <p:cNvSpPr>
            <a:spLocks noGrp="1"/>
          </p:cNvSpPr>
          <p:nvPr/>
        </p:nvSpPr>
        <p:spPr>
          <a:xfrm>
            <a:off x="81534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453E770-C4FA-4077-AD70-41BA33E0A89F}"/>
              </a:ext>
            </a:extLst>
          </p:cNvPr>
          <p:cNvSpPr>
            <a:spLocks noGrp="1"/>
          </p:cNvSpPr>
          <p:nvPr/>
        </p:nvSpPr>
        <p:spPr>
          <a:xfrm>
            <a:off x="86106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8E8AAAD-EACD-4375-87E9-42EA39A83054}"/>
              </a:ext>
            </a:extLst>
          </p:cNvPr>
          <p:cNvSpPr>
            <a:spLocks noGrp="1"/>
          </p:cNvSpPr>
          <p:nvPr/>
        </p:nvSpPr>
        <p:spPr>
          <a:xfrm>
            <a:off x="90678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EBF1C39-09BD-4F1F-B345-27CD65DA792B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91CB963-159A-4360-8093-697F7BD4520B}"/>
              </a:ext>
            </a:extLst>
          </p:cNvPr>
          <p:cNvSpPr>
            <a:spLocks noGrp="1"/>
          </p:cNvSpPr>
          <p:nvPr/>
        </p:nvSpPr>
        <p:spPr>
          <a:xfrm>
            <a:off x="99822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C84D1E6-0986-4D64-8C29-1A598393E253}"/>
              </a:ext>
            </a:extLst>
          </p:cNvPr>
          <p:cNvSpPr>
            <a:spLocks noGrp="1"/>
          </p:cNvSpPr>
          <p:nvPr/>
        </p:nvSpPr>
        <p:spPr>
          <a:xfrm>
            <a:off x="104394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EDB5761-1779-4C16-9230-3BF6F219C13B}"/>
              </a:ext>
            </a:extLst>
          </p:cNvPr>
          <p:cNvSpPr>
            <a:spLocks noGrp="1"/>
          </p:cNvSpPr>
          <p:nvPr/>
        </p:nvSpPr>
        <p:spPr>
          <a:xfrm>
            <a:off x="108966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F36853D-3405-4FA7-98FC-09223CB4365A}"/>
              </a:ext>
            </a:extLst>
          </p:cNvPr>
          <p:cNvSpPr>
            <a:spLocks noGrp="1"/>
          </p:cNvSpPr>
          <p:nvPr/>
        </p:nvSpPr>
        <p:spPr>
          <a:xfrm>
            <a:off x="113538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5349039D-CA95-4983-B149-9479A2A3CC25}"/>
              </a:ext>
            </a:extLst>
          </p:cNvPr>
          <p:cNvSpPr>
            <a:spLocks noGrp="1"/>
          </p:cNvSpPr>
          <p:nvPr/>
        </p:nvSpPr>
        <p:spPr>
          <a:xfrm>
            <a:off x="118110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E66C0C4-F3EE-482C-89BB-8DF866782EF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706">
              <a:alpha val="66667"/>
            </a:srgbClr>
          </a:solidFill>
          <a:ln w="9525">
            <a:solidFill>
              <a:srgbClr val="050706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CEF4279-4B8E-428B-AA11-0EBB8AC2BEC5}"/>
              </a:ext>
            </a:extLst>
          </p:cNvPr>
          <p:cNvSpPr>
            <a:spLocks noGrp="1"/>
          </p:cNvSpPr>
          <p:nvPr/>
        </p:nvSpPr>
        <p:spPr>
          <a:xfrm>
            <a:off x="438150" y="266700"/>
            <a:ext cx="2524125" cy="266700"/>
          </a:xfrm>
          <a:prstGeom prst="rect">
            <a:avLst/>
          </a:prstGeom>
          <a:solidFill>
            <a:srgbClr val="163A08"/>
          </a:solidFill>
          <a:ln w="9525">
            <a:solidFill>
              <a:srgbClr val="62D218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7F78991-41C9-43CD-8206-D94260EAFE93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2333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900" b="1">
                <a:solidFill>
                  <a:srgbClr val="E8F8DF"/>
                </a:solidFill>
                <a:latin typeface="Arial"/>
                <a:ea typeface="Arial"/>
                <a:cs typeface="Arial"/>
              </a:defRPr>
            </a:pPr>
            <a:r>
              <a:t>ФОРМИРОВАНИЕ ПОТРЕБНОСТИ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2EB14C1-D642-40DE-8DE0-D2322E85F45B}"/>
              </a:ext>
            </a:extLst>
          </p:cNvPr>
          <p:cNvSpPr>
            <a:spLocks noGrp="1"/>
          </p:cNvSpPr>
          <p:nvPr/>
        </p:nvSpPr>
        <p:spPr>
          <a:xfrm>
            <a:off x="11334750" y="285750"/>
            <a:ext cx="428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r">
              <a:defRPr sz="975" b="1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14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64FAC49-F610-4CA8-A3D1-FD40C95EA44C}"/>
              </a:ext>
            </a:extLst>
          </p:cNvPr>
          <p:cNvSpPr>
            <a:spLocks noGrp="1"/>
          </p:cNvSpPr>
          <p:nvPr/>
        </p:nvSpPr>
        <p:spPr>
          <a:xfrm>
            <a:off x="457200" y="742950"/>
            <a:ext cx="11049000" cy="7810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28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ШАГ 4. ПРИМЕР ФОРМУЛИРОВКИ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5E769154-A54D-4B23-B330-7C179BE57C76}"/>
              </a:ext>
            </a:extLst>
          </p:cNvPr>
          <p:cNvSpPr>
            <a:spLocks noGrp="1"/>
          </p:cNvSpPr>
          <p:nvPr/>
        </p:nvSpPr>
        <p:spPr>
          <a:xfrm>
            <a:off x="666750" y="1857375"/>
            <a:ext cx="10477500" cy="3905250"/>
          </a:xfrm>
          <a:prstGeom prst="rect">
            <a:avLst/>
          </a:prstGeom>
          <a:solidFill>
            <a:srgbClr val="0B0F0C"/>
          </a:solidFill>
          <a:ln w="9525">
            <a:solidFill>
              <a:srgbClr val="325A20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F1F88FB1-42D6-4F53-BC30-4CC7D934310D}"/>
              </a:ext>
            </a:extLst>
          </p:cNvPr>
          <p:cNvSpPr>
            <a:spLocks noGrp="1"/>
          </p:cNvSpPr>
          <p:nvPr/>
        </p:nvSpPr>
        <p:spPr>
          <a:xfrm>
            <a:off x="876300" y="2028825"/>
            <a:ext cx="10058400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ПРИМЕР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34F4900A-584F-4A83-B735-E830F1174FC2}"/>
              </a:ext>
            </a:extLst>
          </p:cNvPr>
          <p:cNvSpPr>
            <a:spLocks noGrp="1"/>
          </p:cNvSpPr>
          <p:nvPr/>
        </p:nvSpPr>
        <p:spPr>
          <a:xfrm>
            <a:off x="876300" y="2447925"/>
            <a:ext cx="10058400" cy="31623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«Получается, карточками вы занимаетесь время от времени, поэтому информация обновляется нерегулярно, а часть отзывов остаётся без ответа. Если ничего не менять, профили могут выглядеть менее актуальными на фоне конкурентов. Согласны, что ведение карточек стоит сделать регулярным и системным?»</a:t>
            </a:r>
          </a:p>
        </p:txBody>
      </p:sp>
    </p:spTree>
    <p:extLst>
      <p:ext uri="{BB962C8B-B14F-4D97-AF65-F5344CB8AC3E}">
        <p14:creationId xmlns:p14="http://schemas.microsoft.com/office/powerpoint/2010/main" val="21213211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A74CCD8E-765C-4DF3-9D58-943DC904BE0F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A57042C-E804-45BF-83F9-3CA9AEBBBEE6}"/>
              </a:ext>
            </a:extLst>
          </p:cNvPr>
          <p:cNvSpPr>
            <a:spLocks noGrp="1"/>
          </p:cNvSpPr>
          <p:nvPr/>
        </p:nvSpPr>
        <p:spPr>
          <a:xfrm>
            <a:off x="76962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5C46D71-ED88-409D-B8B9-C8994F92C171}"/>
              </a:ext>
            </a:extLst>
          </p:cNvPr>
          <p:cNvSpPr>
            <a:spLocks noGrp="1"/>
          </p:cNvSpPr>
          <p:nvPr/>
        </p:nvSpPr>
        <p:spPr>
          <a:xfrm>
            <a:off x="81534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201F790-9B38-4737-9C29-52593A4EE69F}"/>
              </a:ext>
            </a:extLst>
          </p:cNvPr>
          <p:cNvSpPr>
            <a:spLocks noGrp="1"/>
          </p:cNvSpPr>
          <p:nvPr/>
        </p:nvSpPr>
        <p:spPr>
          <a:xfrm>
            <a:off x="86106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7DB66A7-7926-40DB-92DB-640261FA815D}"/>
              </a:ext>
            </a:extLst>
          </p:cNvPr>
          <p:cNvSpPr>
            <a:spLocks noGrp="1"/>
          </p:cNvSpPr>
          <p:nvPr/>
        </p:nvSpPr>
        <p:spPr>
          <a:xfrm>
            <a:off x="90678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990A19B-7623-4FE6-811F-F23342F293BB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2BA350F-3728-4CB3-9279-BE6AC288C894}"/>
              </a:ext>
            </a:extLst>
          </p:cNvPr>
          <p:cNvSpPr>
            <a:spLocks noGrp="1"/>
          </p:cNvSpPr>
          <p:nvPr/>
        </p:nvSpPr>
        <p:spPr>
          <a:xfrm>
            <a:off x="99822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B8C6EC5-C773-4E1A-BFA8-5224EF7103ED}"/>
              </a:ext>
            </a:extLst>
          </p:cNvPr>
          <p:cNvSpPr>
            <a:spLocks noGrp="1"/>
          </p:cNvSpPr>
          <p:nvPr/>
        </p:nvSpPr>
        <p:spPr>
          <a:xfrm>
            <a:off x="104394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3FEE673-A6E2-4C85-BC0F-0215BDBD9D90}"/>
              </a:ext>
            </a:extLst>
          </p:cNvPr>
          <p:cNvSpPr>
            <a:spLocks noGrp="1"/>
          </p:cNvSpPr>
          <p:nvPr/>
        </p:nvSpPr>
        <p:spPr>
          <a:xfrm>
            <a:off x="108966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23EB8F9-742B-4FA7-880F-7DC7B2F3104E}"/>
              </a:ext>
            </a:extLst>
          </p:cNvPr>
          <p:cNvSpPr>
            <a:spLocks noGrp="1"/>
          </p:cNvSpPr>
          <p:nvPr/>
        </p:nvSpPr>
        <p:spPr>
          <a:xfrm>
            <a:off x="113538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F20BED5-11F0-4827-A353-FB9CA9407033}"/>
              </a:ext>
            </a:extLst>
          </p:cNvPr>
          <p:cNvSpPr>
            <a:spLocks noGrp="1"/>
          </p:cNvSpPr>
          <p:nvPr/>
        </p:nvSpPr>
        <p:spPr>
          <a:xfrm>
            <a:off x="118110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029EB63-95FC-410D-9905-5DF43F1699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706">
              <a:alpha val="66667"/>
            </a:srgbClr>
          </a:solidFill>
          <a:ln w="9525">
            <a:solidFill>
              <a:srgbClr val="050706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427DE1C-4B9F-4CFC-A310-6D9C3EB23F12}"/>
              </a:ext>
            </a:extLst>
          </p:cNvPr>
          <p:cNvSpPr>
            <a:spLocks noGrp="1"/>
          </p:cNvSpPr>
          <p:nvPr/>
        </p:nvSpPr>
        <p:spPr>
          <a:xfrm>
            <a:off x="438150" y="266700"/>
            <a:ext cx="2524125" cy="266700"/>
          </a:xfrm>
          <a:prstGeom prst="rect">
            <a:avLst/>
          </a:prstGeom>
          <a:solidFill>
            <a:srgbClr val="163A08"/>
          </a:solidFill>
          <a:ln w="9525">
            <a:solidFill>
              <a:srgbClr val="62D218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5A09679-2664-46D1-BB00-518D3B82F7CB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2333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900" b="1">
                <a:solidFill>
                  <a:srgbClr val="E8F8DF"/>
                </a:solidFill>
                <a:latin typeface="Arial"/>
                <a:ea typeface="Arial"/>
                <a:cs typeface="Arial"/>
              </a:defRPr>
            </a:pPr>
            <a:r>
              <a:t>ФОРМИРОВАНИЕ ПОТРЕБНОСТИ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371B4D9-CD92-4726-80F9-DE371D2E5EFF}"/>
              </a:ext>
            </a:extLst>
          </p:cNvPr>
          <p:cNvSpPr>
            <a:spLocks noGrp="1"/>
          </p:cNvSpPr>
          <p:nvPr/>
        </p:nvSpPr>
        <p:spPr>
          <a:xfrm>
            <a:off x="11334750" y="285750"/>
            <a:ext cx="428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r">
              <a:defRPr sz="975" b="1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16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BECAA3C5-8857-4892-A33E-297E2FFB105D}"/>
              </a:ext>
            </a:extLst>
          </p:cNvPr>
          <p:cNvSpPr>
            <a:spLocks noGrp="1"/>
          </p:cNvSpPr>
          <p:nvPr/>
        </p:nvSpPr>
        <p:spPr>
          <a:xfrm>
            <a:off x="457200" y="742950"/>
            <a:ext cx="11049000" cy="7810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28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РЕЗЮМЕ ЛЕКЦИИ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BBFFC6FC-4A33-415A-BD14-014C3B550007}"/>
              </a:ext>
            </a:extLst>
          </p:cNvPr>
          <p:cNvSpPr>
            <a:spLocks noGrp="1"/>
          </p:cNvSpPr>
          <p:nvPr/>
        </p:nvSpPr>
        <p:spPr>
          <a:xfrm>
            <a:off x="666750" y="2000250"/>
            <a:ext cx="10477500" cy="3429000"/>
          </a:xfrm>
          <a:prstGeom prst="rect">
            <a:avLst/>
          </a:prstGeom>
          <a:solidFill>
            <a:srgbClr val="0B0F0C"/>
          </a:solidFill>
          <a:ln w="9525">
            <a:solidFill>
              <a:srgbClr val="325A20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6A28C97-A569-42CB-A690-9216DC474369}"/>
              </a:ext>
            </a:extLst>
          </p:cNvPr>
          <p:cNvSpPr>
            <a:spLocks noGrp="1"/>
          </p:cNvSpPr>
          <p:nvPr/>
        </p:nvSpPr>
        <p:spPr>
          <a:xfrm>
            <a:off x="876300" y="2171700"/>
            <a:ext cx="10058400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ГЛАВНАЯ МЫСЛЬ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1314854F-CE6F-40DB-8BD2-C7FAEC5F9F1C}"/>
              </a:ext>
            </a:extLst>
          </p:cNvPr>
          <p:cNvSpPr>
            <a:spLocks noGrp="1"/>
          </p:cNvSpPr>
          <p:nvPr/>
        </p:nvSpPr>
        <p:spPr>
          <a:xfrm>
            <a:off x="876300" y="2590800"/>
            <a:ext cx="10058400" cy="26860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На этапе формирования потребности мы на основе фактов показываем клиенту, как состояние профиля влияет на доверие и обращения. Наша задача — добиться, чтобы клиент сам признал проблему и захотел узнать, как её решить.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7044939F-AF7D-45E8-AD4A-F4AA004E3DA3}"/>
              </a:ext>
            </a:extLst>
          </p:cNvPr>
          <p:cNvSpPr>
            <a:spLocks noGrp="1"/>
          </p:cNvSpPr>
          <p:nvPr/>
        </p:nvSpPr>
        <p:spPr>
          <a:xfrm>
            <a:off x="666750" y="5810250"/>
            <a:ext cx="10477500" cy="4000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ctr">
              <a:defRPr sz="1800" b="1">
                <a:solidFill>
                  <a:srgbClr val="62D218"/>
                </a:solidFill>
                <a:latin typeface="Arial"/>
                <a:ea typeface="Arial"/>
                <a:cs typeface="Arial"/>
              </a:defRPr>
            </a:pPr>
            <a:r>
              <a:t>Факты → осознание проблемы → желание решить</a:t>
            </a:r>
          </a:p>
        </p:txBody>
      </p:sp>
    </p:spTree>
    <p:extLst>
      <p:ext uri="{BB962C8B-B14F-4D97-AF65-F5344CB8AC3E}">
        <p14:creationId xmlns:p14="http://schemas.microsoft.com/office/powerpoint/2010/main" val="35886262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787</Words>
  <Application>Microsoft Macintosh PowerPoint</Application>
  <DocSecurity>0</DocSecurity>
  <PresentationFormat>Широкоэкранный</PresentationFormat>
  <Paragraphs>124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7" baseType="lpstr">
      <vt:lpstr>Calibri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Дмитрий Зорин</cp:lastModifiedBy>
  <cp:revision>1</cp:revision>
  <dcterms:created xsi:type="dcterms:W3CDTF">2026-09-01T13:22:36Z</dcterms:created>
  <dcterms:modified xsi:type="dcterms:W3CDTF">2026-09-01T14:20:28Z</dcterms:modified>
</cp:coreProperties>
</file>