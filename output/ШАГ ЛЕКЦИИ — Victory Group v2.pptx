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503c689bc2436e" /><Relationship Type="http://schemas.openxmlformats.org/officeDocument/2006/relationships/extended-properties" Target="/docProps/app.xml" Id="R5d8f43253d7b4277" /><Relationship Type="http://schemas.openxmlformats.org/officeDocument/2006/relationships/officeDocument" Target="/ppt/presentation.xml" Id="R72406ba0bf024b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f540713d944d3c"/>
  </p:sldMasterIdLst>
  <p:notesMasterIdLst>
    <p:notesMasterId xmlns:r="http://schemas.openxmlformats.org/officeDocument/2006/relationships" r:id="Rb45e0cc3e7f145ad"/>
  </p:notesMasterIdLst>
  <p:sldIdLst>
    <p:sldId xmlns:r="http://schemas.openxmlformats.org/officeDocument/2006/relationships" id="256" r:id="Rfa794e9fb57b42ed"/>
    <p:sldId xmlns:r="http://schemas.openxmlformats.org/officeDocument/2006/relationships" id="257" r:id="R90addb70934b4d27"/>
    <p:sldId xmlns:r="http://schemas.openxmlformats.org/officeDocument/2006/relationships" id="258" r:id="R57beeaddb6a74e2c"/>
    <p:sldId xmlns:r="http://schemas.openxmlformats.org/officeDocument/2006/relationships" id="259" r:id="R5b0184cac7e6455d"/>
    <p:sldId xmlns:r="http://schemas.openxmlformats.org/officeDocument/2006/relationships" id="260" r:id="Rac9c9407c09548b5"/>
    <p:sldId xmlns:r="http://schemas.openxmlformats.org/officeDocument/2006/relationships" id="261" r:id="R9711b43c48b8456a"/>
    <p:sldId xmlns:r="http://schemas.openxmlformats.org/officeDocument/2006/relationships" id="262" r:id="R5a41d156c96d40a7"/>
    <p:sldId xmlns:r="http://schemas.openxmlformats.org/officeDocument/2006/relationships" id="263" r:id="R9768611da2c24809"/>
    <p:sldId xmlns:r="http://schemas.openxmlformats.org/officeDocument/2006/relationships" id="264" r:id="Ra679b629d3af401d"/>
    <p:sldId xmlns:r="http://schemas.openxmlformats.org/officeDocument/2006/relationships" id="265" r:id="Rff551350f6434caa"/>
    <p:sldId xmlns:r="http://schemas.openxmlformats.org/officeDocument/2006/relationships" id="266" r:id="R9d3cbb5686d840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01422c81664e55" /><Relationship Type="http://schemas.openxmlformats.org/officeDocument/2006/relationships/slideMaster" Target="/ppt/slideMasters/slideMaster1.xml" Id="Rbaf540713d944d3c" /><Relationship Type="http://schemas.openxmlformats.org/officeDocument/2006/relationships/notesMaster" Target="/ppt/notesMasters/notesMaster1.xml" Id="Rb45e0cc3e7f145ad" /><Relationship Type="http://schemas.openxmlformats.org/officeDocument/2006/relationships/presProps" Target="/ppt/presProps.xml" Id="R1b1e09e0bb064042" /><Relationship Type="http://schemas.openxmlformats.org/officeDocument/2006/relationships/tableStyles" Target="/ppt/tableStyles.xml" Id="Rd42641919f0647fe" /><Relationship Type="http://schemas.openxmlformats.org/officeDocument/2006/relationships/slide" Target="/ppt/slides/slide1.xml" Id="Rfa794e9fb57b42ed" /><Relationship Type="http://schemas.openxmlformats.org/officeDocument/2006/relationships/slide" Target="/ppt/slides/slide2.xml" Id="R90addb70934b4d27" /><Relationship Type="http://schemas.openxmlformats.org/officeDocument/2006/relationships/slide" Target="/ppt/slides/slide3.xml" Id="R57beeaddb6a74e2c" /><Relationship Type="http://schemas.openxmlformats.org/officeDocument/2006/relationships/slide" Target="/ppt/slides/slide4.xml" Id="R5b0184cac7e6455d" /><Relationship Type="http://schemas.openxmlformats.org/officeDocument/2006/relationships/slide" Target="/ppt/slides/slide5.xml" Id="Rac9c9407c09548b5" /><Relationship Type="http://schemas.openxmlformats.org/officeDocument/2006/relationships/slide" Target="/ppt/slides/slide6.xml" Id="R9711b43c48b8456a" /><Relationship Type="http://schemas.openxmlformats.org/officeDocument/2006/relationships/slide" Target="/ppt/slides/slide7.xml" Id="R5a41d156c96d40a7" /><Relationship Type="http://schemas.openxmlformats.org/officeDocument/2006/relationships/slide" Target="/ppt/slides/slide8.xml" Id="R9768611da2c24809" /><Relationship Type="http://schemas.openxmlformats.org/officeDocument/2006/relationships/slide" Target="/ppt/slides/slide9.xml" Id="Ra679b629d3af401d" /><Relationship Type="http://schemas.openxmlformats.org/officeDocument/2006/relationships/slide" Target="/ppt/slides/slide10.xml" Id="Rff551350f6434caa" /><Relationship Type="http://schemas.openxmlformats.org/officeDocument/2006/relationships/slide" Target="/ppt/slides/slide11.xml" Id="R9d3cbb5686d840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e6cc1eadb44a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fcf03f516b4ded" /><Relationship Type="http://schemas.openxmlformats.org/officeDocument/2006/relationships/notesMaster" Target="/ppt/notesMasters/notesMaster1.xml" Id="Rb262d39425bc40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acd17803584e2a" /><Relationship Type="http://schemas.openxmlformats.org/officeDocument/2006/relationships/notesMaster" Target="/ppt/notesMasters/notesMaster1.xml" Id="Rdb81aeacc14a44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47b098affc4672" /><Relationship Type="http://schemas.openxmlformats.org/officeDocument/2006/relationships/notesMaster" Target="/ppt/notesMasters/notesMaster1.xml" Id="R14705953349948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7d07f8f11a4f92" /><Relationship Type="http://schemas.openxmlformats.org/officeDocument/2006/relationships/notesMaster" Target="/ppt/notesMasters/notesMaster1.xml" Id="R6c02fe7125e841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d956b55d5d4ceb" /><Relationship Type="http://schemas.openxmlformats.org/officeDocument/2006/relationships/notesMaster" Target="/ppt/notesMasters/notesMaster1.xml" Id="Rdb7dc9e8d8084a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4a469a43944d4b" /><Relationship Type="http://schemas.openxmlformats.org/officeDocument/2006/relationships/notesMaster" Target="/ppt/notesMasters/notesMaster1.xml" Id="R5e5c9c004de049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31b93607d84155" /><Relationship Type="http://schemas.openxmlformats.org/officeDocument/2006/relationships/notesMaster" Target="/ppt/notesMasters/notesMaster1.xml" Id="Rd07a7f48c79040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8f82026c434a2b" /><Relationship Type="http://schemas.openxmlformats.org/officeDocument/2006/relationships/notesMaster" Target="/ppt/notesMasters/notesMaster1.xml" Id="R40c170c68df342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b8d9a80c6949d3" /><Relationship Type="http://schemas.openxmlformats.org/officeDocument/2006/relationships/notesMaster" Target="/ppt/notesMasters/notesMaster1.xml" Id="Rf37a710fbbd14a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646b0e97074cef" /><Relationship Type="http://schemas.openxmlformats.org/officeDocument/2006/relationships/notesMaster" Target="/ppt/notesMasters/notesMaster1.xml" Id="Ra67247c8d3084d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141e85e2e44d5b" /><Relationship Type="http://schemas.openxmlformats.org/officeDocument/2006/relationships/notesMaster" Target="/ppt/notesMasters/notesMaster1.xml" Id="R61c4109e6ca24a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https://victoryagency.ru/services/reputation (visual reference for palette, large uppercase typography and content rhythm; accessed 2026-09-04)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43e4e7d364f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fda85dd492430e" /><Relationship Type="http://schemas.openxmlformats.org/officeDocument/2006/relationships/slideLayout" Target="/ppt/slideLayouts/slideLayout1.xml" Id="Rfe19eb73d89345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19eb73d89345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55a8df31f4295" /><Relationship Type="http://schemas.openxmlformats.org/officeDocument/2006/relationships/notesSlide" Target="/ppt/notesSlides/notesSlide1.xml" Id="Rca24e1f4685d42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54a544ba4170" /><Relationship Type="http://schemas.openxmlformats.org/officeDocument/2006/relationships/notesSlide" Target="/ppt/notesSlides/notesSlide2.xml" Id="R2c442605cfb542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e2e9d924849cd" /><Relationship Type="http://schemas.openxmlformats.org/officeDocument/2006/relationships/notesSlide" Target="/ppt/notesSlides/notesSlide3.xml" Id="R772e7c12f4a142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3dab67b354aa7" /><Relationship Type="http://schemas.openxmlformats.org/officeDocument/2006/relationships/notesSlide" Target="/ppt/notesSlides/notesSlide4.xml" Id="Re4f2650faeff44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45c458b114783" /><Relationship Type="http://schemas.openxmlformats.org/officeDocument/2006/relationships/notesSlide" Target="/ppt/notesSlides/notesSlide5.xml" Id="R8c2cd43f2a3240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aaa20766e45ec" /><Relationship Type="http://schemas.openxmlformats.org/officeDocument/2006/relationships/notesSlide" Target="/ppt/notesSlides/notesSlide6.xml" Id="Rd84dfd7d775f4d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849b55ab74580" /><Relationship Type="http://schemas.openxmlformats.org/officeDocument/2006/relationships/notesSlide" Target="/ppt/notesSlides/notesSlide7.xml" Id="Rb003135797cc44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279f80dde4fee" /><Relationship Type="http://schemas.openxmlformats.org/officeDocument/2006/relationships/notesSlide" Target="/ppt/notesSlides/notesSlide8.xml" Id="Rec504760580a44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d8a1f01784e59" /><Relationship Type="http://schemas.openxmlformats.org/officeDocument/2006/relationships/notesSlide" Target="/ppt/notesSlides/notesSlide9.xml" Id="R293a0c6f6bb644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e181cd5fc44ed" /><Relationship Type="http://schemas.openxmlformats.org/officeDocument/2006/relationships/notesSlide" Target="/ppt/notesSlides/notesSlide10.xml" Id="Ra2815ebc98a84e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09bf652c74894" /><Relationship Type="http://schemas.openxmlformats.org/officeDocument/2006/relationships/notesSlide" Target="/ppt/notesSlides/notesSlide11.xml" Id="Rba748b5b730548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809DBE9A-88C7-46DC-B866-6C429D80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E29B5-8B93-4EF4-9EDC-4F8B8642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VICTORY GROUP / ORM SERVICE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F6A12A4-2842-40D5-AFD7-57991F0E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6858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</a:t>
            </a:r>
          </a:p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ЛЕКЦИИ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95D55-1E00-4722-BF31-428C5C14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Презентация продукта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44224-A767-4A92-ABAD-08F37C1D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Как объяснить ценность решения,</a:t>
            </a:r>
          </a:p>
          <a:p xmlns:a="http://schemas.openxmlformats.org/drawingml/2006/main">
            <a:pPr algn="l">
              <a:defRPr sz="1575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связать его с проблемой и перейти к следующему шагу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AFFB3-463B-4B4A-9074-7DF50A99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Лекция для менеджера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B8C93-D37A-4AC4-98E9-4F549585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ORM / управление репутацией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9C44E-C2CE-4074-93CF-ABCE8837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104900"/>
            <a:ext cx="23336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3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3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cover-map">
            <a:extLst xmlns:a="http://schemas.openxmlformats.org/drawingml/2006/main">
              <a:ext uri="{FF2B5EF4-FFF2-40B4-BE49-F238E27FC236}">
                <a16:creationId xmlns:a16="http://schemas.microsoft.com/office/drawing/2014/main" id="{119D2209-0133-45D9-A39D-D97BBDA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33750"/>
            <a:ext cx="38576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3939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4E2CF-4C96-42AA-920F-82F02E74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48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2F977-76FE-4DD6-A98C-462B858F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95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12EEA-B39F-4C4F-AA00-1FEDDC16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91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9E9DA5FF-924D-4383-AE89-A1A09F8C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814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8FF1CC01-87BA-4DEA-83EB-2B670679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529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000EFB5D-B62D-4305-81C3-CE74CCC0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303F2-5361-4EB3-ABA0-6195B7F7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671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number">
            <a:extLst xmlns:a="http://schemas.openxmlformats.org/drawingml/2006/main">
              <a:ext uri="{FF2B5EF4-FFF2-40B4-BE49-F238E27FC236}">
                <a16:creationId xmlns:a16="http://schemas.microsoft.com/office/drawing/2014/main" id="{CD4D6F2A-CA6C-46D4-9391-1517A0E2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29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F6980-5E85-4F35-B4EA-9991740D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386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number">
            <a:extLst xmlns:a="http://schemas.openxmlformats.org/drawingml/2006/main">
              <a:ext uri="{FF2B5EF4-FFF2-40B4-BE49-F238E27FC236}">
                <a16:creationId xmlns:a16="http://schemas.microsoft.com/office/drawing/2014/main" id="{F880E928-ED0F-4679-8456-C82BFF18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D7CF5-79B7-4D0F-87FF-D89CC8B4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101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8936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61785B97-0480-4487-BFE7-AB21C83D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99C7F-C6B9-496B-A866-AF981F1A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ЦЕЛЬ ЭТАПА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A27E8-234A-4033-9E34-A96513CC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9C43FA-7551-4CF5-97CD-8BB96B9B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Сначала сделайте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ценность понятной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1EFAEE3-4B67-4F83-B30A-C7DE44F6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Клиент уже признал проблему. Теперь он должен увидеть, как решение поможет её устранить.</a:t>
            </a:r>
          </a:p>
        </p:txBody>
      </p:sp>
      <p:sp>
        <p:nvSpPr>
          <p:cNvPr id="6" name="before">
            <a:extLst xmlns:a="http://schemas.openxmlformats.org/drawingml/2006/main">
              <a:ext uri="{FF2B5EF4-FFF2-40B4-BE49-F238E27FC236}">
                <a16:creationId xmlns:a16="http://schemas.microsoft.com/office/drawing/2014/main" id="{4DA9CB86-5160-45D7-9760-33FA282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48291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3939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534F6-F28A-4C13-AA14-1C5AE41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ДО ПРЕЗЕНТАЦИИ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E3BA9-B89A-41D1-B445-484EFAF6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3829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«Я вижу проблему,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 не вижу решения»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4A295E52-7A25-4323-8835-5FF17979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781425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fter">
            <a:extLst xmlns:a="http://schemas.openxmlformats.org/drawingml/2006/main">
              <a:ext uri="{FF2B5EF4-FFF2-40B4-BE49-F238E27FC236}">
                <a16:creationId xmlns:a16="http://schemas.microsoft.com/office/drawing/2014/main" id="{7CF22C23-E2ED-4737-9CA9-1BE9833A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48291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EC64E-E203-48FA-A662-39FD50AE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71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ПОСЛЕ ПРЕЗЕНТАЦИИ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8BD15-B655-4A43-AFB8-E5D4EE17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401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«Я понимаю решение,</a:t>
            </a:r>
          </a:p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выгоду и следующий шаг»</a:t>
            </a:r>
          </a:p>
        </p:txBody>
      </p:sp>
      <p:sp>
        <p:nvSpPr>
          <p:cNvPr id="13" name="key-message">
            <a:extLst xmlns:a="http://schemas.openxmlformats.org/drawingml/2006/main">
              <a:ext uri="{FF2B5EF4-FFF2-40B4-BE49-F238E27FC236}">
                <a16:creationId xmlns:a16="http://schemas.microsoft.com/office/drawing/2014/main" id="{A4AD7BC9-EDDD-41FC-9E22-A0C8272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D301B-C3BD-4472-BEC2-C0F61036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Задача менеджера: сделать связь «проблема → решение → выгода» очевидной для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850640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3880129F-D97F-4071-91E8-314E8B89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97371-BF29-478F-9DAE-B10D8A0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ЛОГИКА ЛЕКЦИИ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8976C-F22E-47A5-A159-8160F423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5B5C77-408C-4788-9ADF-6C9BD553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Логика раньше деталей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701FC66-347E-47A6-B81C-4C4F1FA0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Первые три шага помогают клиенту понять, зачем слушать о продукте и почему решение имеет отношение к его ситуации.</a:t>
            </a:r>
          </a:p>
        </p:txBody>
      </p:sp>
      <p:sp>
        <p:nvSpPr>
          <p:cNvPr id="6" name="logic-card">
            <a:extLst xmlns:a="http://schemas.openxmlformats.org/drawingml/2006/main">
              <a:ext uri="{FF2B5EF4-FFF2-40B4-BE49-F238E27FC236}">
                <a16:creationId xmlns:a16="http://schemas.microsoft.com/office/drawing/2014/main" id="{88CC886A-DAF6-4CCE-B8C8-F446EF8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3352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BA747-620B-4461-9B92-DF6B9C5B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CD3B7-64BA-4A3D-8368-97E1720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Зачем нужен этап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774B3-2199-459A-983F-8103399F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Показываем, какую задачу клиента решает презентация.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32E0F0E1-16DE-42B1-9D3E-B5D92934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9572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ogic-card">
            <a:extLst xmlns:a="http://schemas.openxmlformats.org/drawingml/2006/main">
              <a:ext uri="{FF2B5EF4-FFF2-40B4-BE49-F238E27FC236}">
                <a16:creationId xmlns:a16="http://schemas.microsoft.com/office/drawing/2014/main" id="{ABF0AE6E-5AD5-4F78-8180-D8E5E210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0"/>
            <a:ext cx="3352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7FE30-65DB-4693-9DF2-8AE63F20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8D393-A56F-4A15-8767-AF8CCCF4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Что происходит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 клиентом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D4699-D2DC-4CF5-8F5C-4605E057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862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Потребность уже есть, но решения и ценности он ещё не видит.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CA23728C-53D8-4178-A229-6B2600C1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9572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ogic-card">
            <a:extLst xmlns:a="http://schemas.openxmlformats.org/drawingml/2006/main">
              <a:ext uri="{FF2B5EF4-FFF2-40B4-BE49-F238E27FC236}">
                <a16:creationId xmlns:a16="http://schemas.microsoft.com/office/drawing/2014/main" id="{D4544A0E-2AD3-433A-97A6-139A7422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3352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1D6C5-FBD9-4C84-BC49-7973470B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47039-F9BA-42B1-BF15-26DC203D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какое состояние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переводим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CEBBC-2924-4AC5-A779-C8E4F17E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862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Из «просто слушаю» — в «готов обсуждать решение».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C8E79-A591-4638-8221-B436534F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Сначала создайте для клиента понятный контекст решения. Характеристики — после логики.</a:t>
            </a:r>
          </a:p>
        </p:txBody>
      </p:sp>
    </p:spTree>
    <p:extLst>
      <p:ext uri="{BB962C8B-B14F-4D97-AF65-F5344CB8AC3E}">
        <p14:creationId xmlns:p14="http://schemas.microsoft.com/office/powerpoint/2010/main" val="1767490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BB2F2356-4356-4269-969E-F1FBFC47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4F6D9-E663-4A58-BB71-BF5DB3F6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ПРАВИЛА ЭТАПА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F661C-F38D-4F42-AF3B-0594CAAF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D35819-E89B-4A48-80EC-C975F49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Меньше монолога —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больше связи с задачей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99CF9A1-03EA-4AD9-9644-594896F0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Ценность создаётся через структуру, конкретику и вовлекающий вопрос после озвучивания стоимости.</a:t>
            </a:r>
          </a:p>
        </p:txBody>
      </p:sp>
      <p:sp>
        <p:nvSpPr>
          <p:cNvPr id="6" name="rule-panel">
            <a:extLst xmlns:a="http://schemas.openxmlformats.org/drawingml/2006/main">
              <a:ext uri="{FF2B5EF4-FFF2-40B4-BE49-F238E27FC236}">
                <a16:creationId xmlns:a16="http://schemas.microsoft.com/office/drawing/2014/main" id="{2DF0662E-933A-4F97-9A69-66ECC6A4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52578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9525">
            <a:solidFill>
              <a:srgbClr val="78DE1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1B3C0-A798-4252-A20C-DFBFC625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ДЕЛАЕМ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84F0897-22C4-424E-8AD6-51754F0A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E25CC-0998-4B7C-8C76-017E63A6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BDEFF-E714-434B-B18B-D4BE326A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Называем одну конкретную выгоду на одно свойство.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0C2A88C-09DB-4310-85B1-DB3E34EF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21513-70CF-47AF-B284-E6778BC3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DDF1F-61D2-499E-92A3-2F747183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Показываем, как решение влияет на ситуацию клиента.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21DCCBB4-E3FA-4AF3-B03C-43B92D61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562F6-508B-4C21-9B63-3FC002B1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AE0B1-6B32-45FD-80E6-6774CF69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Задаём вопрос, который вовлекает в следующий шаг.</a:t>
            </a:r>
          </a:p>
        </p:txBody>
      </p:sp>
      <p:sp>
        <p:nvSpPr>
          <p:cNvPr id="17" name="rule-panel">
            <a:extLst xmlns:a="http://schemas.openxmlformats.org/drawingml/2006/main">
              <a:ext uri="{FF2B5EF4-FFF2-40B4-BE49-F238E27FC236}">
                <a16:creationId xmlns:a16="http://schemas.microsoft.com/office/drawing/2014/main" id="{231F61A2-1687-42A8-B78A-D7967657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52578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3939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21A6D-B62C-4995-A452-47BEF77E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ИЗБЕГАЕМ</a:t>
            </a:r>
          </a:p>
        </p:txBody>
      </p:sp>
      <p:sp>
        <p:nvSpPr>
          <p:cNvPr id="19" name="number">
            <a:extLst xmlns:a="http://schemas.openxmlformats.org/drawingml/2006/main">
              <a:ext uri="{FF2B5EF4-FFF2-40B4-BE49-F238E27FC236}">
                <a16:creationId xmlns:a16="http://schemas.microsoft.com/office/drawing/2014/main" id="{37EA5A25-9C26-443E-8A20-DE9262F7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05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EDB6E-EC6F-4867-BE5C-72CD964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EB1ED-0FDF-4F10-8FE9-B1FC3643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385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Долгого рассказа о продукте без связи с проблемой.</a:t>
            </a:r>
          </a:p>
        </p:txBody>
      </p:sp>
      <p:sp>
        <p:nvSpPr>
          <p:cNvPr id="22" name="number">
            <a:extLst xmlns:a="http://schemas.openxmlformats.org/drawingml/2006/main">
              <a:ext uri="{FF2B5EF4-FFF2-40B4-BE49-F238E27FC236}">
                <a16:creationId xmlns:a16="http://schemas.microsoft.com/office/drawing/2014/main" id="{AA6182AA-BE0C-408E-9FFE-8EEC1648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62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6FC77-0E9E-45C7-85D0-C47C90EB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0B142-5F09-4939-BE86-9C7874F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Пропуска названия компании и логики алгоритма.</a:t>
            </a:r>
          </a:p>
        </p:txBody>
      </p:sp>
      <p:sp>
        <p:nvSpPr>
          <p:cNvPr id="25" name="number">
            <a:extLst xmlns:a="http://schemas.openxmlformats.org/drawingml/2006/main">
              <a:ext uri="{FF2B5EF4-FFF2-40B4-BE49-F238E27FC236}">
                <a16:creationId xmlns:a16="http://schemas.microsoft.com/office/drawing/2014/main" id="{44E58C61-7449-4717-9A0F-30B7BA76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F8D46-9B82-4708-8361-47A0BF0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FF007-BB00-47A6-B7E2-3679154C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Озвучивания цены до того, как создана ценность.</a:t>
            </a:r>
          </a:p>
        </p:txBody>
      </p:sp>
      <p:sp>
        <p:nvSpPr>
          <p:cNvPr id="28" name="key-message">
            <a:extLst xmlns:a="http://schemas.openxmlformats.org/drawingml/2006/main">
              <a:ext uri="{FF2B5EF4-FFF2-40B4-BE49-F238E27FC236}">
                <a16:creationId xmlns:a16="http://schemas.microsoft.com/office/drawing/2014/main" id="{E9B13A8D-25CF-4244-82D7-7081F9C8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320FCD-2C0F-4A5E-8CE1-E757B9BF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Клиент должен услышать не сумму к оплате, а цену решения своей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632995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CD4835A5-FA1C-4C56-A283-70E166CC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761E2-8E30-4073-A73C-5BBF6263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ИНСТРУМЕНТ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04237-6CC1-493D-BAB1-01D1AD1D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3F12B3-361D-4FE6-AB37-1218A48B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ССВ: формула</a:t>
            </a:r>
          </a:p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ценностного сообщения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5109A30-4E02-4924-BA96-E349D7CB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Свойство само по себе не продаёт. Клиенту нужен понятный переход от характеристики к выгоде.</a:t>
            </a:r>
          </a:p>
        </p:txBody>
      </p:sp>
      <p:sp>
        <p:nvSpPr>
          <p:cNvPr id="6" name="ssv">
            <a:extLst xmlns:a="http://schemas.openxmlformats.org/drawingml/2006/main">
              <a:ext uri="{FF2B5EF4-FFF2-40B4-BE49-F238E27FC236}">
                <a16:creationId xmlns:a16="http://schemas.microsoft.com/office/drawing/2014/main" id="{EE7F4EA1-FD79-48B5-83C4-ACA4FFF8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31813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A81E6-3A44-47AD-8A9F-CFD284E5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84AA2-435B-48B2-A5FD-3CA2C8D9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СВОЙСТВО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68404-35D0-40C4-86F9-086B34CE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Что есть в продукте: характеристика или действие.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C7712FB1-CF0F-4999-9421-F62D2C82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sv">
            <a:extLst xmlns:a="http://schemas.openxmlformats.org/drawingml/2006/main">
              <a:ext uri="{FF2B5EF4-FFF2-40B4-BE49-F238E27FC236}">
                <a16:creationId xmlns:a16="http://schemas.microsoft.com/office/drawing/2014/main" id="{502AEDE8-27BB-4840-A7C7-CD788CE7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31813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2D49F-AEE8-4CBA-8206-5B0A07AE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766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0E810-6712-4D61-8278-544DB17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14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СВЯЗКА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09F1A-E78E-4341-A595-E8C12F0D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148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Мост к выгоде: «благодаря этому», «с помощью этого».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BA444941-3319-4EEF-85AE-2FEB9E60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290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sv">
            <a:extLst xmlns:a="http://schemas.openxmlformats.org/drawingml/2006/main">
              <a:ext uri="{FF2B5EF4-FFF2-40B4-BE49-F238E27FC236}">
                <a16:creationId xmlns:a16="http://schemas.microsoft.com/office/drawing/2014/main" id="{B2E3D7D8-9234-41D5-A979-363E7C7D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1813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4B397-7BD6-4BEA-821C-403EE2FF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CEECF-FA01-4E10-8B96-1FDACAC1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19537-EEE6-479E-A6AC-EC0F0EE4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Что меняется для клиента и почему это для него важно.</a:t>
            </a:r>
          </a:p>
        </p:txBody>
      </p:sp>
      <p:sp>
        <p:nvSpPr>
          <p:cNvPr id="20" name="key-message">
            <a:extLst xmlns:a="http://schemas.openxmlformats.org/drawingml/2006/main">
              <a:ext uri="{FF2B5EF4-FFF2-40B4-BE49-F238E27FC236}">
                <a16:creationId xmlns:a16="http://schemas.microsoft.com/office/drawing/2014/main" id="{F049DE21-9DA9-4C1F-BCD8-78797F3B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9926D-9A74-4155-83C4-7A68A779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Одна характеристика → одна связка → одна конкретная выгода</a:t>
            </a:r>
          </a:p>
        </p:txBody>
      </p:sp>
    </p:spTree>
    <p:extLst>
      <p:ext uri="{BB962C8B-B14F-4D97-AF65-F5344CB8AC3E}">
        <p14:creationId xmlns:p14="http://schemas.microsoft.com/office/powerpoint/2010/main" val="13572125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727A5AF8-586A-4905-A067-CFAFA2BB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C566B-A9D8-43F5-A31E-4E633588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090E4-10D5-44D7-95F0-D729A7B4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1AB1B0-4A0D-49AC-9928-3FD14E7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собрать фразу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ССВ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11BAC32-54A1-4290-B382-EF5569BC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Пример на базе модуля, который обновляет информацию в профиле компании.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E6E3A-657B-432C-943F-B6797057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92977-A224-4576-94D3-C7058167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СВОЙСТВО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773BBBEF-75CF-4F8B-8845-756030F9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7662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EE766-E78E-4CB1-A24A-501A816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«В рамках модуля мы обновляем информацию в профиле: добавляем новости»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B8AA1-12EF-4049-BF11-F7F7FB3D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B2764-0E0A-4F1C-9AC6-A9419D3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СВЯЗКА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9186D266-FBBE-43F1-BE7E-AE8BF69B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D7231-A8CF-420B-8DCA-D70CE6C9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766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«Благодаря этому…»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DF38C-D261-4466-A6E3-FBC33ABB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6D8BD-7483-4742-B3F2-67D58B5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E15A9E58-BF19-4E0C-8CEA-D1031210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958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BE00C-D3AC-481A-93A9-B1F3B44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«Клиенты чаще находят компанию по ключевым запросам, а не только по названию»</a:t>
            </a:r>
          </a:p>
        </p:txBody>
      </p:sp>
      <p:sp>
        <p:nvSpPr>
          <p:cNvPr id="18" name="key-message">
            <a:extLst xmlns:a="http://schemas.openxmlformats.org/drawingml/2006/main">
              <a:ext uri="{FF2B5EF4-FFF2-40B4-BE49-F238E27FC236}">
                <a16:creationId xmlns:a16="http://schemas.microsoft.com/office/drawing/2014/main" id="{BBDEAE94-DF0D-4AE2-A630-7635C6D1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94CCD-63CA-4920-B95B-CD1AFB90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Готовая фраза звучит как естественное объяснение, а не как перечисление терминов.</a:t>
            </a:r>
          </a:p>
        </p:txBody>
      </p:sp>
    </p:spTree>
    <p:extLst>
      <p:ext uri="{BB962C8B-B14F-4D97-AF65-F5344CB8AC3E}">
        <p14:creationId xmlns:p14="http://schemas.microsoft.com/office/powerpoint/2010/main" val="774684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E02A0D0F-AA49-43C9-97BF-595343F3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CDB4D-F3EE-45A9-AB5E-36A80250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53157-0896-44AA-9D57-BC39DA6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7F728A-DF20-4297-9D48-8A880AB6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Шаг 1–2: сначала объясняем,</a:t>
            </a:r>
          </a:p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кто мы и что предлагаем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8A2B5D7-F93F-4DEE-8396-C6DCF3C0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Клиенту нужна короткая рамка: почему компании можно доверять и как устроено решение.</a:t>
            </a:r>
          </a:p>
        </p:txBody>
      </p:sp>
      <p:sp>
        <p:nvSpPr>
          <p:cNvPr id="6" name="step-card">
            <a:extLst xmlns:a="http://schemas.openxmlformats.org/drawingml/2006/main">
              <a:ext uri="{FF2B5EF4-FFF2-40B4-BE49-F238E27FC236}">
                <a16:creationId xmlns:a16="http://schemas.microsoft.com/office/drawing/2014/main" id="{167C885A-6697-4FE3-ADF8-BB41EBCA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547687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A98A7-81EF-4327-BD79-DFF30971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ШАГ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C9DB3-8B7C-4BC8-94EC-0D59A6FF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857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Презентация</a:t>
            </a:r>
          </a:p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компании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E8869-81D1-4FAE-8DD5-0D5FF14F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Коротко: кто мы, чем занимаемся и почему можем помочь решить задачу клиента.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7C126-3F44-4917-B7BA-4532DB76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Пример: «Мы помогаем компаниям управлять репутацией в интернете».</a:t>
            </a:r>
          </a:p>
        </p:txBody>
      </p:sp>
      <p:sp>
        <p:nvSpPr>
          <p:cNvPr id="11" name="step-card">
            <a:extLst xmlns:a="http://schemas.openxmlformats.org/drawingml/2006/main">
              <a:ext uri="{FF2B5EF4-FFF2-40B4-BE49-F238E27FC236}">
                <a16:creationId xmlns:a16="http://schemas.microsoft.com/office/drawing/2014/main" id="{0ED2FB11-550B-4F0B-A723-82A2297B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43250"/>
            <a:ext cx="547687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A1CF3-12FE-4D33-A1BC-0663ED2F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43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ШАГ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D50D5-4D09-4FFC-BBB4-2FEF14A7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52850"/>
            <a:ext cx="3857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Презентация 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1A29C-F54C-49B4-8B51-7558011E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291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Объясняем, что ORM — это сервис управления репутацией с набором модулей.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4D2CE-7473-4E1B-8B43-7EB6249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197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Задача: дать понятную рамку до перехода к конкретной проблеме.</a:t>
            </a:r>
          </a:p>
        </p:txBody>
      </p:sp>
    </p:spTree>
    <p:extLst>
      <p:ext uri="{BB962C8B-B14F-4D97-AF65-F5344CB8AC3E}">
        <p14:creationId xmlns:p14="http://schemas.microsoft.com/office/powerpoint/2010/main" val="649872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365977BC-900A-41F2-A5AF-1DA42593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C0583-243A-4195-A521-586A6020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D33D2-F6E0-4C21-A134-BE8A34F2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51A755-1F42-4C5B-BD09-2C35C6FD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 3: верните клиента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 его собственной проблеме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1343E30-8E78-432A-94E2-07D3B441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Связка с ранее выявленной ситуацией делает предложение конкретным и помогает сохранить фокус клиента.</a:t>
            </a:r>
          </a:p>
        </p:txBody>
      </p:sp>
      <p:sp>
        <p:nvSpPr>
          <p:cNvPr id="6" name="weak">
            <a:extLst xmlns:a="http://schemas.openxmlformats.org/drawingml/2006/main">
              <a:ext uri="{FF2B5EF4-FFF2-40B4-BE49-F238E27FC236}">
                <a16:creationId xmlns:a16="http://schemas.microsoft.com/office/drawing/2014/main" id="{0CCAE114-F52C-4AB7-9580-73823616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45148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3939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D97F7-D8ED-4A21-B1B2-835322B0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СЛАБАЯ ПОДАЧА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4998A-04CB-43CE-969F-554EF630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«У нас есть модуль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обновления карточек»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1C387-8DF8-4DF7-AC42-AE88C878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Звучит как общий рассказ о продукте.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F3502C90-CBD5-48C2-A91F-EA560735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1047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ong">
            <a:extLst xmlns:a="http://schemas.openxmlformats.org/drawingml/2006/main">
              <a:ext uri="{FF2B5EF4-FFF2-40B4-BE49-F238E27FC236}">
                <a16:creationId xmlns:a16="http://schemas.microsoft.com/office/drawing/2014/main" id="{6ACF444F-95BD-417D-971F-698D699B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49911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7E520-33D2-44D0-A830-2F6EE80F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147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СИЛЬНАЯ ПОДАЧА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7ACE5-4268-4AEA-AD13-723786B0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423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«Вы ранее отметили, что карточки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почти не обновляются. Именно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 этим можем вам помочь»</a:t>
            </a:r>
          </a:p>
        </p:txBody>
      </p:sp>
      <p:sp>
        <p:nvSpPr>
          <p:cNvPr id="14" name="key-message">
            <a:extLst xmlns:a="http://schemas.openxmlformats.org/drawingml/2006/main">
              <a:ext uri="{FF2B5EF4-FFF2-40B4-BE49-F238E27FC236}">
                <a16:creationId xmlns:a16="http://schemas.microsoft.com/office/drawing/2014/main" id="{9381B9BD-7029-49ED-8D4F-44E2D815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5C428-4718-4F01-9170-E8C10DFD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Каждый продуктовый тезис должен возвращать клиента к его реальной задаче.</a:t>
            </a:r>
          </a:p>
        </p:txBody>
      </p:sp>
    </p:spTree>
    <p:extLst>
      <p:ext uri="{BB962C8B-B14F-4D97-AF65-F5344CB8AC3E}">
        <p14:creationId xmlns:p14="http://schemas.microsoft.com/office/powerpoint/2010/main" val="4572856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A3581A35-BFCE-4A79-BABB-3F844780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96877-390E-42F4-8E84-0FFAA7F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F69E4-3713-4423-8A5F-8A690F5F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7D2FDB-8459-498F-A867-1C02FA4B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Шаг 4: презентуем модуль</a:t>
            </a:r>
          </a:p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через его результат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B5CFDEA-77B3-43B6-98CC-468684DC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Выберите конкретный модуль под выявленную проблему и объясните его по формуле ССВ.</a:t>
            </a:r>
          </a:p>
        </p:txBody>
      </p:sp>
      <p:sp>
        <p:nvSpPr>
          <p:cNvPr id="6" name="value-chain">
            <a:extLst xmlns:a="http://schemas.openxmlformats.org/drawingml/2006/main">
              <a:ext uri="{FF2B5EF4-FFF2-40B4-BE49-F238E27FC236}">
                <a16:creationId xmlns:a16="http://schemas.microsoft.com/office/drawing/2014/main" id="{9B05DA47-DBD4-44CA-A2F8-6174093B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3181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E4F17-F165-4010-93BF-928A1B40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279BD-002D-4B17-A0A0-77ED6B14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Карточки компании</a:t>
            </a:r>
          </a:p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не обновляются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539242B3-3135-4ECB-82DB-C777A6CC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alue-chain">
            <a:extLst xmlns:a="http://schemas.openxmlformats.org/drawingml/2006/main">
              <a:ext uri="{FF2B5EF4-FFF2-40B4-BE49-F238E27FC236}">
                <a16:creationId xmlns:a16="http://schemas.microsoft.com/office/drawing/2014/main" id="{9AB2B8B0-A327-40C5-9C62-A4328582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43250"/>
            <a:ext cx="3181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A80F6-C7E3-4E57-867E-A8B9083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МОДУЛЬ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4077E-55E0-4B82-A368-60066888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Обновляем</a:t>
            </a:r>
          </a:p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информацию в профиле</a:t>
            </a:r>
          </a:p>
        </p:txBody>
      </p:sp>
      <p:sp>
        <p:nvSpPr>
          <p:cNvPr id="13" name="arrow">
            <a:extLst xmlns:a="http://schemas.openxmlformats.org/drawingml/2006/main">
              <a:ext uri="{FF2B5EF4-FFF2-40B4-BE49-F238E27FC236}">
                <a16:creationId xmlns:a16="http://schemas.microsoft.com/office/drawing/2014/main" id="{15A5AF98-F330-4CA7-9D33-1A060710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814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chain">
            <a:extLst xmlns:a="http://schemas.openxmlformats.org/drawingml/2006/main">
              <a:ext uri="{FF2B5EF4-FFF2-40B4-BE49-F238E27FC236}">
                <a16:creationId xmlns:a16="http://schemas.microsoft.com/office/drawing/2014/main" id="{AC13860B-DC41-40FD-B0F2-741CD9A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181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38AD6-54BE-4295-8A98-3382819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09DEF-39AB-4179-8E53-D3171A59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862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Клиента чаще находят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ключевым запросам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69826-91D2-4C72-8454-A985C0B5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Проверка: может ли клиент повторить, какую именно проблему решает модуль?</a:t>
            </a:r>
          </a:p>
        </p:txBody>
      </p:sp>
    </p:spTree>
    <p:extLst>
      <p:ext uri="{BB962C8B-B14F-4D97-AF65-F5344CB8AC3E}">
        <p14:creationId xmlns:p14="http://schemas.microsoft.com/office/powerpoint/2010/main" val="9540167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211EE83F-47B7-44D9-8F5C-0607B58F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891C9-932B-4C93-860B-C8692C51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21972-25BC-48C1-88AE-48B01D0B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DCED1F-17DE-470D-BFA2-0E23054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Стоимость — после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создания ценности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F8F572F-1B16-445B-9D91-BB358DD0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Стоимость звучит как цена решения задачи, когда клиент уже понял проблему, решение и выгоду.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EABD9EE6-FC15-4DD2-9445-7552F05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86B45-F03E-4D8D-8A8E-D5B6E495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17F73-EDED-49BB-B10D-750FC6B6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1EE4E-4286-4C46-9380-850E2DFD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клиент признаёт,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что происходит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21738192-AE42-48D9-BF87-62DCB668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88EF0D44-349F-4E79-8E9F-A9714FD7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EB9B0-4A43-4E1C-8214-D592E847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D30BA-83FB-4BB7-87A5-290E65CC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5E2CC-0A4A-40D4-81DD-19B54F89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видит, как мы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помогаем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434F11C3-4C6C-467D-BAA8-EB1647C9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767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FD31F09-9EF3-405C-9CED-C4C065C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F8DA0-EF9C-465B-9EE0-24CBDAD3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045B5-3917-430A-88A7-DAFA10A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7E3EE-D374-4139-8800-BA6BCEC8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понимает, что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изменится</a:t>
            </a:r>
          </a:p>
        </p:txBody>
      </p:sp>
      <p:sp>
        <p:nvSpPr>
          <p:cNvPr id="20" name="arrow">
            <a:extLst xmlns:a="http://schemas.openxmlformats.org/drawingml/2006/main">
              <a:ext uri="{FF2B5EF4-FFF2-40B4-BE49-F238E27FC236}">
                <a16:creationId xmlns:a16="http://schemas.microsoft.com/office/drawing/2014/main" id="{9992F395-259E-4413-B87D-ADC07974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4D12CE16-3690-42FF-B8C4-E13AEDE8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DA60C-C255-4F91-B1DB-C66D0798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DE1BD-6D35-474D-96F5-1A34728B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72DB0-0CB6-4328-B32A-4801B1B1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оценивает цену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решения</a:t>
            </a:r>
          </a:p>
        </p:txBody>
      </p:sp>
      <p:sp>
        <p:nvSpPr>
          <p:cNvPr id="25" name="arrow">
            <a:extLst xmlns:a="http://schemas.openxmlformats.org/drawingml/2006/main">
              <a:ext uri="{FF2B5EF4-FFF2-40B4-BE49-F238E27FC236}">
                <a16:creationId xmlns:a16="http://schemas.microsoft.com/office/drawing/2014/main" id="{73CEC41F-1431-41BB-B602-C6BAFCA9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767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6BB43F43-F23F-4640-A27C-4967CAFB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A85954-B100-4BB3-9FF8-AECE9D8E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5F7AC-8247-4FFE-823D-2C607FF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Вопрос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175B9A-3882-4E28-A880-4EC807DA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обсуждает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30" name="question">
            <a:extLst xmlns:a="http://schemas.openxmlformats.org/drawingml/2006/main">
              <a:ext uri="{FF2B5EF4-FFF2-40B4-BE49-F238E27FC236}">
                <a16:creationId xmlns:a16="http://schemas.microsoft.com/office/drawing/2014/main" id="{1D9CB7C0-565C-48CD-8BA1-7ADE9BF2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D5B21-8533-4423-95E2-FCB77A2D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Вовлекающий вопрос: «Подскажите, что скажете — готовы запуститься в работу?»</a:t>
            </a:r>
          </a:p>
        </p:txBody>
      </p:sp>
    </p:spTree>
    <p:extLst>
      <p:ext uri="{BB962C8B-B14F-4D97-AF65-F5344CB8AC3E}">
        <p14:creationId xmlns:p14="http://schemas.microsoft.com/office/powerpoint/2010/main" val="1617038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317173AC-1F8F-4049-8AEB-65A89450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8CD50-AEB3-4D31-9A5F-C2DDA376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ЗАВЕРШЕНИЕ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68E6E-4F05-44B4-9FAC-64BFCA8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D85E39-4D1D-4BC5-B3C8-AC8A9572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Закрываем этап</a:t>
            </a:r>
          </a:p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проверкой результата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129B03A-8666-4C5E-94CF-082B920A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После презентации важно понять: клиент согласен на следующий шаг или ему нужно помочь снять сопротивление.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663A0-CFAE-4F27-9868-26C7A9DF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6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83C6D-FCFD-4972-AB71-767C56D0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«Надо подумать»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0BA3-90C2-47EB-B946-30D39654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переходим к отработке возражения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DD057B7D-3AA7-4052-A97A-4163E370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0F395-3BAF-4CAA-AAD9-403107E5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33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388EA-8882-46E2-901E-3378A267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«Выставляйте счёт»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3B12A-04C3-4973-82BC-51626AB0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фиксируем договорённость и действие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54282AEC-C460-47BC-BF4E-96BA7D2E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FE759-56F5-452F-B0B7-3DC8FDA4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81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D381D-196F-42C3-9632-A09034CB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«Пришлите КП»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B2A06-6AB0-44A2-A37E-4E2044D6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52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обсуждаем точный срок и следующий контакт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12E54FF-E69D-4FE5-AEAE-146678BC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list">
            <a:extLst xmlns:a="http://schemas.openxmlformats.org/drawingml/2006/main">
              <a:ext uri="{FF2B5EF4-FFF2-40B4-BE49-F238E27FC236}">
                <a16:creationId xmlns:a16="http://schemas.microsoft.com/office/drawing/2014/main" id="{BFFB0FA1-1451-45E6-8B1C-B36EAAF2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44005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51FC7-02B5-42DE-826B-B0CE2027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289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ПРОВЕРЬТЕ</a:t>
            </a:r>
          </a:p>
          <a:p xmlns:a="http://schemas.openxmlformats.org/drawingml/2006/main">
            <a:pPr algn="l">
              <a:defRPr sz="12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ПОНИМАНИЕ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7C8E0-745C-4556-BBA6-085B96CF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Что такое презентация?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28F5E-31BE-4037-88FA-BB5617E3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19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Что будет, если пропустить шаг?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CDF1A-6B25-4681-8B7D-BCC2A0ED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Что делать, если клиент не понял?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6565A-92EE-4F28-AD4C-5248EF88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Как отличить согласие от ухода?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175A1-8865-4A9F-9A72-E9297672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531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Резюме: возвращаемся к алгоритму, закрепляем формулу ССВ и договариваемся о следующем действии.</a:t>
            </a:r>
          </a:p>
        </p:txBody>
      </p:sp>
    </p:spTree>
    <p:extLst>
      <p:ext uri="{BB962C8B-B14F-4D97-AF65-F5344CB8AC3E}">
        <p14:creationId xmlns:p14="http://schemas.microsoft.com/office/powerpoint/2010/main" val="1187877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2026-09-04T14:15:54.6360000Z</dcterms:created>
  <dcterms:modified xsi:type="dcterms:W3CDTF">2026-09-04T14:15:54.6360000Z</dcterms:modified>
</coreProperties>
</file>