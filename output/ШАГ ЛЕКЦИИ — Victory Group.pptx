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0df266af994d44" /><Relationship Type="http://schemas.openxmlformats.org/officeDocument/2006/relationships/extended-properties" Target="/docProps/app.xml" Id="Rb3976ba95aa24242" /><Relationship Type="http://schemas.openxmlformats.org/officeDocument/2006/relationships/officeDocument" Target="/ppt/presentation.xml" Id="R47f394334b974b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fc61bb29df487f"/>
  </p:sldMasterIdLst>
  <p:notesMasterIdLst>
    <p:notesMasterId xmlns:r="http://schemas.openxmlformats.org/officeDocument/2006/relationships" r:id="R57b3ca72187d4fc5"/>
  </p:notesMasterIdLst>
  <p:sldIdLst>
    <p:sldId xmlns:r="http://schemas.openxmlformats.org/officeDocument/2006/relationships" id="256" r:id="R1dca62bcb9f24249"/>
    <p:sldId xmlns:r="http://schemas.openxmlformats.org/officeDocument/2006/relationships" id="257" r:id="Rf2af085052c34e01"/>
    <p:sldId xmlns:r="http://schemas.openxmlformats.org/officeDocument/2006/relationships" id="258" r:id="R2dd2717a42bb4fe2"/>
    <p:sldId xmlns:r="http://schemas.openxmlformats.org/officeDocument/2006/relationships" id="259" r:id="R7b3b56dbfe474c20"/>
    <p:sldId xmlns:r="http://schemas.openxmlformats.org/officeDocument/2006/relationships" id="260" r:id="R7c7e9e7eaf8d4f3d"/>
    <p:sldId xmlns:r="http://schemas.openxmlformats.org/officeDocument/2006/relationships" id="261" r:id="R038ecc1060364de0"/>
    <p:sldId xmlns:r="http://schemas.openxmlformats.org/officeDocument/2006/relationships" id="262" r:id="Rc0efddcc1f074fb4"/>
    <p:sldId xmlns:r="http://schemas.openxmlformats.org/officeDocument/2006/relationships" id="263" r:id="R72a5eb5a15364c38"/>
    <p:sldId xmlns:r="http://schemas.openxmlformats.org/officeDocument/2006/relationships" id="264" r:id="R0186c01f43654324"/>
    <p:sldId xmlns:r="http://schemas.openxmlformats.org/officeDocument/2006/relationships" id="265" r:id="R17c50b15571d4b80"/>
    <p:sldId xmlns:r="http://schemas.openxmlformats.org/officeDocument/2006/relationships" id="266" r:id="R75f64773e0da4b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4cec15339c4583" /><Relationship Type="http://schemas.openxmlformats.org/officeDocument/2006/relationships/slideMaster" Target="/ppt/slideMasters/slideMaster1.xml" Id="R9cfc61bb29df487f" /><Relationship Type="http://schemas.openxmlformats.org/officeDocument/2006/relationships/notesMaster" Target="/ppt/notesMasters/notesMaster1.xml" Id="R57b3ca72187d4fc5" /><Relationship Type="http://schemas.openxmlformats.org/officeDocument/2006/relationships/presProps" Target="/ppt/presProps.xml" Id="R6e5227158cfb4615" /><Relationship Type="http://schemas.openxmlformats.org/officeDocument/2006/relationships/tableStyles" Target="/ppt/tableStyles.xml" Id="Ra0eab383a6ab4f0a" /><Relationship Type="http://schemas.openxmlformats.org/officeDocument/2006/relationships/slide" Target="/ppt/slides/slide1.xml" Id="R1dca62bcb9f24249" /><Relationship Type="http://schemas.openxmlformats.org/officeDocument/2006/relationships/slide" Target="/ppt/slides/slide2.xml" Id="Rf2af085052c34e01" /><Relationship Type="http://schemas.openxmlformats.org/officeDocument/2006/relationships/slide" Target="/ppt/slides/slide3.xml" Id="R2dd2717a42bb4fe2" /><Relationship Type="http://schemas.openxmlformats.org/officeDocument/2006/relationships/slide" Target="/ppt/slides/slide4.xml" Id="R7b3b56dbfe474c20" /><Relationship Type="http://schemas.openxmlformats.org/officeDocument/2006/relationships/slide" Target="/ppt/slides/slide5.xml" Id="R7c7e9e7eaf8d4f3d" /><Relationship Type="http://schemas.openxmlformats.org/officeDocument/2006/relationships/slide" Target="/ppt/slides/slide6.xml" Id="R038ecc1060364de0" /><Relationship Type="http://schemas.openxmlformats.org/officeDocument/2006/relationships/slide" Target="/ppt/slides/slide7.xml" Id="Rc0efddcc1f074fb4" /><Relationship Type="http://schemas.openxmlformats.org/officeDocument/2006/relationships/slide" Target="/ppt/slides/slide8.xml" Id="R72a5eb5a15364c38" /><Relationship Type="http://schemas.openxmlformats.org/officeDocument/2006/relationships/slide" Target="/ppt/slides/slide9.xml" Id="R0186c01f43654324" /><Relationship Type="http://schemas.openxmlformats.org/officeDocument/2006/relationships/slide" Target="/ppt/slides/slide10.xml" Id="R17c50b15571d4b80" /><Relationship Type="http://schemas.openxmlformats.org/officeDocument/2006/relationships/slide" Target="/ppt/slides/slide11.xml" Id="R75f64773e0da4b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a9516028d044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97300d9254114" /><Relationship Type="http://schemas.openxmlformats.org/officeDocument/2006/relationships/notesMaster" Target="/ppt/notesMasters/notesMaster1.xml" Id="R49b182e3016f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d0b09b14104b55" /><Relationship Type="http://schemas.openxmlformats.org/officeDocument/2006/relationships/notesMaster" Target="/ppt/notesMasters/notesMaster1.xml" Id="Rb4564706fc4d46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0c1605e6ac4ec4" /><Relationship Type="http://schemas.openxmlformats.org/officeDocument/2006/relationships/notesMaster" Target="/ppt/notesMasters/notesMaster1.xml" Id="R9990324b509d40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b47ada7f0e4ce6" /><Relationship Type="http://schemas.openxmlformats.org/officeDocument/2006/relationships/notesMaster" Target="/ppt/notesMasters/notesMaster1.xml" Id="R257728313faa48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7014371e154ad4" /><Relationship Type="http://schemas.openxmlformats.org/officeDocument/2006/relationships/notesMaster" Target="/ppt/notesMasters/notesMaster1.xml" Id="R9dc86ae86f2444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419002256a4f37" /><Relationship Type="http://schemas.openxmlformats.org/officeDocument/2006/relationships/notesMaster" Target="/ppt/notesMasters/notesMaster1.xml" Id="Re6694ab27b8f47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ab7f049228491f" /><Relationship Type="http://schemas.openxmlformats.org/officeDocument/2006/relationships/notesMaster" Target="/ppt/notesMasters/notesMaster1.xml" Id="Rb093dae5955348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5de944f1054373" /><Relationship Type="http://schemas.openxmlformats.org/officeDocument/2006/relationships/notesMaster" Target="/ppt/notesMasters/notesMaster1.xml" Id="Rb002f04322b24a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329e9863224882" /><Relationship Type="http://schemas.openxmlformats.org/officeDocument/2006/relationships/notesMaster" Target="/ppt/notesMasters/notesMaster1.xml" Id="R70a95cd239f644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840d820ef148de" /><Relationship Type="http://schemas.openxmlformats.org/officeDocument/2006/relationships/notesMaster" Target="/ppt/notesMasters/notesMaster1.xml" Id="Re51dfe0a3ae94a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fdd95690ed456f" /><Relationship Type="http://schemas.openxmlformats.org/officeDocument/2006/relationships/notesMaster" Target="/ppt/notesMasters/notesMaster1.xml" Id="Ra27178968a4545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https://victoryagency.ru/services/reputation (visual reference for palette, large uppercase typography and content rhythm; accessed 2026-09-04)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bb42999fc4e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28768159fb4498" /><Relationship Type="http://schemas.openxmlformats.org/officeDocument/2006/relationships/slideLayout" Target="/ppt/slideLayouts/slideLayout1.xml" Id="R41d7a28b438d4e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d7a28b438d4e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1c738be764766" /><Relationship Type="http://schemas.openxmlformats.org/officeDocument/2006/relationships/notesSlide" Target="/ppt/notesSlides/notesSlide1.xml" Id="R8435209e3add44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cac2aa0fc419d" /><Relationship Type="http://schemas.openxmlformats.org/officeDocument/2006/relationships/notesSlide" Target="/ppt/notesSlides/notesSlide2.xml" Id="R26985ba6276e4f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2d2e54cd243e4" /><Relationship Type="http://schemas.openxmlformats.org/officeDocument/2006/relationships/notesSlide" Target="/ppt/notesSlides/notesSlide3.xml" Id="Reaa4eeb14cb041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89cea98cd4b47" /><Relationship Type="http://schemas.openxmlformats.org/officeDocument/2006/relationships/notesSlide" Target="/ppt/notesSlides/notesSlide4.xml" Id="Re20660c0be2d4e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25d93acf444ad" /><Relationship Type="http://schemas.openxmlformats.org/officeDocument/2006/relationships/notesSlide" Target="/ppt/notesSlides/notesSlide5.xml" Id="R54512e460b764b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55403e4b248c0" /><Relationship Type="http://schemas.openxmlformats.org/officeDocument/2006/relationships/notesSlide" Target="/ppt/notesSlides/notesSlide6.xml" Id="R9224feef5a1b4c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6a3f9606f4f5b" /><Relationship Type="http://schemas.openxmlformats.org/officeDocument/2006/relationships/notesSlide" Target="/ppt/notesSlides/notesSlide7.xml" Id="R7e489e8e5ffc4a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d4978b0eb4c98" /><Relationship Type="http://schemas.openxmlformats.org/officeDocument/2006/relationships/notesSlide" Target="/ppt/notesSlides/notesSlide8.xml" Id="Re73f5cbec14145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eb45588a84eef" /><Relationship Type="http://schemas.openxmlformats.org/officeDocument/2006/relationships/notesSlide" Target="/ppt/notesSlides/notesSlide9.xml" Id="Rf94a56b648c048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913462cb144d2" /><Relationship Type="http://schemas.openxmlformats.org/officeDocument/2006/relationships/notesSlide" Target="/ppt/notesSlides/notesSlide10.xml" Id="Rb94082456f4d4d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a23b2c3134578" /><Relationship Type="http://schemas.openxmlformats.org/officeDocument/2006/relationships/notesSlide" Target="/ppt/notesSlides/notesSlide11.xml" Id="R7f51efdb6aa945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08414C8D-A28B-4621-B9EB-3F65BDA1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6EF04-54F3-491F-A6B2-A9D0A037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VICTORY GROUP / ORM SERVICE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CD56A7B-11FB-4752-B9E0-7A050DF1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6858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ШАГ</a:t>
            </a:r>
          </a:p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ЛЕКЦИИ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55B5C-2382-4099-A0C9-1E76C9B4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Презентация продукта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3BA8E-62EA-44B2-8906-5C5F59A9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Как объяснить ценность решения,</a:t>
            </a:r>
          </a:p>
          <a:p xmlns:a="http://schemas.openxmlformats.org/drawingml/2006/main">
            <a:pPr algn="l">
              <a:defRPr sz="1575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связать его с проблемой и перейти к следующему шагу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F1EB9-B53D-42BA-9E11-53398189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86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Лекция для менеджера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370BF-CBB5-4CE3-8943-4CE36F9A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ORM / управление репутацией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F6A03-B00C-4241-ABF7-6774D3BC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104900"/>
            <a:ext cx="23336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3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3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cover-map">
            <a:extLst xmlns:a="http://schemas.openxmlformats.org/drawingml/2006/main">
              <a:ext uri="{FF2B5EF4-FFF2-40B4-BE49-F238E27FC236}">
                <a16:creationId xmlns:a16="http://schemas.microsoft.com/office/drawing/2014/main" id="{51D53199-B3CE-4AAD-8B6A-71DD92EA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33750"/>
            <a:ext cx="38576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3939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E9AE8-5B35-44CB-8294-8E374F5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48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7ED85-60C9-46BE-B36C-4D67B5C4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95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7319E-1E5B-4C0C-ACFE-C6BF329E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91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ВЫГОДА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EA39642F-6C63-45A6-9068-194293F3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814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85F16762-D87F-4BA7-9A21-74BE4927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529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FB8A7378-BAFA-41E7-8288-8BDD3AAC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B4A43-5F08-446A-B54A-DAF18FDC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6671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number">
            <a:extLst xmlns:a="http://schemas.openxmlformats.org/drawingml/2006/main">
              <a:ext uri="{FF2B5EF4-FFF2-40B4-BE49-F238E27FC236}">
                <a16:creationId xmlns:a16="http://schemas.microsoft.com/office/drawing/2014/main" id="{B86DEF6B-1A67-4D89-8761-8BAC99FA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229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C541C-5352-46FB-9CA4-1AF5BFCE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2386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number">
            <a:extLst xmlns:a="http://schemas.openxmlformats.org/drawingml/2006/main">
              <a:ext uri="{FF2B5EF4-FFF2-40B4-BE49-F238E27FC236}">
                <a16:creationId xmlns:a16="http://schemas.microsoft.com/office/drawing/2014/main" id="{6BEED835-68B6-4726-AACF-68DF81FD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DE252-F224-4983-BAA1-02F97017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101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8977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5FC171CA-534B-4BC0-8A81-3EBB1691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D6160-E0E3-4409-958B-C7D74D41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ЦЕЛЬ ЭТАПА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266DC-60AD-4DCC-ADA3-68821370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02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DFF806-ACEB-40D0-9587-D46ECFE4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Сначала сделайте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ценность понятной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C7E3FBB-C0E7-4EF0-9E5E-EE9850DE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Клиент уже признал проблему. Теперь он должен увидеть, как решение поможет её устранить.</a:t>
            </a:r>
          </a:p>
        </p:txBody>
      </p:sp>
      <p:sp>
        <p:nvSpPr>
          <p:cNvPr id="6" name="before">
            <a:extLst xmlns:a="http://schemas.openxmlformats.org/drawingml/2006/main">
              <a:ext uri="{FF2B5EF4-FFF2-40B4-BE49-F238E27FC236}">
                <a16:creationId xmlns:a16="http://schemas.microsoft.com/office/drawing/2014/main" id="{162030FA-E83D-4CE7-A269-3477738B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5150"/>
            <a:ext cx="48291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39393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1A7BF-DBC2-438C-8DF0-8E26E6CF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ДО ПРЕЗЕНТАЦИИ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3E537-0578-4863-8D0F-BDD679BB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3829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«Я вижу проблему,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 не вижу решения»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547FE448-581A-4E1F-8FEB-004DAE1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781425"/>
            <a:ext cx="952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fter">
            <a:extLst xmlns:a="http://schemas.openxmlformats.org/drawingml/2006/main">
              <a:ext uri="{FF2B5EF4-FFF2-40B4-BE49-F238E27FC236}">
                <a16:creationId xmlns:a16="http://schemas.microsoft.com/office/drawing/2014/main" id="{4FF0C906-FFE6-4AB8-8518-8BE927C0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48291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05481-A09E-4EFF-9D33-0DFBAA70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71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ПОСЛЕ ПРЕЗЕНТАЦИИ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CA51C-3595-4CFF-B063-6FA4269B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29050"/>
            <a:ext cx="4019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«Я понимаю решение,</a:t>
            </a:r>
          </a:p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выгоду и следующий шаг»</a:t>
            </a:r>
          </a:p>
        </p:txBody>
      </p:sp>
      <p:sp>
        <p:nvSpPr>
          <p:cNvPr id="13" name="key-message">
            <a:extLst xmlns:a="http://schemas.openxmlformats.org/drawingml/2006/main">
              <a:ext uri="{FF2B5EF4-FFF2-40B4-BE49-F238E27FC236}">
                <a16:creationId xmlns:a16="http://schemas.microsoft.com/office/drawing/2014/main" id="{AA980AF7-210B-48BE-AD60-346427A3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22D30-D5E7-414F-99DE-F52E9338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Задача менеджера: сделать связь «проблема → решение → выгода» очевидной для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403600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A6CB9F10-135D-41B9-9240-CE461C29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5BE8D-C5E0-482D-8706-83A1E112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ЛОГИКА ЛЕКЦИИ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80DF2-3B15-44B8-8977-A905E914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03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164194-9450-413C-B16E-9C0AEFC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Логика раньше деталей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4C59159-129E-417E-B6D7-1869E055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Первые три шага помогают клиенту понять, зачем слушать о продукте и почему решение имеет отношение к его ситуации.</a:t>
            </a:r>
          </a:p>
        </p:txBody>
      </p:sp>
      <p:sp>
        <p:nvSpPr>
          <p:cNvPr id="6" name="logic-card">
            <a:extLst xmlns:a="http://schemas.openxmlformats.org/drawingml/2006/main">
              <a:ext uri="{FF2B5EF4-FFF2-40B4-BE49-F238E27FC236}">
                <a16:creationId xmlns:a16="http://schemas.microsoft.com/office/drawing/2014/main" id="{B15B57FE-CF28-473F-9C49-3C61037E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3352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CAA05-F355-400B-8137-540B82DD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905C7-FCCE-4B15-8BE8-20B247AE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Зачем нужен этап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E4F7E-2865-4BFD-ADB7-7E3FCB57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Показываем, какую задачу клиента решает презентация.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DFE118BC-01D3-4673-A2A1-361D1A93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9572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ogic-card">
            <a:extLst xmlns:a="http://schemas.openxmlformats.org/drawingml/2006/main">
              <a:ext uri="{FF2B5EF4-FFF2-40B4-BE49-F238E27FC236}">
                <a16:creationId xmlns:a16="http://schemas.microsoft.com/office/drawing/2014/main" id="{BF8DA141-9820-4F1E-A4C4-2289300E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48000"/>
            <a:ext cx="3352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5CD67-EDE6-4189-AD1B-F7AFC97C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14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224AA-C729-40DC-9C8E-B58FBC03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Что происходит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 клиентом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2E102-58DC-4221-A96C-ECA5E764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862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Потребность уже есть, но решения и ценности он ещё не видит.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464F003A-046B-46B1-9B2D-527A17FE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9572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ogic-card">
            <a:extLst xmlns:a="http://schemas.openxmlformats.org/drawingml/2006/main">
              <a:ext uri="{FF2B5EF4-FFF2-40B4-BE49-F238E27FC236}">
                <a16:creationId xmlns:a16="http://schemas.microsoft.com/office/drawing/2014/main" id="{6CEA08E4-B5E6-4E93-B8DC-F26857E1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3352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B486D-7860-4A43-845F-6BF9C1C9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B68B7-918E-4495-B997-3143736F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какое состояние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переводим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4BEDF-C648-4882-A709-3ECAC93A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862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Из «просто слушаю» — в «готов обсуждать решение».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86E03-ABE4-4935-9543-718AC10C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Сначала создайте для клиента понятный контекст решения. Характеристики — после логики.</a:t>
            </a:r>
          </a:p>
        </p:txBody>
      </p:sp>
    </p:spTree>
    <p:extLst>
      <p:ext uri="{BB962C8B-B14F-4D97-AF65-F5344CB8AC3E}">
        <p14:creationId xmlns:p14="http://schemas.microsoft.com/office/powerpoint/2010/main" val="13508765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18CAA120-C10D-41A9-B889-608167C1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8E9C1-28F6-465B-BDE3-C654BFCC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ПРАВИЛА ЭТАПА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CCE8B-C726-4961-93D3-1EBC883B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04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A1E43C-E2E5-42B3-86D5-D5971C3D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Меньше монолога —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больше связи с задачей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86712DE-EAE6-42DB-A237-B0CCBB18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Ценность создаётся через структуру, конкретику и вовлекающий вопрос после озвучивания стоимости.</a:t>
            </a:r>
          </a:p>
        </p:txBody>
      </p:sp>
      <p:sp>
        <p:nvSpPr>
          <p:cNvPr id="6" name="rule-panel">
            <a:extLst xmlns:a="http://schemas.openxmlformats.org/drawingml/2006/main">
              <a:ext uri="{FF2B5EF4-FFF2-40B4-BE49-F238E27FC236}">
                <a16:creationId xmlns:a16="http://schemas.microsoft.com/office/drawing/2014/main" id="{EC3C3957-9B14-4AD0-8A06-7E5ED556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52578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9525">
            <a:solidFill>
              <a:srgbClr val="78DE1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EE599-4995-4DE1-A69B-9828CF5A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ДЕЛАЕМ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5E26A99-2711-44D7-ADA3-37DB1AF0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F09FE-6C57-431F-8989-D6409147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D3853-555D-4FCF-9558-A5AB8600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Называем одну конкретную выгоду на одно свойство.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E424B4D-5703-41EF-8035-5FF2D934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C2374-A7D5-4302-822C-99255D97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770E0-1A33-4082-AD8D-02DF5713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Показываем, как решение влияет на ситуацию клиента.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E3F46A7A-505F-4AFD-82CA-7B109928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A0531-4A5A-4F6A-A270-23AE164B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C2144-EA95-4D66-925A-586E25C3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Задаём вопрос, который вовлекает в следующий шаг.</a:t>
            </a:r>
          </a:p>
        </p:txBody>
      </p:sp>
      <p:sp>
        <p:nvSpPr>
          <p:cNvPr id="17" name="rule-panel">
            <a:extLst xmlns:a="http://schemas.openxmlformats.org/drawingml/2006/main">
              <a:ext uri="{FF2B5EF4-FFF2-40B4-BE49-F238E27FC236}">
                <a16:creationId xmlns:a16="http://schemas.microsoft.com/office/drawing/2014/main" id="{73D941DC-7B12-4EB0-8EFC-042E5006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52578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3939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2903C-6451-404A-95B2-94A1BB00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ИЗБЕГАЕМ</a:t>
            </a:r>
          </a:p>
        </p:txBody>
      </p:sp>
      <p:sp>
        <p:nvSpPr>
          <p:cNvPr id="19" name="number">
            <a:extLst xmlns:a="http://schemas.openxmlformats.org/drawingml/2006/main">
              <a:ext uri="{FF2B5EF4-FFF2-40B4-BE49-F238E27FC236}">
                <a16:creationId xmlns:a16="http://schemas.microsoft.com/office/drawing/2014/main" id="{B7867679-7437-41E5-97DC-B0E1C1ED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05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BDF7A-E587-4815-A4A5-D812FA61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A1323-97F5-4932-B92B-32E3CC88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385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Долгого рассказа о продукте без связи с проблемой.</a:t>
            </a:r>
          </a:p>
        </p:txBody>
      </p:sp>
      <p:sp>
        <p:nvSpPr>
          <p:cNvPr id="22" name="number">
            <a:extLst xmlns:a="http://schemas.openxmlformats.org/drawingml/2006/main">
              <a:ext uri="{FF2B5EF4-FFF2-40B4-BE49-F238E27FC236}">
                <a16:creationId xmlns:a16="http://schemas.microsoft.com/office/drawing/2014/main" id="{66ABA291-CCF9-4F7A-8763-B8305090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62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A231B-98F6-4DE5-8160-679CB854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92F01-7DF3-49EA-BAE7-B7F5ED16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Пропуска названия компании и логики алгоритма.</a:t>
            </a:r>
          </a:p>
        </p:txBody>
      </p:sp>
      <p:sp>
        <p:nvSpPr>
          <p:cNvPr id="25" name="number">
            <a:extLst xmlns:a="http://schemas.openxmlformats.org/drawingml/2006/main">
              <a:ext uri="{FF2B5EF4-FFF2-40B4-BE49-F238E27FC236}">
                <a16:creationId xmlns:a16="http://schemas.microsoft.com/office/drawing/2014/main" id="{94D1C1BB-F823-4711-B8A4-9D8875DB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AF4C9F-B7E4-482D-9BD0-B11D7128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8DFB3E-E74F-45A1-83E2-A2844C1D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Озвучивания цены до того, как создана ценность.</a:t>
            </a:r>
          </a:p>
        </p:txBody>
      </p:sp>
      <p:sp>
        <p:nvSpPr>
          <p:cNvPr id="28" name="key-message">
            <a:extLst xmlns:a="http://schemas.openxmlformats.org/drawingml/2006/main">
              <a:ext uri="{FF2B5EF4-FFF2-40B4-BE49-F238E27FC236}">
                <a16:creationId xmlns:a16="http://schemas.microsoft.com/office/drawing/2014/main" id="{0417A66D-7DED-4CA1-A9CC-8FADB179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02A7D0-B4AC-4F16-A102-01489690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Клиент должен услышать не сумму к оплате, а цену решения своей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366531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69CEBBFC-BBB4-47BC-991B-B678192D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C5DD3-AD9F-4EA6-AC92-FB2F1251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ИНСТРУМЕНТ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2AFB4-6E4D-42F2-808D-083174D7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05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8F0390-4C0A-47B0-B2E8-CF1921D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ССВ: формула</a:t>
            </a:r>
          </a:p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ценностного сообщения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3DE86E3-1D6A-462E-AEBB-3D3D2D50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Свойство само по себе не продаёт. Клиенту нужен понятный переход от характеристики к выгоде.</a:t>
            </a:r>
          </a:p>
        </p:txBody>
      </p:sp>
      <p:sp>
        <p:nvSpPr>
          <p:cNvPr id="6" name="ssv">
            <a:extLst xmlns:a="http://schemas.openxmlformats.org/drawingml/2006/main">
              <a:ext uri="{FF2B5EF4-FFF2-40B4-BE49-F238E27FC236}">
                <a16:creationId xmlns:a16="http://schemas.microsoft.com/office/drawing/2014/main" id="{4710498D-1C27-4AD4-B9ED-D53B6108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31813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9F641-59C7-4B1C-8601-1C1F51EF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44847-1F26-4E93-9894-0D26A74E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СВОЙСТВО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E31AE-964A-4AE2-9A1C-80067755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Что есть в продукте: характеристика или действие.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12057291-B61A-4837-A4B0-8C5FEAFC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29075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sv">
            <a:extLst xmlns:a="http://schemas.openxmlformats.org/drawingml/2006/main">
              <a:ext uri="{FF2B5EF4-FFF2-40B4-BE49-F238E27FC236}">
                <a16:creationId xmlns:a16="http://schemas.microsoft.com/office/drawing/2014/main" id="{00A60965-6F05-4C93-92DE-B4B8C540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31813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6E507-2AFC-4686-BD86-260C5CB0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766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626FD-91D4-4AA2-BEDE-E17FC33A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114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СВЯЗКА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D3A67-0C6B-4B9D-B5D2-BAE78F0B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148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Мост к выгоде: «благодаря этому», «с помощью этого».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8689537C-F9BB-459D-B1EE-B70B098C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29075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sv">
            <a:extLst xmlns:a="http://schemas.openxmlformats.org/drawingml/2006/main">
              <a:ext uri="{FF2B5EF4-FFF2-40B4-BE49-F238E27FC236}">
                <a16:creationId xmlns:a16="http://schemas.microsoft.com/office/drawing/2014/main" id="{6CEDCF1D-79DC-4802-931C-F09153D2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1813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B81A4-A52C-47E2-9589-D033CA6A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58B24-5D41-47FC-97E9-21784C34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ВЫГОДА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6EBEC-E92E-4DDE-98A4-DC9B78E5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Что меняется для клиента и почему это для него важно.</a:t>
            </a:r>
          </a:p>
        </p:txBody>
      </p:sp>
      <p:sp>
        <p:nvSpPr>
          <p:cNvPr id="20" name="key-message">
            <a:extLst xmlns:a="http://schemas.openxmlformats.org/drawingml/2006/main">
              <a:ext uri="{FF2B5EF4-FFF2-40B4-BE49-F238E27FC236}">
                <a16:creationId xmlns:a16="http://schemas.microsoft.com/office/drawing/2014/main" id="{AE5CAEB0-CD4F-4130-A8FF-06DA1CF4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93CD0-1B2B-476E-840D-03BDB84D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Одна характеристика → одна связка → одна конкретная выгода</a:t>
            </a:r>
          </a:p>
        </p:txBody>
      </p:sp>
    </p:spTree>
    <p:extLst>
      <p:ext uri="{BB962C8B-B14F-4D97-AF65-F5344CB8AC3E}">
        <p14:creationId xmlns:p14="http://schemas.microsoft.com/office/powerpoint/2010/main" val="374565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01D02D9A-349F-4438-BDE8-6A3F0F2D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9D04D-EE71-4487-A009-BD4F6B64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6029A-9C91-4B45-8AFB-5A626311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06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84137E-1D2F-41FF-A1C6-9FA65D1B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собрать фразу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ССВ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8797A82-4FFA-4DF4-BCC3-82E3AE41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Пример на базе модуля, который обновляет информацию в профиле компании.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8A39A-289C-4184-841E-E084E75D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1A57E-2B1B-4FEF-95B7-57BD82AB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СВОЙСТВО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AA50EB25-227F-4CAC-B03F-11EFE5CF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7662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20C8A-1EAD-4F95-836E-36E4044C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67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«В рамках модуля мы обновляем информацию в профиле: добавляем новости»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F2A06-E049-4B74-BBDA-C4DBDC82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71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8272B-DBF6-4419-908A-5AFDFC82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52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СВЯЗКА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F7D51BD-BC6F-4E2B-98BC-670965BF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9A4A6-10ED-45DA-A7E9-A1FEFF33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766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«Благодаря этому…»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C85CF-4AAC-45A2-BB47-7B15B06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30C5B-5802-412B-9654-152DDE37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ВЫГОДА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91E6502D-82B0-4F35-B480-F52926FF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958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BF2FD-EC9B-4EAA-9D5F-892D78D1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«Клиенты чаще находят компанию по ключевым запросам, а не только по названию»</a:t>
            </a:r>
          </a:p>
        </p:txBody>
      </p:sp>
      <p:sp>
        <p:nvSpPr>
          <p:cNvPr id="18" name="key-message">
            <a:extLst xmlns:a="http://schemas.openxmlformats.org/drawingml/2006/main">
              <a:ext uri="{FF2B5EF4-FFF2-40B4-BE49-F238E27FC236}">
                <a16:creationId xmlns:a16="http://schemas.microsoft.com/office/drawing/2014/main" id="{9F01C606-2C53-40E3-80F1-4965EF13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7D3BD-C418-4FEB-A585-18AD7998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Готовая фраза звучит как естественное объяснение, а не как перечисление терминов.</a:t>
            </a:r>
          </a:p>
        </p:txBody>
      </p:sp>
    </p:spTree>
    <p:extLst>
      <p:ext uri="{BB962C8B-B14F-4D97-AF65-F5344CB8AC3E}">
        <p14:creationId xmlns:p14="http://schemas.microsoft.com/office/powerpoint/2010/main" val="682085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5838DA2F-E671-406C-9723-6E202CB8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DDED8-3637-4F65-A6C6-173D0881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АЛГОРИТМ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62A15-ED32-48FC-9325-05F3AF6C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07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33B5B9-5217-49A4-96A0-B7583B14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Шаг 1–2: сначала объясняем,</a:t>
            </a:r>
          </a:p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кто мы и что предлагаем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1E8F2B8-D40D-45E4-BCDE-6E8087D0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Клиенту нужна короткая рамка: почему компании можно доверять и как устроено решение.</a:t>
            </a:r>
          </a:p>
        </p:txBody>
      </p:sp>
      <p:sp>
        <p:nvSpPr>
          <p:cNvPr id="6" name="step-card">
            <a:extLst xmlns:a="http://schemas.openxmlformats.org/drawingml/2006/main">
              <a:ext uri="{FF2B5EF4-FFF2-40B4-BE49-F238E27FC236}">
                <a16:creationId xmlns:a16="http://schemas.microsoft.com/office/drawing/2014/main" id="{2FB057A7-D0A0-43AF-B8BF-B7D566C1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95625"/>
            <a:ext cx="54768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9DDCA-07D5-4EB5-B572-652CEBE5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ШАГ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4037C-8FFE-4B6B-8675-82B67806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3857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Презентация</a:t>
            </a:r>
          </a:p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компании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318FD-2CEB-4290-BF79-ED082DFB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Коротко: кто мы, чем занимаемся и почему можем помочь решить задачу клиента.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C279C-7D9A-4DF5-A7CA-719E1A61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29225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Пример: «Мы помогаем компаниям управлять репутацией в интернете».</a:t>
            </a:r>
          </a:p>
        </p:txBody>
      </p:sp>
      <p:sp>
        <p:nvSpPr>
          <p:cNvPr id="11" name="step-card">
            <a:extLst xmlns:a="http://schemas.openxmlformats.org/drawingml/2006/main">
              <a:ext uri="{FF2B5EF4-FFF2-40B4-BE49-F238E27FC236}">
                <a16:creationId xmlns:a16="http://schemas.microsoft.com/office/drawing/2014/main" id="{D6D0DE48-A085-4C9C-BB55-391D6FCB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95625"/>
            <a:ext cx="54768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E98DE-8854-4422-A94E-C4D53825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432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ШАГ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D7D7B-17BB-441D-873B-52648A3A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52850"/>
            <a:ext cx="3857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Презентация 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7F969-9D76-4708-A795-71665EDD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291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Объясняем, что ORM — это сервис управления репутацией с набором модулей.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9E93D-24D3-41E3-9694-05EEF3E9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29225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Задача: дать понятную рамку до перехода к конкретной проблеме.</a:t>
            </a:r>
          </a:p>
        </p:txBody>
      </p:sp>
    </p:spTree>
    <p:extLst>
      <p:ext uri="{BB962C8B-B14F-4D97-AF65-F5344CB8AC3E}">
        <p14:creationId xmlns:p14="http://schemas.microsoft.com/office/powerpoint/2010/main" val="1544876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FB237D41-355A-42A4-B07B-34DF5706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7E0F0-EC21-4AEE-9B4D-E29A1468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АЛГОРИТМ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DA092-63E9-4319-8B71-8A2B583A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08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B05F6F-53EE-40D6-B6F4-CF2176A6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Шаг 3: верните клиента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 его собственной проблеме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B1C872C-6AF8-45F7-B60E-5EE33390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Связка с ранее выявленной ситуацией делает предложение конкретным и помогает сохранить фокус клиента.</a:t>
            </a:r>
          </a:p>
        </p:txBody>
      </p:sp>
      <p:sp>
        <p:nvSpPr>
          <p:cNvPr id="6" name="weak">
            <a:extLst xmlns:a="http://schemas.openxmlformats.org/drawingml/2006/main">
              <a:ext uri="{FF2B5EF4-FFF2-40B4-BE49-F238E27FC236}">
                <a16:creationId xmlns:a16="http://schemas.microsoft.com/office/drawing/2014/main" id="{00568D3F-4859-45D5-9F0F-68663E19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45148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39393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D1FAF-443B-41A2-9659-E82B3406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СЛАБАЯ ПОДАЧА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086BE-719E-4A74-9457-706BAD05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«У нас есть модуль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обновления карточек»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A9DD3-F4F5-4D39-A31B-D8B54122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Звучит как общий рассказ о продукте.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916FF6E6-E95A-42C7-A43F-293D1290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1047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ong">
            <a:extLst xmlns:a="http://schemas.openxmlformats.org/drawingml/2006/main">
              <a:ext uri="{FF2B5EF4-FFF2-40B4-BE49-F238E27FC236}">
                <a16:creationId xmlns:a16="http://schemas.microsoft.com/office/drawing/2014/main" id="{786E40B4-EF92-4C0D-95E6-32E361EF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49911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E5ECE-1699-442E-98BB-660B546F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147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СИЛЬНАЯ ПОДАЧА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E505B-5035-42D9-9DBF-03E021BC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423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«Вы ранее отметили, что карточки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почти не обновляются. Именно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с этим можем вам помочь»</a:t>
            </a:r>
          </a:p>
        </p:txBody>
      </p:sp>
      <p:sp>
        <p:nvSpPr>
          <p:cNvPr id="14" name="key-message">
            <a:extLst xmlns:a="http://schemas.openxmlformats.org/drawingml/2006/main">
              <a:ext uri="{FF2B5EF4-FFF2-40B4-BE49-F238E27FC236}">
                <a16:creationId xmlns:a16="http://schemas.microsoft.com/office/drawing/2014/main" id="{6DB4E5F9-7FB7-4510-BCCC-605C817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BE202-C0D6-4E2C-B3AC-81E2AC2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Каждый продуктовый тезис должен возвращать клиента к его реальной задаче.</a:t>
            </a:r>
          </a:p>
        </p:txBody>
      </p:sp>
    </p:spTree>
    <p:extLst>
      <p:ext uri="{BB962C8B-B14F-4D97-AF65-F5344CB8AC3E}">
        <p14:creationId xmlns:p14="http://schemas.microsoft.com/office/powerpoint/2010/main" val="702962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FCE39484-83B2-4BBA-BE6C-436A4759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67F8B-AA4A-459A-8DA9-D6FC6979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АЛГОРИТМ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805F4-1286-4927-B174-B337ED8A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09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58F67A-1FC4-4943-A276-91724353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Шаг 4: презентуем модуль</a:t>
            </a:r>
          </a:p>
          <a:p xmlns:a="http://schemas.openxmlformats.org/drawingml/2006/main">
            <a:pPr algn="l">
              <a:defRPr sz="29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через его результат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7C3E171-CC2A-405C-8194-FD8ED22D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Выберите конкретный модуль под выявленную проблему и объясните его по формуле ССВ.</a:t>
            </a:r>
          </a:p>
        </p:txBody>
      </p:sp>
      <p:sp>
        <p:nvSpPr>
          <p:cNvPr id="6" name="value-chain">
            <a:extLst xmlns:a="http://schemas.openxmlformats.org/drawingml/2006/main">
              <a:ext uri="{FF2B5EF4-FFF2-40B4-BE49-F238E27FC236}">
                <a16:creationId xmlns:a16="http://schemas.microsoft.com/office/drawing/2014/main" id="{38B3183B-ADB1-4986-9D90-B9567E3F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3181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2DA32-DE30-4984-840F-A0B2E7A4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CE7C1-78BC-46D4-BCF7-EC65832E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Карточки компании</a:t>
            </a:r>
          </a:p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не обновляются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868CC403-B9D9-46F2-860D-31505A5C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alue-chain">
            <a:extLst xmlns:a="http://schemas.openxmlformats.org/drawingml/2006/main">
              <a:ext uri="{FF2B5EF4-FFF2-40B4-BE49-F238E27FC236}">
                <a16:creationId xmlns:a16="http://schemas.microsoft.com/office/drawing/2014/main" id="{9C75D1F9-3C54-4EBC-9709-E507A2BE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3181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2FD1D-1757-4513-908C-0C04C70E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МОДУЛЬ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CB341-DE45-4113-84A5-375E17E6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Обновляем</a:t>
            </a:r>
          </a:p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информацию в профиле</a:t>
            </a:r>
          </a:p>
        </p:txBody>
      </p:sp>
      <p:sp>
        <p:nvSpPr>
          <p:cNvPr id="13" name="arrow">
            <a:extLst xmlns:a="http://schemas.openxmlformats.org/drawingml/2006/main">
              <a:ext uri="{FF2B5EF4-FFF2-40B4-BE49-F238E27FC236}">
                <a16:creationId xmlns:a16="http://schemas.microsoft.com/office/drawing/2014/main" id="{0407C20D-30C2-4B28-B168-0063086D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814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chain">
            <a:extLst xmlns:a="http://schemas.openxmlformats.org/drawingml/2006/main">
              <a:ext uri="{FF2B5EF4-FFF2-40B4-BE49-F238E27FC236}">
                <a16:creationId xmlns:a16="http://schemas.microsoft.com/office/drawing/2014/main" id="{01C4F6BF-0220-4A1E-AEA5-A71F6A88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181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F2FE2-061C-48CE-BE62-100CE1A1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ВЫГОДА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3C804-AE25-42DB-B477-AF12E19F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Клиента чаще находят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ключевым запросам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DE917-C6A2-41C9-9582-C217A9CF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Проверка: может ли клиент повторить, какую именно проблему решает модуль?</a:t>
            </a:r>
          </a:p>
        </p:txBody>
      </p:sp>
    </p:spTree>
    <p:extLst>
      <p:ext uri="{BB962C8B-B14F-4D97-AF65-F5344CB8AC3E}">
        <p14:creationId xmlns:p14="http://schemas.microsoft.com/office/powerpoint/2010/main" val="14534695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6377E4C5-48BE-48CF-ACC5-56E6A89A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CC3EC-BB5D-4E42-BED8-9FED927E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АЛГОРИТМ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F8365-0976-451E-95EF-3C20B277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148A4A-8BC0-415D-9B7A-619196DD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Стоимость — после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создания ценности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B31A43D-D722-4762-87AE-D6FD9B02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Стоимость звучит как цена решения задачи, когда клиент уже понял проблему, решение и выгоду.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9349262E-460E-4557-99E8-6360F10A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337C7-A210-4D22-8A30-5F87ACB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63930-9D6E-47F9-8135-2400F401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1F0EB-83E8-470E-B0E2-212B5AB9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клиент признаёт,</a:t>
            </a:r>
          </a:p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что происходит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728F8A6A-27D6-458D-B5E2-FCC23E8C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3845F23F-B07D-45F4-97BD-7777651C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14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4CA51-979D-4E91-94EC-8EFA157E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00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99C7F-6A11-41B0-BACC-E5633ADC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814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2B68A-0920-4F24-9494-30F1B55A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38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видит, как мы</a:t>
            </a:r>
          </a:p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помогаем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546A1D4B-162E-483D-B5DC-3F46553B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0767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23E9715E-B570-458E-9985-053BD1F1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14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5186B-26E2-466A-B324-79E149A0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0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A564A-16E3-4A66-92E5-B861E6BA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14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Выгода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6A008-2D44-4DDF-9BE8-8BC29D1A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38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понимает, что</a:t>
            </a:r>
          </a:p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изменится</a:t>
            </a:r>
          </a:p>
        </p:txBody>
      </p:sp>
      <p:sp>
        <p:nvSpPr>
          <p:cNvPr id="20" name="arrow">
            <a:extLst xmlns:a="http://schemas.openxmlformats.org/drawingml/2006/main">
              <a:ext uri="{FF2B5EF4-FFF2-40B4-BE49-F238E27FC236}">
                <a16:creationId xmlns:a16="http://schemas.microsoft.com/office/drawing/2014/main" id="{69BD47E8-D758-4973-A7F6-45F249F4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2071D23E-827D-4D5F-B972-7D0FF931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14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155A5-B842-491C-8DAF-31311F1E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00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2EBE5-CB76-450C-99EC-56DAC105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814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5D7B5-F02B-4CD8-8644-7562C602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438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оценивает цену</a:t>
            </a:r>
          </a:p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решения</a:t>
            </a:r>
          </a:p>
        </p:txBody>
      </p:sp>
      <p:sp>
        <p:nvSpPr>
          <p:cNvPr id="25" name="arrow">
            <a:extLst xmlns:a="http://schemas.openxmlformats.org/drawingml/2006/main">
              <a:ext uri="{FF2B5EF4-FFF2-40B4-BE49-F238E27FC236}">
                <a16:creationId xmlns:a16="http://schemas.microsoft.com/office/drawing/2014/main" id="{38126AB6-849B-4C61-B179-144B7E33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767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AD6FD6A8-9889-469B-936F-75F0A7E6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3B381-86AC-4F95-9A53-EC6A6E88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00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B2BA30-B0C4-46F9-ADEA-1DCDBEE4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814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Вопрос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7AEFAF-340D-4CCC-AFEE-E750D087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386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обсуждает</a:t>
            </a:r>
          </a:p>
          <a:p xmlns:a="http://schemas.openxmlformats.org/drawingml/2006/main">
            <a:pPr algn="l">
              <a:defRPr sz="1163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30" name="question">
            <a:extLst xmlns:a="http://schemas.openxmlformats.org/drawingml/2006/main">
              <a:ext uri="{FF2B5EF4-FFF2-40B4-BE49-F238E27FC236}">
                <a16:creationId xmlns:a16="http://schemas.microsoft.com/office/drawing/2014/main" id="{A0C9DC51-9EE8-401C-92F3-5A5AA7FE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654579-F6BF-4DCD-AC06-71A17A51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Вовлекающий вопрос: «Подскажите, что скажете — готовы запуститься в работу?»</a:t>
            </a:r>
          </a:p>
        </p:txBody>
      </p:sp>
    </p:spTree>
    <p:extLst>
      <p:ext uri="{BB962C8B-B14F-4D97-AF65-F5344CB8AC3E}">
        <p14:creationId xmlns:p14="http://schemas.microsoft.com/office/powerpoint/2010/main" val="12790150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F80D79D5-67A8-498D-B750-DE8953E2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DE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E374C-8903-4ABB-A130-ABC8982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ЗАВЕРШЕНИЕ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51F8E-3810-4AE4-B915-1BAEA409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34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3939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BAD8BC-3DCD-415D-81D8-2103C5E0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Закрываем этап</a:t>
            </a:r>
          </a:p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проверкой результата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C4B30A3-4EA4-4002-82A6-D6F24FD6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После презентации важно понять: клиент согласен на следующий шаг или ему нужно помочь снять сопротивление.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CB28B-CD10-4C28-BF68-C8419879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86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86C15-326A-4E4C-939A-A83D7BCD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«Надо подумать»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AA591-2DF2-47DF-9CDE-F129DEFE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переходим к отработке возражения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EDBC615D-31ED-4DA3-911B-D1E3042B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1958D-5EC8-4567-BCEB-54D3113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338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1EAD3-FE34-4DD2-9957-E50256C4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«Выставляйте счёт»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894C7-46D0-42EA-9CB3-DD71F676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фиксируем договорённость и действие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94771F31-FC99-48A3-B9A1-50F6AED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DAC8D-143F-46C5-AA9C-2CDC1A80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81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9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9A0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59A95-D238-4DB7-BEF4-A352A672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«Пришлите КП»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2A886-34D3-4AF6-B20A-71551AD4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52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обсуждаем точный срок и следующий контакт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52733350-E28A-4D15-B24A-1DD4C0C3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544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list">
            <a:extLst xmlns:a="http://schemas.openxmlformats.org/drawingml/2006/main">
              <a:ext uri="{FF2B5EF4-FFF2-40B4-BE49-F238E27FC236}">
                <a16:creationId xmlns:a16="http://schemas.microsoft.com/office/drawing/2014/main" id="{C9F5E36A-A432-407B-8954-D5828BBA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44005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AA2A1-C068-4B78-B4D1-E3D54F33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289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ПРОВЕРЬТЕ</a:t>
            </a:r>
          </a:p>
          <a:p xmlns:a="http://schemas.openxmlformats.org/drawingml/2006/main">
            <a:pPr algn="l">
              <a:defRPr sz="1200" b="1">
                <a:solidFill>
                  <a:srgbClr val="78DE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8DE13"/>
                </a:solidFill>
                <a:latin typeface="Arial"/>
                <a:ea typeface="Arial"/>
                <a:cs typeface="Arial"/>
              </a:rPr>
              <a:t>ПОНИМАНИЕ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23B74-16C5-449F-8691-95064A1E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Что такое презентация?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7E5EF-4819-4E2F-BCC9-59B7C7CF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19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Что будет, если пропустить шаг?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DA339-E9FB-4548-930C-3DC9E132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434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Что делать, если клиент не понял?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D571A-B5CC-458F-A2EE-85932EAE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67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Как отличить согласие от ухода?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EE7C3-2F19-4592-B6D8-307D8F37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531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393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93939"/>
                </a:solidFill>
                <a:latin typeface="Arial"/>
                <a:ea typeface="Arial"/>
                <a:cs typeface="Arial"/>
              </a:rPr>
              <a:t>Резюме: возвращаемся к алгоритму, закрепляем формулу ССВ и договариваемся о следующем действии.</a:t>
            </a:r>
          </a:p>
        </p:txBody>
      </p:sp>
    </p:spTree>
    <p:extLst>
      <p:ext uri="{BB962C8B-B14F-4D97-AF65-F5344CB8AC3E}">
        <p14:creationId xmlns:p14="http://schemas.microsoft.com/office/powerpoint/2010/main" val="1533783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2026-09-04T14:14:02.1550000Z</dcterms:created>
  <dcterms:modified xsi:type="dcterms:W3CDTF">2026-09-04T14:14:02.1550000Z</dcterms:modified>
</coreProperties>
</file>